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2" r:id="rId15"/>
    <p:sldId id="273" r:id="rId16"/>
    <p:sldId id="274" r:id="rId17"/>
    <p:sldId id="271" r:id="rId18"/>
  </p:sldIdLst>
  <p:sldSz cx="12192000" cy="6858000"/>
  <p:notesSz cx="6858000" cy="9144000"/>
  <p:embeddedFontLst>
    <p:embeddedFont>
      <p:font typeface="Bahnschrift SemiCondensed" panose="020B0502040204020203" pitchFamily="34" charset="0"/>
      <p:regular r:id="rId20"/>
      <p:bold r:id="rId21"/>
    </p:embeddedFont>
    <p:embeddedFont>
      <p:font typeface="Bahnschrift SemiLight SemiConde" panose="020B0502040204020203" pitchFamily="34" charset="0"/>
      <p:regular r:id="rId22"/>
    </p:embeddedFont>
    <p:embeddedFont>
      <p:font typeface="Calibri" panose="020F0502020204030204" pitchFamily="34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EFF9A"/>
    <a:srgbClr val="A9C571"/>
    <a:srgbClr val="1A1A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892B1A7-8AD3-4190-BC05-C91A6C73CA6D}">
  <a:tblStyle styleId="{4892B1A7-8AD3-4190-BC05-C91A6C73CA6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4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1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1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33.png"/><Relationship Id="rId4" Type="http://schemas.openxmlformats.org/officeDocument/2006/relationships/image" Target="../media/image24.png"/><Relationship Id="rId9" Type="http://schemas.openxmlformats.org/officeDocument/2006/relationships/image" Target="../media/image36.jpe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1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4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1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24.png"/><Relationship Id="rId10" Type="http://schemas.openxmlformats.org/officeDocument/2006/relationships/image" Target="../media/image45.png"/><Relationship Id="rId4" Type="http://schemas.openxmlformats.org/officeDocument/2006/relationships/image" Target="../media/image23.png"/><Relationship Id="rId9" Type="http://schemas.openxmlformats.org/officeDocument/2006/relationships/image" Target="../media/image4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1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DECBC65-D5C2-4059-82C0-ADE9DBC5CBF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Google Shape;85;p13"/>
          <p:cNvSpPr txBox="1"/>
          <p:nvPr/>
        </p:nvSpPr>
        <p:spPr>
          <a:xfrm>
            <a:off x="975207" y="2579340"/>
            <a:ext cx="10241436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0" i="0" u="none" strike="noStrike" cap="none" dirty="0">
                <a:solidFill>
                  <a:srgbClr val="F5F5F5"/>
                </a:solidFill>
                <a:latin typeface="Bahnschrift SemiCondensed" panose="020B0502040204020203" pitchFamily="34" charset="0"/>
                <a:ea typeface="Urbanist SemiBold"/>
                <a:cs typeface="Urbanist SemiBold"/>
                <a:sym typeface="Urbanist SemiBold"/>
              </a:rPr>
              <a:t>BÁO CÁO TÌM HIỂU VỀ AI</a:t>
            </a:r>
            <a:endParaRPr dirty="0">
              <a:latin typeface="Bahnschrift SemiCondensed" panose="020B0502040204020203" pitchFamily="34" charset="0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4059435" y="3684240"/>
            <a:ext cx="4072979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9CA3A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Khái</a:t>
            </a:r>
            <a:r>
              <a:rPr lang="en-US" sz="1800" b="0" i="0" u="none" strike="noStrike" cap="none" dirty="0">
                <a:solidFill>
                  <a:srgbClr val="9CA3A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9CA3A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niệm</a:t>
            </a:r>
            <a:r>
              <a:rPr lang="en-US" sz="1800" b="0" i="0" u="none" strike="noStrike" cap="none" dirty="0">
                <a:solidFill>
                  <a:srgbClr val="9CA3A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, </a:t>
            </a:r>
            <a:r>
              <a:rPr lang="en-US" sz="1800" b="0" i="0" u="none" strike="noStrike" cap="none" dirty="0" err="1">
                <a:solidFill>
                  <a:srgbClr val="9CA3A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Ứng</a:t>
            </a:r>
            <a:r>
              <a:rPr lang="en-US" sz="1800" b="0" i="0" u="none" strike="noStrike" cap="none" dirty="0">
                <a:solidFill>
                  <a:srgbClr val="9CA3A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9CA3A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dụng</a:t>
            </a:r>
            <a:r>
              <a:rPr lang="en-US" sz="1800" b="0" i="0" u="none" strike="noStrike" cap="none" dirty="0">
                <a:solidFill>
                  <a:srgbClr val="9CA3A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&amp; </a:t>
            </a:r>
            <a:r>
              <a:rPr lang="en-US" sz="1800" b="0" i="0" u="none" strike="noStrike" cap="none" dirty="0" err="1">
                <a:solidFill>
                  <a:srgbClr val="9CA3A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Phân</a:t>
            </a:r>
            <a:r>
              <a:rPr lang="en-US" sz="1800" b="0" i="0" u="none" strike="noStrike" cap="none" dirty="0">
                <a:solidFill>
                  <a:srgbClr val="9CA3A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9CA3A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tích</a:t>
            </a:r>
            <a:r>
              <a:rPr lang="en-US" sz="1800" b="0" i="0" u="none" strike="noStrike" cap="none" dirty="0">
                <a:solidFill>
                  <a:srgbClr val="9CA3A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9CA3A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Dữ</a:t>
            </a:r>
            <a:r>
              <a:rPr lang="en-US" sz="1800" b="0" i="0" u="none" strike="noStrike" cap="none" dirty="0">
                <a:solidFill>
                  <a:srgbClr val="9CA3A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9CA3A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liệu</a:t>
            </a:r>
            <a:endParaRPr dirty="0">
              <a:latin typeface="Bahnschrift SemiLight SemiConde" panose="020B0502040204020203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038350"/>
            <a:ext cx="53816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476250" y="2549872"/>
            <a:ext cx="5381625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D1D5DB"/>
                </a:solidFill>
                <a:latin typeface="Bahnschrift SemiCondensed" panose="020B0502040204020203" pitchFamily="34" charset="0"/>
                <a:ea typeface="Urbanist"/>
                <a:cs typeface="Urbanist"/>
                <a:sym typeface="Urbanist"/>
              </a:rPr>
              <a:t>Định</a:t>
            </a:r>
            <a:r>
              <a:rPr lang="en-US" sz="1350" b="1" i="0" u="none" strike="noStrike" cap="none" dirty="0">
                <a:solidFill>
                  <a:srgbClr val="D1D5DB"/>
                </a:solidFill>
                <a:latin typeface="Bahnschrift SemiCondensed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1" i="0" u="none" strike="noStrike" cap="none" dirty="0" err="1">
                <a:solidFill>
                  <a:srgbClr val="D1D5DB"/>
                </a:solidFill>
                <a:latin typeface="Bahnschrift SemiCondensed" panose="020B0502040204020203" pitchFamily="34" charset="0"/>
                <a:ea typeface="Urbanist"/>
                <a:cs typeface="Urbanist"/>
                <a:sym typeface="Urbanist"/>
              </a:rPr>
              <a:t>nghĩa</a:t>
            </a:r>
            <a:r>
              <a:rPr lang="en-US" sz="1350" b="1" i="0" u="none" strike="noStrike" cap="none" dirty="0">
                <a:solidFill>
                  <a:srgbClr val="D1D5DB"/>
                </a:solidFill>
                <a:latin typeface="Bahnschrift SemiCondensed" panose="020B0502040204020203" pitchFamily="34" charset="0"/>
                <a:ea typeface="Urbanist"/>
                <a:cs typeface="Urbanist"/>
                <a:sym typeface="Urbanist"/>
              </a:rPr>
              <a:t>:</a:t>
            </a:r>
            <a:r>
              <a:rPr lang="en-US" sz="1350" b="0" i="0" u="none" strike="noStrike" cap="none" dirty="0">
                <a:solidFill>
                  <a:srgbClr val="D1D5DB"/>
                </a:solidFill>
                <a:latin typeface="Bahnschrift SemiCondensed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AI </a:t>
            </a:r>
            <a:r>
              <a:rPr lang="en-US" sz="135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là</a:t>
            </a:r>
            <a:r>
              <a:rPr lang="en-US" sz="135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lĩnh</a:t>
            </a:r>
            <a:r>
              <a:rPr lang="en-US" sz="135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vực</a:t>
            </a:r>
            <a:r>
              <a:rPr lang="en-US" sz="135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công</a:t>
            </a:r>
            <a:r>
              <a:rPr lang="en-US" sz="135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nghệ</a:t>
            </a:r>
            <a:r>
              <a:rPr lang="en-US" sz="135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cho</a:t>
            </a:r>
            <a:r>
              <a:rPr lang="en-US" sz="135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phép</a:t>
            </a:r>
            <a:r>
              <a:rPr lang="en-US" sz="135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máy</a:t>
            </a:r>
            <a:r>
              <a:rPr lang="en-US" sz="135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móc</a:t>
            </a:r>
            <a:r>
              <a:rPr lang="en-US" sz="135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mô</a:t>
            </a:r>
            <a:r>
              <a:rPr lang="en-US" sz="135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phỏng</a:t>
            </a:r>
            <a:r>
              <a:rPr lang="en-US" sz="135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các</a:t>
            </a:r>
            <a:r>
              <a:rPr lang="en-US" sz="135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chức</a:t>
            </a:r>
            <a:r>
              <a:rPr lang="en-US" sz="135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năng</a:t>
            </a:r>
            <a:r>
              <a:rPr lang="en-US" sz="135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nhận</a:t>
            </a:r>
            <a:r>
              <a:rPr lang="en-US" sz="135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thức</a:t>
            </a:r>
            <a:r>
              <a:rPr lang="en-US" sz="135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của</a:t>
            </a:r>
            <a:r>
              <a:rPr lang="en-US" sz="135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con </a:t>
            </a:r>
            <a:r>
              <a:rPr lang="en-US" sz="135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người</a:t>
            </a:r>
            <a:r>
              <a:rPr lang="en-US" sz="135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.</a:t>
            </a:r>
            <a:endParaRPr dirty="0">
              <a:latin typeface="Bahnschrift SemiLight SemiConde" panose="020B0502040204020203" pitchFamily="34" charset="0"/>
            </a:endParaRPr>
          </a:p>
        </p:txBody>
      </p:sp>
      <p:pic>
        <p:nvPicPr>
          <p:cNvPr id="94" name="Google Shape;94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2047875"/>
            <a:ext cx="536257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476250" y="3603277"/>
            <a:ext cx="5381625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D1D5DB"/>
                </a:solidFill>
                <a:latin typeface="Bahnschrift SemiCondensed" panose="020B0502040204020203" pitchFamily="34" charset="0"/>
                <a:ea typeface="Urbanist"/>
                <a:cs typeface="Urbanist"/>
                <a:sym typeface="Urbanist"/>
              </a:rPr>
              <a:t>Tư</a:t>
            </a:r>
            <a:r>
              <a:rPr lang="en-US" sz="1350" b="1" i="0" u="none" strike="noStrike" cap="none" dirty="0">
                <a:solidFill>
                  <a:srgbClr val="D1D5DB"/>
                </a:solidFill>
                <a:latin typeface="Bahnschrift SemiCondensed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1" i="0" u="none" strike="noStrike" cap="none" dirty="0" err="1">
                <a:solidFill>
                  <a:srgbClr val="D1D5DB"/>
                </a:solidFill>
                <a:latin typeface="Bahnschrift SemiCondensed" panose="020B0502040204020203" pitchFamily="34" charset="0"/>
                <a:ea typeface="Urbanist"/>
                <a:cs typeface="Urbanist"/>
                <a:sym typeface="Urbanist"/>
              </a:rPr>
              <a:t>duy</a:t>
            </a:r>
            <a:r>
              <a:rPr lang="en-US" sz="1350" b="1" i="0" u="none" strike="noStrike" cap="none" dirty="0">
                <a:solidFill>
                  <a:srgbClr val="D1D5DB"/>
                </a:solidFill>
                <a:latin typeface="Bahnschrift SemiCondensed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1" i="0" u="none" strike="noStrike" cap="none" dirty="0" err="1">
                <a:solidFill>
                  <a:srgbClr val="D1D5DB"/>
                </a:solidFill>
                <a:latin typeface="Bahnschrift SemiCondensed" panose="020B0502040204020203" pitchFamily="34" charset="0"/>
                <a:ea typeface="Urbanist"/>
                <a:cs typeface="Urbanist"/>
                <a:sym typeface="Urbanist"/>
              </a:rPr>
              <a:t>cấp</a:t>
            </a:r>
            <a:r>
              <a:rPr lang="en-US" sz="1350" b="1" i="0" u="none" strike="noStrike" cap="none" dirty="0">
                <a:solidFill>
                  <a:srgbClr val="D1D5DB"/>
                </a:solidFill>
                <a:latin typeface="Bahnschrift SemiCondensed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1" i="0" u="none" strike="noStrike" cap="none" dirty="0" err="1">
                <a:solidFill>
                  <a:srgbClr val="D1D5DB"/>
                </a:solidFill>
                <a:latin typeface="Bahnschrift SemiCondensed" panose="020B0502040204020203" pitchFamily="34" charset="0"/>
                <a:ea typeface="Urbanist"/>
                <a:cs typeface="Urbanist"/>
                <a:sym typeface="Urbanist"/>
              </a:rPr>
              <a:t>cao</a:t>
            </a:r>
            <a:r>
              <a:rPr lang="en-US" sz="1350" b="1" i="0" u="none" strike="noStrike" cap="none" dirty="0">
                <a:solidFill>
                  <a:srgbClr val="D1D5DB"/>
                </a:solidFill>
                <a:latin typeface="Bahnschrift SemiCondensed" panose="020B0502040204020203" pitchFamily="34" charset="0"/>
                <a:ea typeface="Urbanist"/>
                <a:cs typeface="Urbanist"/>
                <a:sym typeface="Urbanist"/>
              </a:rPr>
              <a:t>:</a:t>
            </a:r>
            <a:r>
              <a:rPr lang="en-US" sz="1350" i="0" u="none" strike="noStrike" cap="none" dirty="0">
                <a:solidFill>
                  <a:srgbClr val="D1D5DB"/>
                </a:solidFill>
                <a:latin typeface="Bahnschrift SemiCondensed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Không</a:t>
            </a:r>
            <a:r>
              <a:rPr lang="en-US" sz="135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chỉ</a:t>
            </a:r>
            <a:r>
              <a:rPr lang="en-US" sz="135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thực</a:t>
            </a:r>
            <a:r>
              <a:rPr lang="en-US" sz="135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thi</a:t>
            </a:r>
            <a:r>
              <a:rPr lang="en-US" sz="135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quy</a:t>
            </a:r>
            <a:r>
              <a:rPr lang="en-US" sz="135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tắc</a:t>
            </a:r>
            <a:r>
              <a:rPr lang="en-US" sz="135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cố</a:t>
            </a:r>
            <a:r>
              <a:rPr lang="en-US" sz="135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định</a:t>
            </a:r>
            <a:r>
              <a:rPr lang="en-US" sz="135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mà</a:t>
            </a:r>
            <a:r>
              <a:rPr lang="en-US" sz="135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còn</a:t>
            </a:r>
            <a:r>
              <a:rPr lang="en-US" sz="135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tự</a:t>
            </a:r>
            <a:r>
              <a:rPr lang="en-US" sz="135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học</a:t>
            </a:r>
            <a:r>
              <a:rPr lang="en-US" sz="135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hỏi</a:t>
            </a:r>
            <a:r>
              <a:rPr lang="en-US" sz="135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.</a:t>
            </a:r>
            <a:endParaRPr dirty="0">
              <a:latin typeface="Bahnschrift SemiLight SemiConde" panose="020B0502040204020203" pitchFamily="34" charset="0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476250" y="4342358"/>
            <a:ext cx="5381625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D1D5DB"/>
                </a:solidFill>
                <a:latin typeface="Bahnschrift SemiCondensed" panose="020B0502040204020203" pitchFamily="34" charset="0"/>
                <a:ea typeface="Urbanist"/>
                <a:cs typeface="Urbanist"/>
                <a:sym typeface="Urbanist"/>
              </a:rPr>
              <a:t>Phân</a:t>
            </a:r>
            <a:r>
              <a:rPr lang="en-US" sz="1350" b="1" i="0" u="none" strike="noStrike" cap="none" dirty="0">
                <a:solidFill>
                  <a:srgbClr val="D1D5DB"/>
                </a:solidFill>
                <a:latin typeface="Bahnschrift SemiCondensed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1" i="0" u="none" strike="noStrike" cap="none" dirty="0" err="1">
                <a:solidFill>
                  <a:srgbClr val="D1D5DB"/>
                </a:solidFill>
                <a:latin typeface="Bahnschrift SemiCondensed" panose="020B0502040204020203" pitchFamily="34" charset="0"/>
                <a:ea typeface="Urbanist"/>
                <a:cs typeface="Urbanist"/>
                <a:sym typeface="Urbanist"/>
              </a:rPr>
              <a:t>tích</a:t>
            </a:r>
            <a:r>
              <a:rPr lang="en-US" sz="1350" b="1" i="0" u="none" strike="noStrike" cap="none" dirty="0">
                <a:solidFill>
                  <a:srgbClr val="D1D5DB"/>
                </a:solidFill>
                <a:latin typeface="Bahnschrift SemiCondensed" panose="020B0502040204020203" pitchFamily="34" charset="0"/>
                <a:ea typeface="Urbanist"/>
                <a:cs typeface="Urbanist"/>
                <a:sym typeface="Urbanist"/>
              </a:rPr>
              <a:t> &amp; </a:t>
            </a:r>
            <a:r>
              <a:rPr lang="en-US" sz="1350" b="1" i="0" u="none" strike="noStrike" cap="none" dirty="0" err="1">
                <a:solidFill>
                  <a:srgbClr val="D1D5DB"/>
                </a:solidFill>
                <a:latin typeface="Bahnschrift SemiCondensed" panose="020B0502040204020203" pitchFamily="34" charset="0"/>
                <a:ea typeface="Urbanist"/>
                <a:cs typeface="Urbanist"/>
                <a:sym typeface="Urbanist"/>
              </a:rPr>
              <a:t>Suy</a:t>
            </a:r>
            <a:r>
              <a:rPr lang="en-US" sz="1350" b="1" i="0" u="none" strike="noStrike" cap="none" dirty="0">
                <a:solidFill>
                  <a:srgbClr val="D1D5DB"/>
                </a:solidFill>
                <a:latin typeface="Bahnschrift SemiCondensed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1" i="0" u="none" strike="noStrike" cap="none" dirty="0" err="1">
                <a:solidFill>
                  <a:srgbClr val="D1D5DB"/>
                </a:solidFill>
                <a:latin typeface="Bahnschrift SemiCondensed" panose="020B0502040204020203" pitchFamily="34" charset="0"/>
                <a:ea typeface="Urbanist"/>
                <a:cs typeface="Urbanist"/>
                <a:sym typeface="Urbanist"/>
              </a:rPr>
              <a:t>luận</a:t>
            </a:r>
            <a:r>
              <a:rPr lang="en-US" sz="1350" b="1" i="0" u="none" strike="noStrike" cap="none" dirty="0">
                <a:solidFill>
                  <a:srgbClr val="D1D5DB"/>
                </a:solidFill>
                <a:latin typeface="Bahnschrift SemiCondensed" panose="020B0502040204020203" pitchFamily="34" charset="0"/>
                <a:ea typeface="Urbanist"/>
                <a:cs typeface="Urbanist"/>
                <a:sym typeface="Urbanist"/>
              </a:rPr>
              <a:t>: </a:t>
            </a:r>
            <a:r>
              <a:rPr lang="en-US" sz="135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Xử</a:t>
            </a:r>
            <a:r>
              <a:rPr lang="en-US" sz="135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lý</a:t>
            </a:r>
            <a:r>
              <a:rPr lang="en-US" sz="135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thông</a:t>
            </a:r>
            <a:r>
              <a:rPr lang="en-US" sz="135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tin </a:t>
            </a:r>
            <a:r>
              <a:rPr lang="en-US" sz="135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phức</a:t>
            </a:r>
            <a:r>
              <a:rPr lang="en-US" sz="135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tạp</a:t>
            </a:r>
            <a:r>
              <a:rPr lang="en-US" sz="135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để</a:t>
            </a:r>
            <a:r>
              <a:rPr lang="en-US" sz="135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đưa</a:t>
            </a:r>
            <a:r>
              <a:rPr lang="en-US" sz="135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ra </a:t>
            </a:r>
            <a:r>
              <a:rPr lang="en-US" sz="135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quyết</a:t>
            </a:r>
            <a:r>
              <a:rPr lang="en-US" sz="135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định</a:t>
            </a:r>
            <a:r>
              <a:rPr lang="en-US" sz="135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chính</a:t>
            </a:r>
            <a:r>
              <a:rPr lang="en-US" sz="135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xác</a:t>
            </a:r>
            <a:r>
              <a:rPr lang="en-US" sz="135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.</a:t>
            </a:r>
            <a:endParaRPr dirty="0">
              <a:latin typeface="Bahnschrift SemiLight SemiConde" panose="020B0502040204020203" pitchFamily="34" charset="0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476250" y="5081438"/>
            <a:ext cx="5381625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43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D1D5DB"/>
                </a:solidFill>
                <a:latin typeface="Bahnschrift SemiCondensed" panose="020B0502040204020203" pitchFamily="34" charset="0"/>
                <a:ea typeface="Urbanist"/>
                <a:cs typeface="Urbanist"/>
                <a:sym typeface="Urbanist"/>
              </a:rPr>
              <a:t>Mô</a:t>
            </a:r>
            <a:r>
              <a:rPr lang="en-US" sz="1350" b="1" i="0" u="none" strike="noStrike" cap="none" dirty="0">
                <a:solidFill>
                  <a:srgbClr val="D1D5DB"/>
                </a:solidFill>
                <a:latin typeface="Bahnschrift SemiCondensed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1" i="0" u="none" strike="noStrike" cap="none" dirty="0" err="1">
                <a:solidFill>
                  <a:srgbClr val="D1D5DB"/>
                </a:solidFill>
                <a:latin typeface="Bahnschrift SemiCondensed" panose="020B0502040204020203" pitchFamily="34" charset="0"/>
                <a:ea typeface="Urbanist"/>
                <a:cs typeface="Urbanist"/>
                <a:sym typeface="Urbanist"/>
              </a:rPr>
              <a:t>phỏng</a:t>
            </a:r>
            <a:r>
              <a:rPr lang="en-US" sz="1350" b="1" i="0" u="none" strike="noStrike" cap="none" dirty="0">
                <a:solidFill>
                  <a:srgbClr val="D1D5DB"/>
                </a:solidFill>
                <a:latin typeface="Bahnschrift SemiCondensed" panose="020B0502040204020203" pitchFamily="34" charset="0"/>
                <a:ea typeface="Urbanist"/>
                <a:cs typeface="Urbanist"/>
                <a:sym typeface="Urbanist"/>
              </a:rPr>
              <a:t>: </a:t>
            </a:r>
            <a:r>
              <a:rPr lang="en-US" sz="135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Bắt</a:t>
            </a:r>
            <a:r>
              <a:rPr lang="en-US" sz="135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chước</a:t>
            </a:r>
            <a:r>
              <a:rPr lang="en-US" sz="135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cách</a:t>
            </a:r>
            <a:r>
              <a:rPr lang="en-US" sz="135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con </a:t>
            </a:r>
            <a:r>
              <a:rPr lang="en-US" sz="135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người</a:t>
            </a:r>
            <a:r>
              <a:rPr lang="en-US" sz="135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giải</a:t>
            </a:r>
            <a:r>
              <a:rPr lang="en-US" sz="135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quyết</a:t>
            </a:r>
            <a:r>
              <a:rPr lang="en-US" sz="135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vấn</a:t>
            </a:r>
            <a:r>
              <a:rPr lang="en-US" sz="135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đề</a:t>
            </a:r>
            <a:r>
              <a:rPr lang="en-US" sz="135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.</a:t>
            </a:r>
            <a:endParaRPr dirty="0">
              <a:latin typeface="Bahnschrift SemiLight SemiConde" panose="020B0502040204020203" pitchFamily="34" charset="0"/>
            </a:endParaRPr>
          </a:p>
        </p:txBody>
      </p:sp>
      <p:pic>
        <p:nvPicPr>
          <p:cNvPr id="98" name="Google Shape;98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76250" y="364614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76250" y="438522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76250" y="5124301"/>
            <a:ext cx="21907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476250" y="381000"/>
            <a:ext cx="117157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 err="1">
                <a:solidFill>
                  <a:srgbClr val="DEFF9A"/>
                </a:solidFill>
                <a:latin typeface="Bahnschrift SemiCondensed" panose="020B0502040204020203" pitchFamily="34" charset="0"/>
                <a:ea typeface="Urbanist SemiBold"/>
                <a:cs typeface="Urbanist SemiBold"/>
                <a:sym typeface="Urbanist SemiBold"/>
              </a:rPr>
              <a:t>Trí</a:t>
            </a:r>
            <a:r>
              <a:rPr lang="en-US" sz="3600" b="0" i="0" u="none" strike="noStrike" cap="none" dirty="0">
                <a:solidFill>
                  <a:srgbClr val="DEFF9A"/>
                </a:solidFill>
                <a:latin typeface="Bahnschrift SemiCondensed" panose="020B0502040204020203" pitchFamily="34" charset="0"/>
                <a:ea typeface="Urbanist SemiBold"/>
                <a:cs typeface="Urbanist SemiBold"/>
                <a:sym typeface="Urbanist SemiBold"/>
              </a:rPr>
              <a:t> </a:t>
            </a:r>
            <a:r>
              <a:rPr lang="en-US" sz="3600" b="0" i="0" u="none" strike="noStrike" cap="none" dirty="0" err="1">
                <a:solidFill>
                  <a:srgbClr val="DEFF9A"/>
                </a:solidFill>
                <a:latin typeface="Bahnschrift SemiCondensed" panose="020B0502040204020203" pitchFamily="34" charset="0"/>
                <a:ea typeface="Urbanist SemiBold"/>
                <a:cs typeface="Urbanist SemiBold"/>
                <a:sym typeface="Urbanist SemiBold"/>
              </a:rPr>
              <a:t>Tuệ</a:t>
            </a:r>
            <a:r>
              <a:rPr lang="en-US" sz="3600" b="0" i="0" u="none" strike="noStrike" cap="none" dirty="0">
                <a:solidFill>
                  <a:srgbClr val="DEFF9A"/>
                </a:solidFill>
                <a:latin typeface="Bahnschrift SemiCondensed" panose="020B0502040204020203" pitchFamily="34" charset="0"/>
                <a:ea typeface="Urbanist SemiBold"/>
                <a:cs typeface="Urbanist SemiBold"/>
                <a:sym typeface="Urbanist SemiBold"/>
              </a:rPr>
              <a:t> </a:t>
            </a:r>
            <a:r>
              <a:rPr lang="en-US" sz="3600" b="0" i="0" u="none" strike="noStrike" cap="none" dirty="0" err="1">
                <a:solidFill>
                  <a:srgbClr val="DEFF9A"/>
                </a:solidFill>
                <a:latin typeface="Bahnschrift SemiCondensed" panose="020B0502040204020203" pitchFamily="34" charset="0"/>
                <a:ea typeface="Urbanist SemiBold"/>
                <a:cs typeface="Urbanist SemiBold"/>
                <a:sym typeface="Urbanist SemiBold"/>
              </a:rPr>
              <a:t>Nhân</a:t>
            </a:r>
            <a:r>
              <a:rPr lang="en-US" sz="3600" b="0" i="0" u="none" strike="noStrike" cap="none" dirty="0">
                <a:solidFill>
                  <a:srgbClr val="DEFF9A"/>
                </a:solidFill>
                <a:latin typeface="Bahnschrift SemiCondensed" panose="020B0502040204020203" pitchFamily="34" charset="0"/>
                <a:ea typeface="Urbanist SemiBold"/>
                <a:cs typeface="Urbanist SemiBold"/>
                <a:sym typeface="Urbanist SemiBold"/>
              </a:rPr>
              <a:t> </a:t>
            </a:r>
            <a:r>
              <a:rPr lang="en-US" sz="3600" b="0" i="0" u="none" strike="noStrike" cap="none" dirty="0" err="1">
                <a:solidFill>
                  <a:srgbClr val="DEFF9A"/>
                </a:solidFill>
                <a:latin typeface="Bahnschrift SemiCondensed" panose="020B0502040204020203" pitchFamily="34" charset="0"/>
                <a:ea typeface="Urbanist SemiBold"/>
                <a:cs typeface="Urbanist SemiBold"/>
                <a:sym typeface="Urbanist SemiBold"/>
              </a:rPr>
              <a:t>Tạo</a:t>
            </a:r>
            <a:r>
              <a:rPr lang="en-US" sz="3600" b="0" i="0" u="none" strike="noStrike" cap="none" dirty="0">
                <a:solidFill>
                  <a:srgbClr val="DEFF9A"/>
                </a:solidFill>
                <a:latin typeface="Bahnschrift SemiCondensed" panose="020B0502040204020203" pitchFamily="34" charset="0"/>
                <a:ea typeface="Urbanist SemiBold"/>
                <a:cs typeface="Urbanist SemiBold"/>
                <a:sym typeface="Urbanist SemiBold"/>
              </a:rPr>
              <a:t> (AI) </a:t>
            </a:r>
            <a:r>
              <a:rPr lang="en-US" sz="3600" b="0" i="0" u="none" strike="noStrike" cap="none" dirty="0" err="1">
                <a:solidFill>
                  <a:srgbClr val="DEFF9A"/>
                </a:solidFill>
                <a:latin typeface="Bahnschrift SemiCondensed" panose="020B0502040204020203" pitchFamily="34" charset="0"/>
                <a:ea typeface="Urbanist SemiBold"/>
                <a:cs typeface="Urbanist SemiBold"/>
                <a:sym typeface="Urbanist SemiBold"/>
              </a:rPr>
              <a:t>Là</a:t>
            </a:r>
            <a:r>
              <a:rPr lang="en-US" sz="3600" b="0" i="0" u="none" strike="noStrike" cap="none" dirty="0">
                <a:solidFill>
                  <a:srgbClr val="DEFF9A"/>
                </a:solidFill>
                <a:latin typeface="Bahnschrift SemiCondensed" panose="020B0502040204020203" pitchFamily="34" charset="0"/>
                <a:ea typeface="Urbanist SemiBold"/>
                <a:cs typeface="Urbanist SemiBold"/>
                <a:sym typeface="Urbanist SemiBold"/>
              </a:rPr>
              <a:t> </a:t>
            </a:r>
            <a:r>
              <a:rPr lang="en-US" sz="3600" b="0" i="0" u="none" strike="noStrike" cap="none" dirty="0" err="1">
                <a:solidFill>
                  <a:srgbClr val="DEFF9A"/>
                </a:solidFill>
                <a:latin typeface="Bahnschrift SemiCondensed" panose="020B0502040204020203" pitchFamily="34" charset="0"/>
                <a:ea typeface="Urbanist SemiBold"/>
                <a:cs typeface="Urbanist SemiBold"/>
                <a:sym typeface="Urbanist SemiBold"/>
              </a:rPr>
              <a:t>Gì</a:t>
            </a:r>
            <a:r>
              <a:rPr lang="en-US" sz="3600" b="0" i="0" u="none" strike="noStrike" cap="none" dirty="0">
                <a:solidFill>
                  <a:srgbClr val="DEFF9A"/>
                </a:solidFill>
                <a:latin typeface="Bahnschrift SemiCondensed" panose="020B0502040204020203" pitchFamily="34" charset="0"/>
                <a:ea typeface="Urbanist SemiBold"/>
                <a:cs typeface="Urbanist SemiBold"/>
                <a:sym typeface="Urbanist SemiBold"/>
              </a:rPr>
              <a:t>?</a:t>
            </a:r>
            <a:endParaRPr dirty="0">
              <a:latin typeface="Bahnschrift SemiCondensed" panose="020B0502040204020203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2691854"/>
            <a:ext cx="2667000" cy="24077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33750" y="2691854"/>
            <a:ext cx="2667000" cy="24077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1250" y="2691854"/>
            <a:ext cx="2667000" cy="24077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048750" y="2691854"/>
            <a:ext cx="2667000" cy="240774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669607" y="3587204"/>
            <a:ext cx="228028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FFFFFF"/>
                </a:solidFill>
                <a:latin typeface="Bahnschrift SemiLight SemiConde" panose="020B0502040204020203" pitchFamily="34" charset="0"/>
                <a:ea typeface="Urbanist SemiBold"/>
                <a:cs typeface="Urbanist SemiBold"/>
                <a:sym typeface="Urbanist SemiBold"/>
              </a:rPr>
              <a:t>Machine Learning</a:t>
            </a:r>
            <a:endParaRPr dirty="0">
              <a:latin typeface="Bahnschrift SemiLight SemiConde" panose="020B0502040204020203" pitchFamily="34" charset="0"/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723900" y="3968204"/>
            <a:ext cx="2171700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9CA3A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Máy</a:t>
            </a:r>
            <a:r>
              <a:rPr lang="en-US" sz="1200" b="0" i="0" u="none" strike="noStrike" cap="none" dirty="0">
                <a:solidFill>
                  <a:srgbClr val="9CA3A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200" b="0" i="0" u="none" strike="noStrike" cap="none" dirty="0" err="1">
                <a:solidFill>
                  <a:srgbClr val="9CA3A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học</a:t>
            </a:r>
            <a:r>
              <a:rPr lang="en-US" sz="1200" b="0" i="0" u="none" strike="noStrike" cap="none" dirty="0">
                <a:solidFill>
                  <a:srgbClr val="9CA3A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200" b="0" i="0" u="none" strike="noStrike" cap="none" dirty="0" err="1">
                <a:solidFill>
                  <a:srgbClr val="9CA3A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từ</a:t>
            </a:r>
            <a:r>
              <a:rPr lang="en-US" sz="1200" b="0" i="0" u="none" strike="noStrike" cap="none" dirty="0">
                <a:solidFill>
                  <a:srgbClr val="9CA3A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200" b="0" i="0" u="none" strike="noStrike" cap="none" dirty="0" err="1">
                <a:solidFill>
                  <a:srgbClr val="9CA3A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dữ</a:t>
            </a:r>
            <a:r>
              <a:rPr lang="en-US" sz="1200" b="0" i="0" u="none" strike="noStrike" cap="none" dirty="0">
                <a:solidFill>
                  <a:srgbClr val="9CA3A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200" b="0" i="0" u="none" strike="noStrike" cap="none" dirty="0" err="1">
                <a:solidFill>
                  <a:srgbClr val="9CA3A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liệu</a:t>
            </a:r>
            <a:r>
              <a:rPr lang="en-US" sz="1200" b="0" i="0" u="none" strike="noStrike" cap="none" dirty="0">
                <a:solidFill>
                  <a:srgbClr val="9CA3A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200" b="0" i="0" u="none" strike="noStrike" cap="none" dirty="0" err="1">
                <a:solidFill>
                  <a:srgbClr val="9CA3A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để</a:t>
            </a:r>
            <a:r>
              <a:rPr lang="en-US" sz="1200" b="0" i="0" u="none" strike="noStrike" cap="none" dirty="0">
                <a:solidFill>
                  <a:srgbClr val="9CA3A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200" b="0" i="0" u="none" strike="noStrike" cap="none" dirty="0" err="1">
                <a:solidFill>
                  <a:srgbClr val="9CA3A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cải</a:t>
            </a:r>
            <a:r>
              <a:rPr lang="en-US" sz="1200" b="0" i="0" u="none" strike="noStrike" cap="none" dirty="0">
                <a:solidFill>
                  <a:srgbClr val="9CA3A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200" b="0" i="0" u="none" strike="noStrike" cap="none" dirty="0" err="1">
                <a:solidFill>
                  <a:srgbClr val="9CA3A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thiện</a:t>
            </a:r>
            <a:r>
              <a:rPr lang="en-US" sz="1200" b="0" i="0" u="none" strike="noStrike" cap="none" dirty="0">
                <a:solidFill>
                  <a:srgbClr val="9CA3A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200" b="0" i="0" u="none" strike="noStrike" cap="none" dirty="0" err="1">
                <a:solidFill>
                  <a:srgbClr val="9CA3A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hiệu</a:t>
            </a:r>
            <a:r>
              <a:rPr lang="en-US" sz="1200" b="0" i="0" u="none" strike="noStrike" cap="none" dirty="0">
                <a:solidFill>
                  <a:srgbClr val="9CA3A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200" b="0" i="0" u="none" strike="noStrike" cap="none" dirty="0" err="1">
                <a:solidFill>
                  <a:srgbClr val="9CA3A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suất</a:t>
            </a:r>
            <a:r>
              <a:rPr lang="en-US" sz="1200" b="0" i="0" u="none" strike="noStrike" cap="none" dirty="0">
                <a:solidFill>
                  <a:srgbClr val="9CA3A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200" b="0" i="0" u="none" strike="noStrike" cap="none" dirty="0" err="1">
                <a:solidFill>
                  <a:srgbClr val="9CA3A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mà</a:t>
            </a:r>
            <a:r>
              <a:rPr lang="en-US" sz="1200" b="0" i="0" u="none" strike="noStrike" cap="none" dirty="0">
                <a:solidFill>
                  <a:srgbClr val="9CA3A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200" b="0" i="0" u="none" strike="noStrike" cap="none" dirty="0" err="1">
                <a:solidFill>
                  <a:srgbClr val="9CA3A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không</a:t>
            </a:r>
            <a:r>
              <a:rPr lang="en-US" sz="1200" b="0" i="0" u="none" strike="noStrike" cap="none" dirty="0">
                <a:solidFill>
                  <a:srgbClr val="9CA3A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200" b="0" i="0" u="none" strike="noStrike" cap="none" dirty="0" err="1">
                <a:solidFill>
                  <a:srgbClr val="9CA3A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cần</a:t>
            </a:r>
            <a:r>
              <a:rPr lang="en-US" sz="1200" b="0" i="0" u="none" strike="noStrike" cap="none" dirty="0">
                <a:solidFill>
                  <a:srgbClr val="9CA3A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200" b="0" i="0" u="none" strike="noStrike" cap="none" dirty="0" err="1">
                <a:solidFill>
                  <a:srgbClr val="9CA3A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lập</a:t>
            </a:r>
            <a:r>
              <a:rPr lang="en-US" sz="1200" b="0" i="0" u="none" strike="noStrike" cap="none" dirty="0">
                <a:solidFill>
                  <a:srgbClr val="9CA3A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200" b="0" i="0" u="none" strike="noStrike" cap="none" dirty="0" err="1">
                <a:solidFill>
                  <a:srgbClr val="9CA3A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trình</a:t>
            </a:r>
            <a:r>
              <a:rPr lang="en-US" sz="1200" b="0" i="0" u="none" strike="noStrike" cap="none" dirty="0">
                <a:solidFill>
                  <a:srgbClr val="9CA3A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200" b="0" i="0" u="none" strike="noStrike" cap="none" dirty="0" err="1">
                <a:solidFill>
                  <a:srgbClr val="9CA3A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rõ</a:t>
            </a:r>
            <a:r>
              <a:rPr lang="en-US" sz="1200" b="0" i="0" u="none" strike="noStrike" cap="none" dirty="0">
                <a:solidFill>
                  <a:srgbClr val="9CA3A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200" b="0" i="0" u="none" strike="noStrike" cap="none" dirty="0" err="1">
                <a:solidFill>
                  <a:srgbClr val="9CA3A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ràng</a:t>
            </a:r>
            <a:r>
              <a:rPr lang="en-US" sz="1200" b="0" i="0" u="none" strike="noStrike" cap="none" dirty="0">
                <a:solidFill>
                  <a:srgbClr val="9CA3A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.</a:t>
            </a:r>
            <a:endParaRPr dirty="0">
              <a:latin typeface="Bahnschrift SemiLight SemiConde" panose="020B0502040204020203" pitchFamily="34" charset="0"/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3527107" y="3587204"/>
            <a:ext cx="228028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FFFFFF"/>
                </a:solidFill>
                <a:latin typeface="Bahnschrift SemiLight SemiConde" panose="020B0502040204020203" pitchFamily="34" charset="0"/>
                <a:ea typeface="Urbanist SemiBold"/>
                <a:cs typeface="Urbanist SemiBold"/>
                <a:sym typeface="Urbanist SemiBold"/>
              </a:rPr>
              <a:t>Deep Learning</a:t>
            </a:r>
            <a:endParaRPr dirty="0">
              <a:latin typeface="Bahnschrift SemiLight SemiConde" panose="020B0502040204020203" pitchFamily="34" charset="0"/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3581400" y="3968204"/>
            <a:ext cx="2171700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9CA3A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Mạng</a:t>
            </a:r>
            <a:r>
              <a:rPr lang="en-US" sz="1200" b="0" i="0" u="none" strike="noStrike" cap="none" dirty="0">
                <a:solidFill>
                  <a:srgbClr val="9CA3A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200" b="0" i="0" u="none" strike="noStrike" cap="none" dirty="0" err="1">
                <a:solidFill>
                  <a:srgbClr val="9CA3A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nơ-ron</a:t>
            </a:r>
            <a:r>
              <a:rPr lang="en-US" sz="1200" b="0" i="0" u="none" strike="noStrike" cap="none" dirty="0">
                <a:solidFill>
                  <a:srgbClr val="9CA3A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200" b="0" i="0" u="none" strike="noStrike" cap="none" dirty="0" err="1">
                <a:solidFill>
                  <a:srgbClr val="9CA3A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nhân</a:t>
            </a:r>
            <a:r>
              <a:rPr lang="en-US" sz="1200" b="0" i="0" u="none" strike="noStrike" cap="none" dirty="0">
                <a:solidFill>
                  <a:srgbClr val="9CA3A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200" b="0" i="0" u="none" strike="noStrike" cap="none" dirty="0" err="1">
                <a:solidFill>
                  <a:srgbClr val="9CA3A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tạo</a:t>
            </a:r>
            <a:r>
              <a:rPr lang="en-US" sz="1200" b="0" i="0" u="none" strike="noStrike" cap="none" dirty="0">
                <a:solidFill>
                  <a:srgbClr val="9CA3A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200" b="0" i="0" u="none" strike="noStrike" cap="none" dirty="0" err="1">
                <a:solidFill>
                  <a:srgbClr val="9CA3A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mô</a:t>
            </a:r>
            <a:r>
              <a:rPr lang="en-US" sz="1200" b="0" i="0" u="none" strike="noStrike" cap="none" dirty="0">
                <a:solidFill>
                  <a:srgbClr val="9CA3A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200" b="0" i="0" u="none" strike="noStrike" cap="none" dirty="0" err="1">
                <a:solidFill>
                  <a:srgbClr val="9CA3A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phỏng</a:t>
            </a:r>
            <a:r>
              <a:rPr lang="en-US" sz="1200" b="0" i="0" u="none" strike="noStrike" cap="none" dirty="0">
                <a:solidFill>
                  <a:srgbClr val="9CA3A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200" b="0" i="0" u="none" strike="noStrike" cap="none" dirty="0" err="1">
                <a:solidFill>
                  <a:srgbClr val="9CA3A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não</a:t>
            </a:r>
            <a:r>
              <a:rPr lang="en-US" sz="1200" b="0" i="0" u="none" strike="noStrike" cap="none" dirty="0">
                <a:solidFill>
                  <a:srgbClr val="9CA3A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200" b="0" i="0" u="none" strike="noStrike" cap="none" dirty="0" err="1">
                <a:solidFill>
                  <a:srgbClr val="9CA3A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bộ</a:t>
            </a:r>
            <a:r>
              <a:rPr lang="en-US" sz="1200" b="0" i="0" u="none" strike="noStrike" cap="none" dirty="0">
                <a:solidFill>
                  <a:srgbClr val="9CA3A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200" b="0" i="0" u="none" strike="noStrike" cap="none" dirty="0" err="1">
                <a:solidFill>
                  <a:srgbClr val="9CA3A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để</a:t>
            </a:r>
            <a:r>
              <a:rPr lang="en-US" sz="1200" b="0" i="0" u="none" strike="noStrike" cap="none" dirty="0">
                <a:solidFill>
                  <a:srgbClr val="9CA3A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200" b="0" i="0" u="none" strike="noStrike" cap="none" dirty="0" err="1">
                <a:solidFill>
                  <a:srgbClr val="9CA3A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xử</a:t>
            </a:r>
            <a:r>
              <a:rPr lang="en-US" sz="1200" b="0" i="0" u="none" strike="noStrike" cap="none" dirty="0">
                <a:solidFill>
                  <a:srgbClr val="9CA3A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200" b="0" i="0" u="none" strike="noStrike" cap="none" dirty="0" err="1">
                <a:solidFill>
                  <a:srgbClr val="9CA3A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lý</a:t>
            </a:r>
            <a:r>
              <a:rPr lang="en-US" sz="1200" b="0" i="0" u="none" strike="noStrike" cap="none" dirty="0">
                <a:solidFill>
                  <a:srgbClr val="9CA3A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200" b="0" i="0" u="none" strike="noStrike" cap="none" dirty="0" err="1">
                <a:solidFill>
                  <a:srgbClr val="9CA3A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dữ</a:t>
            </a:r>
            <a:r>
              <a:rPr lang="en-US" sz="1200" b="0" i="0" u="none" strike="noStrike" cap="none" dirty="0">
                <a:solidFill>
                  <a:srgbClr val="9CA3A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200" b="0" i="0" u="none" strike="noStrike" cap="none" dirty="0" err="1">
                <a:solidFill>
                  <a:srgbClr val="9CA3A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liệu</a:t>
            </a:r>
            <a:r>
              <a:rPr lang="en-US" sz="1200" b="0" i="0" u="none" strike="noStrike" cap="none" dirty="0">
                <a:solidFill>
                  <a:srgbClr val="9CA3A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200" b="0" i="0" u="none" strike="noStrike" cap="none" dirty="0" err="1">
                <a:solidFill>
                  <a:srgbClr val="9CA3A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phức</a:t>
            </a:r>
            <a:r>
              <a:rPr lang="en-US" sz="1200" b="0" i="0" u="none" strike="noStrike" cap="none" dirty="0">
                <a:solidFill>
                  <a:srgbClr val="9CA3A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200" b="0" i="0" u="none" strike="noStrike" cap="none" dirty="0" err="1">
                <a:solidFill>
                  <a:srgbClr val="9CA3A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tạp</a:t>
            </a:r>
            <a:r>
              <a:rPr lang="en-US" sz="1200" b="0" i="0" u="none" strike="noStrike" cap="none" dirty="0">
                <a:solidFill>
                  <a:srgbClr val="9CA3A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.</a:t>
            </a:r>
            <a:endParaRPr dirty="0">
              <a:latin typeface="Bahnschrift SemiLight SemiConde" panose="020B0502040204020203" pitchFamily="34" charset="0"/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6384607" y="3587204"/>
            <a:ext cx="228028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Bahnschrift SemiLight SemiConde" panose="020B0502040204020203" pitchFamily="34" charset="0"/>
                <a:ea typeface="Urbanist SemiBold"/>
                <a:cs typeface="Urbanist SemiBold"/>
                <a:sym typeface="Urbanist SemiBold"/>
              </a:rPr>
              <a:t>Computer Vision</a:t>
            </a:r>
            <a:endParaRPr>
              <a:latin typeface="Bahnschrift SemiLight SemiConde" panose="020B0502040204020203" pitchFamily="34" charset="0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6438900" y="3968204"/>
            <a:ext cx="2171700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Khả năng nhìn và hiểu nội dung từ hình ảnh và video kỹ thuật số.</a:t>
            </a:r>
            <a:endParaRPr>
              <a:latin typeface="Bahnschrift SemiLight SemiConde" panose="020B0502040204020203" pitchFamily="34" charset="0"/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9242107" y="3587204"/>
            <a:ext cx="228028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Bahnschrift SemiLight SemiConde" panose="020B0502040204020203" pitchFamily="34" charset="0"/>
                <a:ea typeface="Urbanist SemiBold"/>
                <a:cs typeface="Urbanist SemiBold"/>
                <a:sym typeface="Urbanist SemiBold"/>
              </a:rPr>
              <a:t>NLP</a:t>
            </a:r>
            <a:endParaRPr>
              <a:latin typeface="Bahnschrift SemiLight SemiConde" panose="020B0502040204020203" pitchFamily="34" charset="0"/>
            </a:endParaRPr>
          </a:p>
        </p:txBody>
      </p:sp>
      <p:sp>
        <p:nvSpPr>
          <p:cNvPr id="118" name="Google Shape;118;p15"/>
          <p:cNvSpPr txBox="1"/>
          <p:nvPr/>
        </p:nvSpPr>
        <p:spPr>
          <a:xfrm>
            <a:off x="9296400" y="3968204"/>
            <a:ext cx="2171700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Xử lý ngôn ngữ tự nhiên, giúp máy hiểu và giao tiếp tiếng người.</a:t>
            </a:r>
            <a:endParaRPr>
              <a:latin typeface="Bahnschrift SemiLight SemiConde" panose="020B0502040204020203" pitchFamily="34" charset="0"/>
            </a:endParaRPr>
          </a:p>
        </p:txBody>
      </p:sp>
      <p:pic>
        <p:nvPicPr>
          <p:cNvPr id="119" name="Google Shape;119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43062" y="2968079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452937" y="2968079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310437" y="2968079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144125" y="2968079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238125" y="793477"/>
            <a:ext cx="117157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 err="1">
                <a:solidFill>
                  <a:srgbClr val="DEFF9A"/>
                </a:solidFill>
                <a:latin typeface="Bahnschrift SemiCondensed" panose="020B0502040204020203" pitchFamily="34" charset="0"/>
                <a:ea typeface="Urbanist SemiBold"/>
                <a:cs typeface="Urbanist SemiBold"/>
                <a:sym typeface="Urbanist SemiBold"/>
              </a:rPr>
              <a:t>Các</a:t>
            </a:r>
            <a:r>
              <a:rPr lang="en-US" sz="3600" b="0" i="0" u="none" strike="noStrike" cap="none" dirty="0">
                <a:solidFill>
                  <a:srgbClr val="DEFF9A"/>
                </a:solidFill>
                <a:latin typeface="Bahnschrift SemiCondensed" panose="020B0502040204020203" pitchFamily="34" charset="0"/>
                <a:ea typeface="Urbanist SemiBold"/>
                <a:cs typeface="Urbanist SemiBold"/>
                <a:sym typeface="Urbanist SemiBold"/>
              </a:rPr>
              <a:t> </a:t>
            </a:r>
            <a:r>
              <a:rPr lang="en-US" sz="3600" b="0" i="0" u="none" strike="noStrike" cap="none" dirty="0" err="1">
                <a:solidFill>
                  <a:srgbClr val="DEFF9A"/>
                </a:solidFill>
                <a:latin typeface="Bahnschrift SemiCondensed" panose="020B0502040204020203" pitchFamily="34" charset="0"/>
                <a:ea typeface="Urbanist SemiBold"/>
                <a:cs typeface="Urbanist SemiBold"/>
                <a:sym typeface="Urbanist SemiBold"/>
              </a:rPr>
              <a:t>Lĩnh</a:t>
            </a:r>
            <a:r>
              <a:rPr lang="en-US" sz="3600" b="0" i="0" u="none" strike="noStrike" cap="none" dirty="0">
                <a:solidFill>
                  <a:srgbClr val="DEFF9A"/>
                </a:solidFill>
                <a:latin typeface="Bahnschrift SemiCondensed" panose="020B0502040204020203" pitchFamily="34" charset="0"/>
                <a:ea typeface="Urbanist SemiBold"/>
                <a:cs typeface="Urbanist SemiBold"/>
                <a:sym typeface="Urbanist SemiBold"/>
              </a:rPr>
              <a:t> </a:t>
            </a:r>
            <a:r>
              <a:rPr lang="en-US" sz="3600" b="0" i="0" u="none" strike="noStrike" cap="none" dirty="0" err="1">
                <a:solidFill>
                  <a:srgbClr val="DEFF9A"/>
                </a:solidFill>
                <a:latin typeface="Bahnschrift SemiCondensed" panose="020B0502040204020203" pitchFamily="34" charset="0"/>
                <a:ea typeface="Urbanist SemiBold"/>
                <a:cs typeface="Urbanist SemiBold"/>
                <a:sym typeface="Urbanist SemiBold"/>
              </a:rPr>
              <a:t>Vực</a:t>
            </a:r>
            <a:r>
              <a:rPr lang="en-US" sz="3600" b="0" i="0" u="none" strike="noStrike" cap="none" dirty="0">
                <a:solidFill>
                  <a:srgbClr val="DEFF9A"/>
                </a:solidFill>
                <a:latin typeface="Bahnschrift SemiCondensed" panose="020B0502040204020203" pitchFamily="34" charset="0"/>
                <a:ea typeface="Urbanist SemiBold"/>
                <a:cs typeface="Urbanist SemiBold"/>
                <a:sym typeface="Urbanist SemiBold"/>
              </a:rPr>
              <a:t> </a:t>
            </a:r>
            <a:r>
              <a:rPr lang="en-US" sz="3600" b="0" i="0" u="none" strike="noStrike" cap="none" dirty="0" err="1">
                <a:solidFill>
                  <a:srgbClr val="DEFF9A"/>
                </a:solidFill>
                <a:latin typeface="Bahnschrift SemiCondensed" panose="020B0502040204020203" pitchFamily="34" charset="0"/>
                <a:ea typeface="Urbanist SemiBold"/>
                <a:cs typeface="Urbanist SemiBold"/>
                <a:sym typeface="Urbanist SemiBold"/>
              </a:rPr>
              <a:t>Chính</a:t>
            </a:r>
            <a:r>
              <a:rPr lang="en-US" sz="3600" b="0" i="0" u="none" strike="noStrike" cap="none" dirty="0">
                <a:solidFill>
                  <a:srgbClr val="DEFF9A"/>
                </a:solidFill>
                <a:latin typeface="Bahnschrift SemiCondensed" panose="020B0502040204020203" pitchFamily="34" charset="0"/>
                <a:ea typeface="Urbanist SemiBold"/>
                <a:cs typeface="Urbanist SemiBold"/>
                <a:sym typeface="Urbanist SemiBold"/>
              </a:rPr>
              <a:t> </a:t>
            </a:r>
            <a:r>
              <a:rPr lang="en-US" sz="3600" b="0" i="0" u="none" strike="noStrike" cap="none" dirty="0" err="1">
                <a:solidFill>
                  <a:srgbClr val="DEFF9A"/>
                </a:solidFill>
                <a:latin typeface="Bahnschrift SemiCondensed" panose="020B0502040204020203" pitchFamily="34" charset="0"/>
                <a:ea typeface="Urbanist SemiBold"/>
                <a:cs typeface="Urbanist SemiBold"/>
                <a:sym typeface="Urbanist SemiBold"/>
              </a:rPr>
              <a:t>Của</a:t>
            </a:r>
            <a:r>
              <a:rPr lang="en-US" sz="3600" b="0" i="0" u="none" strike="noStrike" cap="none" dirty="0">
                <a:solidFill>
                  <a:srgbClr val="DEFF9A"/>
                </a:solidFill>
                <a:latin typeface="Bahnschrift SemiCondensed" panose="020B0502040204020203" pitchFamily="34" charset="0"/>
                <a:ea typeface="Urbanist SemiBold"/>
                <a:cs typeface="Urbanist SemiBold"/>
                <a:sym typeface="Urbanist SemiBold"/>
              </a:rPr>
              <a:t> AI</a:t>
            </a:r>
            <a:endParaRPr dirty="0">
              <a:latin typeface="Bahnschrift SemiCondensed" panose="020B0502040204020203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/>
          <p:nvPr/>
        </p:nvSpPr>
        <p:spPr>
          <a:xfrm>
            <a:off x="476250" y="2724150"/>
            <a:ext cx="5524500" cy="685800"/>
          </a:xfrm>
          <a:prstGeom prst="roundRect">
            <a:avLst>
              <a:gd name="adj" fmla="val 16666"/>
            </a:avLst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Bahnschrift SemiLight SemiConde" panose="020B0502040204020203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6"/>
          <p:cNvSpPr txBox="1"/>
          <p:nvPr/>
        </p:nvSpPr>
        <p:spPr>
          <a:xfrm>
            <a:off x="1047750" y="2882384"/>
            <a:ext cx="47625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FFFFFF"/>
                </a:solidFill>
                <a:latin typeface="Bahnschrift SemiCondensed" panose="020B0502040204020203" pitchFamily="34" charset="0"/>
                <a:ea typeface="Urbanist"/>
                <a:cs typeface="Urbanist"/>
                <a:sym typeface="Urbanist"/>
              </a:rPr>
              <a:t>Giáo</a:t>
            </a:r>
            <a:r>
              <a:rPr lang="en-US" sz="1500" b="1" i="0" u="none" strike="noStrike" cap="none" dirty="0">
                <a:solidFill>
                  <a:srgbClr val="FFFFFF"/>
                </a:solidFill>
                <a:latin typeface="Bahnschrift SemiCondensed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500" b="1" i="0" u="none" strike="noStrike" cap="none" dirty="0" err="1">
                <a:solidFill>
                  <a:srgbClr val="FFFFFF"/>
                </a:solidFill>
                <a:latin typeface="Bahnschrift SemiCondensed" panose="020B0502040204020203" pitchFamily="34" charset="0"/>
                <a:ea typeface="Urbanist"/>
                <a:cs typeface="Urbanist"/>
                <a:sym typeface="Urbanist"/>
              </a:rPr>
              <a:t>dục</a:t>
            </a:r>
            <a:r>
              <a:rPr lang="en-US" sz="1500" b="1" i="0" u="none" strike="noStrike" cap="none" dirty="0">
                <a:solidFill>
                  <a:srgbClr val="FFFFFF"/>
                </a:solidFill>
                <a:latin typeface="Bahnschrift SemiCondensed" panose="020B0502040204020203" pitchFamily="34" charset="0"/>
                <a:ea typeface="Urbanist"/>
                <a:cs typeface="Urbanist"/>
                <a:sym typeface="Urbanist"/>
              </a:rPr>
              <a:t>:</a:t>
            </a:r>
            <a:r>
              <a:rPr lang="en-US" sz="1500" b="0" i="0" u="none" strike="noStrike" cap="none" dirty="0">
                <a:solidFill>
                  <a:srgbClr val="FFFFFF"/>
                </a:solidFill>
                <a:latin typeface="Bahnschrift SemiCondensed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FFFFF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Cá</a:t>
            </a:r>
            <a:r>
              <a:rPr lang="en-US" sz="1500" b="0" i="0" u="none" strike="noStrike" cap="none" dirty="0">
                <a:solidFill>
                  <a:srgbClr val="FFFFF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FFFFF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nhân</a:t>
            </a:r>
            <a:r>
              <a:rPr lang="en-US" sz="1500" b="0" i="0" u="none" strike="noStrike" cap="none" dirty="0">
                <a:solidFill>
                  <a:srgbClr val="FFFFF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FFFFF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hóa</a:t>
            </a:r>
            <a:r>
              <a:rPr lang="en-US" sz="1500" b="0" i="0" u="none" strike="noStrike" cap="none" dirty="0">
                <a:solidFill>
                  <a:srgbClr val="FFFFF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FFFFF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lộ</a:t>
            </a:r>
            <a:r>
              <a:rPr lang="en-US" sz="1500" b="0" i="0" u="none" strike="noStrike" cap="none" dirty="0">
                <a:solidFill>
                  <a:srgbClr val="FFFFF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FFFFF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trình</a:t>
            </a:r>
            <a:r>
              <a:rPr lang="en-US" sz="1500" b="0" i="0" u="none" strike="noStrike" cap="none" dirty="0">
                <a:solidFill>
                  <a:srgbClr val="FFFFF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FFFFF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học</a:t>
            </a:r>
            <a:r>
              <a:rPr lang="en-US" sz="1500" b="0" i="0" u="none" strike="noStrike" cap="none" dirty="0">
                <a:solidFill>
                  <a:srgbClr val="FFFFF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, </a:t>
            </a:r>
            <a:r>
              <a:rPr lang="en-US" sz="1500" b="0" i="0" u="none" strike="noStrike" cap="none" dirty="0" err="1">
                <a:solidFill>
                  <a:srgbClr val="FFFFF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chấm</a:t>
            </a:r>
            <a:r>
              <a:rPr lang="en-US" sz="1500" b="0" i="0" u="none" strike="noStrike" cap="none" dirty="0">
                <a:solidFill>
                  <a:srgbClr val="FFFFF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FFFFF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điểm</a:t>
            </a:r>
            <a:r>
              <a:rPr lang="en-US" sz="1500" b="0" i="0" u="none" strike="noStrike" cap="none" dirty="0">
                <a:solidFill>
                  <a:srgbClr val="FFFFF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FFFFF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tự</a:t>
            </a:r>
            <a:r>
              <a:rPr lang="en-US" sz="1500" b="0" i="0" u="none" strike="noStrike" cap="none" dirty="0">
                <a:solidFill>
                  <a:srgbClr val="FFFFF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FFFFF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động</a:t>
            </a:r>
            <a:r>
              <a:rPr lang="en-US" sz="1500" b="0" i="0" u="none" strike="noStrike" cap="none" dirty="0">
                <a:solidFill>
                  <a:srgbClr val="FFFFF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.</a:t>
            </a:r>
            <a:endParaRPr dirty="0">
              <a:latin typeface="Bahnschrift SemiLight SemiConde" panose="020B0502040204020203" pitchFamily="34" charset="0"/>
            </a:endParaRPr>
          </a:p>
        </p:txBody>
      </p:sp>
      <p:sp>
        <p:nvSpPr>
          <p:cNvPr id="131" name="Google Shape;131;p16"/>
          <p:cNvSpPr/>
          <p:nvPr/>
        </p:nvSpPr>
        <p:spPr>
          <a:xfrm>
            <a:off x="476250" y="2724150"/>
            <a:ext cx="38100" cy="6858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Bahnschrift SemiLight SemiConde" panose="020B0502040204020203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/>
          <p:nvPr/>
        </p:nvSpPr>
        <p:spPr>
          <a:xfrm>
            <a:off x="6191250" y="2724150"/>
            <a:ext cx="5524500" cy="685800"/>
          </a:xfrm>
          <a:prstGeom prst="roundRect">
            <a:avLst>
              <a:gd name="adj" fmla="val 16666"/>
            </a:avLst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Bahnschrift SemiLight SemiConde" panose="020B0502040204020203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 txBox="1"/>
          <p:nvPr/>
        </p:nvSpPr>
        <p:spPr>
          <a:xfrm>
            <a:off x="6715125" y="2882384"/>
            <a:ext cx="48101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FFFFF"/>
                </a:solidFill>
                <a:latin typeface="Bahnschrift SemiCondensed" panose="020B0502040204020203" pitchFamily="34" charset="0"/>
                <a:ea typeface="Urbanist"/>
                <a:cs typeface="Urbanist"/>
                <a:sym typeface="Urbanist"/>
              </a:rPr>
              <a:t>Y </a:t>
            </a:r>
            <a:r>
              <a:rPr lang="en-US" sz="1500" b="1" i="0" u="none" strike="noStrike" cap="none" dirty="0" err="1">
                <a:solidFill>
                  <a:srgbClr val="FFFFFF"/>
                </a:solidFill>
                <a:latin typeface="Bahnschrift SemiCondensed" panose="020B0502040204020203" pitchFamily="34" charset="0"/>
                <a:ea typeface="Urbanist"/>
                <a:cs typeface="Urbanist"/>
                <a:sym typeface="Urbanist"/>
              </a:rPr>
              <a:t>tế</a:t>
            </a:r>
            <a:r>
              <a:rPr lang="en-US" sz="1500" b="1" i="0" u="none" strike="noStrike" cap="none" dirty="0">
                <a:solidFill>
                  <a:srgbClr val="FFFFFF"/>
                </a:solidFill>
                <a:latin typeface="Bahnschrift SemiCondensed" panose="020B0502040204020203" pitchFamily="34" charset="0"/>
                <a:ea typeface="Urbanist"/>
                <a:cs typeface="Urbanist"/>
                <a:sym typeface="Urbanist"/>
              </a:rPr>
              <a:t>:</a:t>
            </a:r>
            <a:r>
              <a:rPr lang="en-US" sz="1500" b="0" i="0" u="none" strike="noStrike" cap="none" dirty="0">
                <a:solidFill>
                  <a:srgbClr val="FFFFFF"/>
                </a:solidFill>
                <a:latin typeface="Bahnschrift SemiCondensed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FFFFF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Chẩn</a:t>
            </a:r>
            <a:r>
              <a:rPr lang="en-US" sz="1500" b="0" i="0" u="none" strike="noStrike" cap="none" dirty="0">
                <a:solidFill>
                  <a:srgbClr val="FFFFF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FFFFF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đoán</a:t>
            </a:r>
            <a:r>
              <a:rPr lang="en-US" sz="1500" b="0" i="0" u="none" strike="noStrike" cap="none" dirty="0">
                <a:solidFill>
                  <a:srgbClr val="FFFFF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FFFFF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bệnh</a:t>
            </a:r>
            <a:r>
              <a:rPr lang="en-US" sz="1500" b="0" i="0" u="none" strike="noStrike" cap="none" dirty="0">
                <a:solidFill>
                  <a:srgbClr val="FFFFF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qua </a:t>
            </a:r>
            <a:r>
              <a:rPr lang="en-US" sz="1500" b="0" i="0" u="none" strike="noStrike" cap="none" dirty="0" err="1">
                <a:solidFill>
                  <a:srgbClr val="FFFFF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hình</a:t>
            </a:r>
            <a:r>
              <a:rPr lang="en-US" sz="1500" b="0" i="0" u="none" strike="noStrike" cap="none" dirty="0">
                <a:solidFill>
                  <a:srgbClr val="FFFFF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FFFFF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ảnh</a:t>
            </a:r>
            <a:r>
              <a:rPr lang="en-US" sz="1500" b="0" i="0" u="none" strike="noStrike" cap="none" dirty="0">
                <a:solidFill>
                  <a:srgbClr val="FFFFF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, </a:t>
            </a:r>
            <a:r>
              <a:rPr lang="en-US" sz="1500" b="0" i="0" u="none" strike="noStrike" cap="none" dirty="0" err="1">
                <a:solidFill>
                  <a:srgbClr val="FFFFF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phát</a:t>
            </a:r>
            <a:r>
              <a:rPr lang="en-US" sz="1500" b="0" i="0" u="none" strike="noStrike" cap="none" dirty="0">
                <a:solidFill>
                  <a:srgbClr val="FFFFF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FFFFF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triển</a:t>
            </a:r>
            <a:r>
              <a:rPr lang="en-US" sz="1500" b="0" i="0" u="none" strike="noStrike" cap="none" dirty="0">
                <a:solidFill>
                  <a:srgbClr val="FFFFF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FFFFF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thuốc</a:t>
            </a:r>
            <a:r>
              <a:rPr lang="en-US" sz="1500" b="0" i="0" u="none" strike="noStrike" cap="none" dirty="0">
                <a:solidFill>
                  <a:srgbClr val="FFFFF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.</a:t>
            </a:r>
            <a:endParaRPr dirty="0">
              <a:latin typeface="Bahnschrift SemiLight SemiConde" panose="020B0502040204020203" pitchFamily="34" charset="0"/>
            </a:endParaRPr>
          </a:p>
        </p:txBody>
      </p:sp>
      <p:sp>
        <p:nvSpPr>
          <p:cNvPr id="134" name="Google Shape;134;p16"/>
          <p:cNvSpPr/>
          <p:nvPr/>
        </p:nvSpPr>
        <p:spPr>
          <a:xfrm>
            <a:off x="6191250" y="2724150"/>
            <a:ext cx="38100" cy="6858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Bahnschrift SemiLight SemiConde" panose="020B0502040204020203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/>
          <p:nvPr/>
        </p:nvSpPr>
        <p:spPr>
          <a:xfrm>
            <a:off x="476250" y="3600450"/>
            <a:ext cx="5524500" cy="685800"/>
          </a:xfrm>
          <a:prstGeom prst="roundRect">
            <a:avLst>
              <a:gd name="adj" fmla="val 16666"/>
            </a:avLst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Bahnschrift SemiLight SemiConde" panose="020B0502040204020203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 txBox="1"/>
          <p:nvPr/>
        </p:nvSpPr>
        <p:spPr>
          <a:xfrm>
            <a:off x="1000125" y="3758684"/>
            <a:ext cx="48101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FFFFFF"/>
                </a:solidFill>
                <a:latin typeface="Bahnschrift SemiCondensed" panose="020B0502040204020203" pitchFamily="34" charset="0"/>
                <a:ea typeface="Urbanist"/>
                <a:cs typeface="Urbanist"/>
                <a:sym typeface="Urbanist"/>
              </a:rPr>
              <a:t>Tài</a:t>
            </a:r>
            <a:r>
              <a:rPr lang="en-US" sz="1500" b="1" i="0" u="none" strike="noStrike" cap="none" dirty="0">
                <a:solidFill>
                  <a:srgbClr val="FFFFFF"/>
                </a:solidFill>
                <a:latin typeface="Bahnschrift SemiCondensed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500" b="1" i="0" u="none" strike="noStrike" cap="none" dirty="0" err="1">
                <a:solidFill>
                  <a:srgbClr val="FFFFFF"/>
                </a:solidFill>
                <a:latin typeface="Bahnschrift SemiCondensed" panose="020B0502040204020203" pitchFamily="34" charset="0"/>
                <a:ea typeface="Urbanist"/>
                <a:cs typeface="Urbanist"/>
                <a:sym typeface="Urbanist"/>
              </a:rPr>
              <a:t>chính</a:t>
            </a:r>
            <a:r>
              <a:rPr lang="en-US" sz="1500" b="1" i="0" u="none" strike="noStrike" cap="none" dirty="0">
                <a:solidFill>
                  <a:srgbClr val="FFFFFF"/>
                </a:solidFill>
                <a:latin typeface="Bahnschrift SemiCondensed" panose="020B0502040204020203" pitchFamily="34" charset="0"/>
                <a:ea typeface="Urbanist"/>
                <a:cs typeface="Urbanist"/>
                <a:sym typeface="Urbanist"/>
              </a:rPr>
              <a:t>:</a:t>
            </a:r>
            <a:r>
              <a:rPr lang="en-US" sz="1500" b="0" i="0" u="none" strike="noStrike" cap="none" dirty="0">
                <a:solidFill>
                  <a:srgbClr val="FFFFFF"/>
                </a:solidFill>
                <a:latin typeface="Bahnschrift SemiCondensed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FFFFF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Phát</a:t>
            </a:r>
            <a:r>
              <a:rPr lang="en-US" sz="1500" b="0" i="0" u="none" strike="noStrike" cap="none" dirty="0">
                <a:solidFill>
                  <a:srgbClr val="FFFFF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FFFFF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hiện</a:t>
            </a:r>
            <a:r>
              <a:rPr lang="en-US" sz="1500" b="0" i="0" u="none" strike="noStrike" cap="none" dirty="0">
                <a:solidFill>
                  <a:srgbClr val="FFFFF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FFFFF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gian</a:t>
            </a:r>
            <a:r>
              <a:rPr lang="en-US" sz="1500" b="0" i="0" u="none" strike="noStrike" cap="none" dirty="0">
                <a:solidFill>
                  <a:srgbClr val="FFFFF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FFFFF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lận</a:t>
            </a:r>
            <a:r>
              <a:rPr lang="en-US" sz="1500" b="0" i="0" u="none" strike="noStrike" cap="none" dirty="0">
                <a:solidFill>
                  <a:srgbClr val="FFFFF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, </a:t>
            </a:r>
            <a:r>
              <a:rPr lang="en-US" sz="1500" b="0" i="0" u="none" strike="noStrike" cap="none" dirty="0" err="1">
                <a:solidFill>
                  <a:srgbClr val="FFFFF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dự</a:t>
            </a:r>
            <a:r>
              <a:rPr lang="en-US" sz="1500" b="0" i="0" u="none" strike="noStrike" cap="none" dirty="0">
                <a:solidFill>
                  <a:srgbClr val="FFFFF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FFFFF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báo</a:t>
            </a:r>
            <a:r>
              <a:rPr lang="en-US" sz="1500" b="0" i="0" u="none" strike="noStrike" cap="none" dirty="0">
                <a:solidFill>
                  <a:srgbClr val="FFFFF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FFFFF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thị</a:t>
            </a:r>
            <a:r>
              <a:rPr lang="en-US" sz="1500" b="0" i="0" u="none" strike="noStrike" cap="none" dirty="0">
                <a:solidFill>
                  <a:srgbClr val="FFFFF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FFFFF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trường</a:t>
            </a:r>
            <a:r>
              <a:rPr lang="en-US" sz="1500" b="0" i="0" u="none" strike="noStrike" cap="none" dirty="0">
                <a:solidFill>
                  <a:srgbClr val="FFFFF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.</a:t>
            </a:r>
            <a:endParaRPr dirty="0">
              <a:latin typeface="Bahnschrift SemiLight SemiConde" panose="020B0502040204020203" pitchFamily="34" charset="0"/>
            </a:endParaRPr>
          </a:p>
        </p:txBody>
      </p:sp>
      <p:sp>
        <p:nvSpPr>
          <p:cNvPr id="137" name="Google Shape;137;p16"/>
          <p:cNvSpPr/>
          <p:nvPr/>
        </p:nvSpPr>
        <p:spPr>
          <a:xfrm>
            <a:off x="476250" y="3600450"/>
            <a:ext cx="38100" cy="6858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Bahnschrift SemiLight SemiConde" panose="020B0502040204020203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6191250" y="3600450"/>
            <a:ext cx="5524500" cy="685800"/>
          </a:xfrm>
          <a:prstGeom prst="roundRect">
            <a:avLst>
              <a:gd name="adj" fmla="val 16666"/>
            </a:avLst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Bahnschrift SemiLight SemiConde" panose="020B0502040204020203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 txBox="1"/>
          <p:nvPr/>
        </p:nvSpPr>
        <p:spPr>
          <a:xfrm>
            <a:off x="6743700" y="3758684"/>
            <a:ext cx="47815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FFFFFF"/>
                </a:solidFill>
                <a:latin typeface="Bahnschrift SemiCondensed" panose="020B0502040204020203" pitchFamily="34" charset="0"/>
                <a:ea typeface="Urbanist"/>
                <a:cs typeface="Urbanist"/>
                <a:sym typeface="Urbanist"/>
              </a:rPr>
              <a:t>Sản</a:t>
            </a:r>
            <a:r>
              <a:rPr lang="en-US" sz="1500" b="1" i="0" u="none" strike="noStrike" cap="none" dirty="0">
                <a:solidFill>
                  <a:srgbClr val="FFFFFF"/>
                </a:solidFill>
                <a:latin typeface="Bahnschrift SemiCondensed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500" b="1" i="0" u="none" strike="noStrike" cap="none" dirty="0" err="1">
                <a:solidFill>
                  <a:srgbClr val="FFFFFF"/>
                </a:solidFill>
                <a:latin typeface="Bahnschrift SemiCondensed" panose="020B0502040204020203" pitchFamily="34" charset="0"/>
                <a:ea typeface="Urbanist"/>
                <a:cs typeface="Urbanist"/>
                <a:sym typeface="Urbanist"/>
              </a:rPr>
              <a:t>xuất</a:t>
            </a:r>
            <a:r>
              <a:rPr lang="en-US" sz="1500" b="1" i="0" u="none" strike="noStrike" cap="none" dirty="0">
                <a:solidFill>
                  <a:srgbClr val="FFFFFF"/>
                </a:solidFill>
                <a:latin typeface="Bahnschrift SemiCondensed" panose="020B0502040204020203" pitchFamily="34" charset="0"/>
                <a:ea typeface="Urbanist"/>
                <a:cs typeface="Urbanist"/>
                <a:sym typeface="Urbanist"/>
              </a:rPr>
              <a:t>:</a:t>
            </a:r>
            <a:r>
              <a:rPr lang="en-US" sz="1500" b="0" i="0" u="none" strike="noStrike" cap="none" dirty="0">
                <a:solidFill>
                  <a:srgbClr val="FFFFFF"/>
                </a:solidFill>
                <a:latin typeface="Bahnschrift SemiCondensed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FFFFF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Tối</a:t>
            </a:r>
            <a:r>
              <a:rPr lang="en-US" sz="1500" b="0" i="0" u="none" strike="noStrike" cap="none" dirty="0">
                <a:solidFill>
                  <a:srgbClr val="FFFFF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FFFFF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ưu</a:t>
            </a:r>
            <a:r>
              <a:rPr lang="en-US" sz="1500" b="0" i="0" u="none" strike="noStrike" cap="none" dirty="0">
                <a:solidFill>
                  <a:srgbClr val="FFFFF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FFFFF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hóa</a:t>
            </a:r>
            <a:r>
              <a:rPr lang="en-US" sz="1500" b="0" i="0" u="none" strike="noStrike" cap="none" dirty="0">
                <a:solidFill>
                  <a:srgbClr val="FFFFF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FFFFF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dây</a:t>
            </a:r>
            <a:r>
              <a:rPr lang="en-US" sz="1500" b="0" i="0" u="none" strike="noStrike" cap="none" dirty="0">
                <a:solidFill>
                  <a:srgbClr val="FFFFF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FFFFF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chuyền</a:t>
            </a:r>
            <a:r>
              <a:rPr lang="en-US" sz="1500" b="0" i="0" u="none" strike="noStrike" cap="none" dirty="0">
                <a:solidFill>
                  <a:srgbClr val="FFFFF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, </a:t>
            </a:r>
            <a:r>
              <a:rPr lang="en-US" sz="1500" b="0" i="0" u="none" strike="noStrike" cap="none" dirty="0" err="1">
                <a:solidFill>
                  <a:srgbClr val="FFFFF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bảo</a:t>
            </a:r>
            <a:r>
              <a:rPr lang="en-US" sz="1500" b="0" i="0" u="none" strike="noStrike" cap="none" dirty="0">
                <a:solidFill>
                  <a:srgbClr val="FFFFF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FFFFF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trì</a:t>
            </a:r>
            <a:r>
              <a:rPr lang="en-US" sz="1500" b="0" i="0" u="none" strike="noStrike" cap="none" dirty="0">
                <a:solidFill>
                  <a:srgbClr val="FFFFF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FFFFF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dự</a:t>
            </a:r>
            <a:r>
              <a:rPr lang="en-US" sz="1500" b="0" i="0" u="none" strike="noStrike" cap="none" dirty="0">
                <a:solidFill>
                  <a:srgbClr val="FFFFF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FFFFF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đoán</a:t>
            </a:r>
            <a:r>
              <a:rPr lang="en-US" sz="1500" b="0" i="0" u="none" strike="noStrike" cap="none" dirty="0">
                <a:solidFill>
                  <a:srgbClr val="FFFFF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.</a:t>
            </a:r>
            <a:endParaRPr dirty="0">
              <a:latin typeface="Bahnschrift SemiLight SemiConde" panose="020B0502040204020203" pitchFamily="34" charset="0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6191250" y="3600450"/>
            <a:ext cx="38100" cy="6858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Bahnschrift SemiLight SemiConde" panose="020B0502040204020203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/>
          <p:nvPr/>
        </p:nvSpPr>
        <p:spPr>
          <a:xfrm>
            <a:off x="476250" y="4476750"/>
            <a:ext cx="5524500" cy="685800"/>
          </a:xfrm>
          <a:prstGeom prst="roundRect">
            <a:avLst>
              <a:gd name="adj" fmla="val 16666"/>
            </a:avLst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Bahnschrift SemiLight SemiConde" panose="020B0502040204020203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 txBox="1"/>
          <p:nvPr/>
        </p:nvSpPr>
        <p:spPr>
          <a:xfrm>
            <a:off x="1000125" y="4634984"/>
            <a:ext cx="48101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FFFFF"/>
                </a:solidFill>
                <a:latin typeface="Bahnschrift SemiCondensed" panose="020B0502040204020203" pitchFamily="34" charset="0"/>
                <a:ea typeface="Urbanist"/>
                <a:cs typeface="Urbanist"/>
                <a:sym typeface="Urbanist"/>
              </a:rPr>
              <a:t>Giao </a:t>
            </a:r>
            <a:r>
              <a:rPr lang="en-US" sz="1500" b="1" i="0" u="none" strike="noStrike" cap="none" dirty="0" err="1">
                <a:solidFill>
                  <a:srgbClr val="FFFFFF"/>
                </a:solidFill>
                <a:latin typeface="Bahnschrift SemiCondensed" panose="020B0502040204020203" pitchFamily="34" charset="0"/>
                <a:ea typeface="Urbanist"/>
                <a:cs typeface="Urbanist"/>
                <a:sym typeface="Urbanist"/>
              </a:rPr>
              <a:t>thông</a:t>
            </a:r>
            <a:r>
              <a:rPr lang="en-US" sz="1500" b="1" i="0" u="none" strike="noStrike" cap="none" dirty="0">
                <a:solidFill>
                  <a:srgbClr val="FFFFFF"/>
                </a:solidFill>
                <a:latin typeface="Bahnschrift SemiCondensed" panose="020B0502040204020203" pitchFamily="34" charset="0"/>
                <a:ea typeface="Urbanist"/>
                <a:cs typeface="Urbanist"/>
                <a:sym typeface="Urbanist"/>
              </a:rPr>
              <a:t>:</a:t>
            </a:r>
            <a:r>
              <a:rPr lang="en-US" sz="1500" b="0" i="0" u="none" strike="noStrike" cap="none" dirty="0">
                <a:solidFill>
                  <a:srgbClr val="FFFFFF"/>
                </a:solidFill>
                <a:latin typeface="Bahnschrift SemiCondensed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>
                <a:solidFill>
                  <a:srgbClr val="FFFFF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Xe </a:t>
            </a:r>
            <a:r>
              <a:rPr lang="en-US" sz="1500" b="0" i="0" u="none" strike="noStrike" cap="none" dirty="0" err="1">
                <a:solidFill>
                  <a:srgbClr val="FFFFF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tự</a:t>
            </a:r>
            <a:r>
              <a:rPr lang="en-US" sz="1500" b="0" i="0" u="none" strike="noStrike" cap="none" dirty="0">
                <a:solidFill>
                  <a:srgbClr val="FFFFF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FFFFF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lái</a:t>
            </a:r>
            <a:r>
              <a:rPr lang="en-US" sz="1500" b="0" i="0" u="none" strike="noStrike" cap="none" dirty="0">
                <a:solidFill>
                  <a:srgbClr val="FFFFF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, </a:t>
            </a:r>
            <a:r>
              <a:rPr lang="en-US" sz="1500" b="0" i="0" u="none" strike="noStrike" cap="none" dirty="0" err="1">
                <a:solidFill>
                  <a:srgbClr val="FFFFF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điều</a:t>
            </a:r>
            <a:r>
              <a:rPr lang="en-US" sz="1500" b="0" i="0" u="none" strike="noStrike" cap="none" dirty="0">
                <a:solidFill>
                  <a:srgbClr val="FFFFF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FFFFF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tiết</a:t>
            </a:r>
            <a:r>
              <a:rPr lang="en-US" sz="1500" b="0" i="0" u="none" strike="noStrike" cap="none" dirty="0">
                <a:solidFill>
                  <a:srgbClr val="FFFFF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FFFFF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đèn</a:t>
            </a:r>
            <a:r>
              <a:rPr lang="en-US" sz="1500" b="0" i="0" u="none" strike="noStrike" cap="none" dirty="0">
                <a:solidFill>
                  <a:srgbClr val="FFFFF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FFFFF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giao</a:t>
            </a:r>
            <a:r>
              <a:rPr lang="en-US" sz="1500" b="0" i="0" u="none" strike="noStrike" cap="none" dirty="0">
                <a:solidFill>
                  <a:srgbClr val="FFFFF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FFFFF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thông</a:t>
            </a:r>
            <a:r>
              <a:rPr lang="en-US" sz="1500" b="0" i="0" u="none" strike="noStrike" cap="none" dirty="0">
                <a:solidFill>
                  <a:srgbClr val="FFFFF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.</a:t>
            </a:r>
            <a:endParaRPr dirty="0">
              <a:latin typeface="Bahnschrift SemiLight SemiConde" panose="020B0502040204020203" pitchFamily="34" charset="0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476250" y="4476750"/>
            <a:ext cx="38100" cy="6858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Bahnschrift SemiLight SemiConde" panose="020B0502040204020203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6191250" y="4476750"/>
            <a:ext cx="5524500" cy="685800"/>
          </a:xfrm>
          <a:prstGeom prst="roundRect">
            <a:avLst>
              <a:gd name="adj" fmla="val 16666"/>
            </a:avLst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Bahnschrift SemiLight SemiConde" panose="020B0502040204020203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 txBox="1"/>
          <p:nvPr/>
        </p:nvSpPr>
        <p:spPr>
          <a:xfrm>
            <a:off x="6743700" y="4634984"/>
            <a:ext cx="47815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FFFFFF"/>
                </a:solidFill>
                <a:latin typeface="Bahnschrift SemiCondensed" panose="020B0502040204020203" pitchFamily="34" charset="0"/>
                <a:ea typeface="Urbanist"/>
                <a:cs typeface="Urbanist"/>
                <a:sym typeface="Urbanist"/>
              </a:rPr>
              <a:t>Xây</a:t>
            </a:r>
            <a:r>
              <a:rPr lang="en-US" sz="1500" b="1" i="0" u="none" strike="noStrike" cap="none" dirty="0">
                <a:solidFill>
                  <a:srgbClr val="FFFFFF"/>
                </a:solidFill>
                <a:latin typeface="Bahnschrift SemiCondensed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500" b="1" i="0" u="none" strike="noStrike" cap="none" dirty="0" err="1">
                <a:solidFill>
                  <a:srgbClr val="FFFFFF"/>
                </a:solidFill>
                <a:latin typeface="Bahnschrift SemiCondensed" panose="020B0502040204020203" pitchFamily="34" charset="0"/>
                <a:ea typeface="Urbanist"/>
                <a:cs typeface="Urbanist"/>
                <a:sym typeface="Urbanist"/>
              </a:rPr>
              <a:t>dựng</a:t>
            </a:r>
            <a:r>
              <a:rPr lang="en-US" sz="1500" b="1" i="0" u="none" strike="noStrike" cap="none" dirty="0">
                <a:solidFill>
                  <a:srgbClr val="FFFFFF"/>
                </a:solidFill>
                <a:latin typeface="Bahnschrift SemiCondensed" panose="020B0502040204020203" pitchFamily="34" charset="0"/>
                <a:ea typeface="Urbanist"/>
                <a:cs typeface="Urbanist"/>
                <a:sym typeface="Urbanist"/>
              </a:rPr>
              <a:t>:</a:t>
            </a:r>
            <a:r>
              <a:rPr lang="en-US" sz="1500" b="0" i="0" u="none" strike="noStrike" cap="none" dirty="0">
                <a:solidFill>
                  <a:srgbClr val="FFFFFF"/>
                </a:solidFill>
                <a:latin typeface="Bahnschrift SemiCondensed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FFFFF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Thiết</a:t>
            </a:r>
            <a:r>
              <a:rPr lang="en-US" sz="1500" b="0" i="0" u="none" strike="noStrike" cap="none" dirty="0">
                <a:solidFill>
                  <a:srgbClr val="FFFFF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FFFFF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kế</a:t>
            </a:r>
            <a:r>
              <a:rPr lang="en-US" sz="1500" b="0" i="0" u="none" strike="noStrike" cap="none" dirty="0">
                <a:solidFill>
                  <a:srgbClr val="FFFFF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FFFFF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kiến</a:t>
            </a:r>
            <a:r>
              <a:rPr lang="en-US" sz="1500" b="0" i="0" u="none" strike="noStrike" cap="none" dirty="0">
                <a:solidFill>
                  <a:srgbClr val="FFFFF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FFFFF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trúc</a:t>
            </a:r>
            <a:r>
              <a:rPr lang="en-US" sz="1500" b="0" i="0" u="none" strike="noStrike" cap="none" dirty="0">
                <a:solidFill>
                  <a:srgbClr val="FFFFF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FFFFF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tối</a:t>
            </a:r>
            <a:r>
              <a:rPr lang="en-US" sz="1500" b="0" i="0" u="none" strike="noStrike" cap="none" dirty="0">
                <a:solidFill>
                  <a:srgbClr val="FFFFF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FFFFF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ưu</a:t>
            </a:r>
            <a:r>
              <a:rPr lang="en-US" sz="1500" b="0" i="0" u="none" strike="noStrike" cap="none" dirty="0">
                <a:solidFill>
                  <a:srgbClr val="FFFFF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, </a:t>
            </a:r>
            <a:r>
              <a:rPr lang="en-US" sz="1500" b="0" i="0" u="none" strike="noStrike" cap="none" dirty="0" err="1">
                <a:solidFill>
                  <a:srgbClr val="FFFFF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giám</a:t>
            </a:r>
            <a:r>
              <a:rPr lang="en-US" sz="1500" b="0" i="0" u="none" strike="noStrike" cap="none" dirty="0">
                <a:solidFill>
                  <a:srgbClr val="FFFFF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FFFFF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sát</a:t>
            </a:r>
            <a:r>
              <a:rPr lang="en-US" sz="1500" b="0" i="0" u="none" strike="noStrike" cap="none" dirty="0">
                <a:solidFill>
                  <a:srgbClr val="FFFFF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an </a:t>
            </a:r>
            <a:r>
              <a:rPr lang="en-US" sz="1500" b="0" i="0" u="none" strike="noStrike" cap="none" dirty="0" err="1">
                <a:solidFill>
                  <a:srgbClr val="FFFFF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toàn</a:t>
            </a:r>
            <a:r>
              <a:rPr lang="en-US" sz="1500" b="0" i="0" u="none" strike="noStrike" cap="none" dirty="0">
                <a:solidFill>
                  <a:srgbClr val="FFFFF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.</a:t>
            </a:r>
            <a:endParaRPr dirty="0">
              <a:latin typeface="Bahnschrift SemiLight SemiConde" panose="020B0502040204020203" pitchFamily="34" charset="0"/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6191250" y="4476750"/>
            <a:ext cx="38100" cy="6858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Bahnschrift SemiLight SemiConde" panose="020B0502040204020203" pitchFamily="34" charset="0"/>
              <a:ea typeface="Calibri"/>
              <a:cs typeface="Calibri"/>
              <a:sym typeface="Calibri"/>
            </a:endParaRPr>
          </a:p>
        </p:txBody>
      </p:sp>
      <p:pic>
        <p:nvPicPr>
          <p:cNvPr id="147" name="Google Shape;147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4850" y="2967037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19850" y="296703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04850" y="384333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19850" y="3843337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04850" y="471963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419850" y="4719637"/>
            <a:ext cx="21907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6"/>
          <p:cNvSpPr txBox="1"/>
          <p:nvPr/>
        </p:nvSpPr>
        <p:spPr>
          <a:xfrm>
            <a:off x="238125" y="390525"/>
            <a:ext cx="117157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 err="1">
                <a:solidFill>
                  <a:srgbClr val="DEFF9A"/>
                </a:solidFill>
                <a:latin typeface="Bahnschrift SemiCondensed" panose="020B0502040204020203" pitchFamily="34" charset="0"/>
                <a:ea typeface="Urbanist SemiBold"/>
                <a:cs typeface="Urbanist SemiBold"/>
                <a:sym typeface="Urbanist SemiBold"/>
              </a:rPr>
              <a:t>Ứng</a:t>
            </a:r>
            <a:r>
              <a:rPr lang="en-US" sz="3600" b="0" i="0" u="none" strike="noStrike" cap="none" dirty="0">
                <a:solidFill>
                  <a:srgbClr val="DEFF9A"/>
                </a:solidFill>
                <a:latin typeface="Bahnschrift SemiCondensed" panose="020B0502040204020203" pitchFamily="34" charset="0"/>
                <a:ea typeface="Urbanist SemiBold"/>
                <a:cs typeface="Urbanist SemiBold"/>
                <a:sym typeface="Urbanist SemiBold"/>
              </a:rPr>
              <a:t> </a:t>
            </a:r>
            <a:r>
              <a:rPr lang="en-US" sz="3600" b="0" i="0" u="none" strike="noStrike" cap="none" dirty="0" err="1">
                <a:solidFill>
                  <a:srgbClr val="DEFF9A"/>
                </a:solidFill>
                <a:latin typeface="Bahnschrift SemiCondensed" panose="020B0502040204020203" pitchFamily="34" charset="0"/>
                <a:ea typeface="Urbanist SemiBold"/>
                <a:cs typeface="Urbanist SemiBold"/>
                <a:sym typeface="Urbanist SemiBold"/>
              </a:rPr>
              <a:t>Dụng</a:t>
            </a:r>
            <a:r>
              <a:rPr lang="en-US" sz="3600" b="0" i="0" u="none" strike="noStrike" cap="none" dirty="0">
                <a:solidFill>
                  <a:srgbClr val="DEFF9A"/>
                </a:solidFill>
                <a:latin typeface="Bahnschrift SemiCondensed" panose="020B0502040204020203" pitchFamily="34" charset="0"/>
                <a:ea typeface="Urbanist SemiBold"/>
                <a:cs typeface="Urbanist SemiBold"/>
                <a:sym typeface="Urbanist SemiBold"/>
              </a:rPr>
              <a:t> </a:t>
            </a:r>
            <a:r>
              <a:rPr lang="en-US" sz="3600" b="0" i="0" u="none" strike="noStrike" cap="none" dirty="0" err="1">
                <a:solidFill>
                  <a:srgbClr val="DEFF9A"/>
                </a:solidFill>
                <a:latin typeface="Bahnschrift SemiCondensed" panose="020B0502040204020203" pitchFamily="34" charset="0"/>
                <a:ea typeface="Urbanist SemiBold"/>
                <a:cs typeface="Urbanist SemiBold"/>
                <a:sym typeface="Urbanist SemiBold"/>
              </a:rPr>
              <a:t>Thực</a:t>
            </a:r>
            <a:r>
              <a:rPr lang="en-US" sz="3600" b="0" i="0" u="none" strike="noStrike" cap="none" dirty="0">
                <a:solidFill>
                  <a:srgbClr val="DEFF9A"/>
                </a:solidFill>
                <a:latin typeface="Bahnschrift SemiCondensed" panose="020B0502040204020203" pitchFamily="34" charset="0"/>
                <a:ea typeface="Urbanist SemiBold"/>
                <a:cs typeface="Urbanist SemiBold"/>
                <a:sym typeface="Urbanist SemiBold"/>
              </a:rPr>
              <a:t> </a:t>
            </a:r>
            <a:r>
              <a:rPr lang="en-US" sz="3600" b="0" i="0" u="none" strike="noStrike" cap="none" dirty="0" err="1">
                <a:solidFill>
                  <a:srgbClr val="DEFF9A"/>
                </a:solidFill>
                <a:latin typeface="Bahnschrift SemiCondensed" panose="020B0502040204020203" pitchFamily="34" charset="0"/>
                <a:ea typeface="Urbanist SemiBold"/>
                <a:cs typeface="Urbanist SemiBold"/>
                <a:sym typeface="Urbanist SemiBold"/>
              </a:rPr>
              <a:t>Tế</a:t>
            </a:r>
            <a:endParaRPr dirty="0">
              <a:latin typeface="Bahnschrift SemiCondensed" panose="020B0502040204020203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1FDDE4F-2309-48FA-B35C-BBB2CD3E980E}"/>
              </a:ext>
            </a:extLst>
          </p:cNvPr>
          <p:cNvSpPr/>
          <p:nvPr/>
        </p:nvSpPr>
        <p:spPr>
          <a:xfrm>
            <a:off x="3405186" y="4126706"/>
            <a:ext cx="5381627" cy="2343151"/>
          </a:xfrm>
          <a:prstGeom prst="roundRect">
            <a:avLst>
              <a:gd name="adj" fmla="val 7364"/>
            </a:avLst>
          </a:prstGeom>
          <a:solidFill>
            <a:srgbClr val="1A1A1A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5A7E649-D2D8-467A-AC74-51ECDF313D4C}"/>
              </a:ext>
            </a:extLst>
          </p:cNvPr>
          <p:cNvSpPr/>
          <p:nvPr/>
        </p:nvSpPr>
        <p:spPr>
          <a:xfrm>
            <a:off x="3405186" y="1469230"/>
            <a:ext cx="5381627" cy="2343151"/>
          </a:xfrm>
          <a:prstGeom prst="roundRect">
            <a:avLst>
              <a:gd name="adj" fmla="val 7364"/>
            </a:avLst>
          </a:prstGeom>
          <a:solidFill>
            <a:srgbClr val="1A1A1A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Google Shape;161;p17"/>
          <p:cNvSpPr txBox="1"/>
          <p:nvPr/>
        </p:nvSpPr>
        <p:spPr>
          <a:xfrm>
            <a:off x="3700463" y="1764506"/>
            <a:ext cx="5030628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381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DEFF9A"/>
                </a:solidFill>
                <a:latin typeface="Bahnschrift SemiLight SemiConde" panose="020B0502040204020203" pitchFamily="34" charset="0"/>
                <a:ea typeface="Urbanist SemiBold"/>
                <a:cs typeface="Urbanist SemiBold"/>
                <a:sym typeface="Urbanist SemiBold"/>
              </a:rPr>
              <a:t> </a:t>
            </a:r>
            <a:r>
              <a:rPr lang="en-US" sz="2100" b="0" i="0" u="none" strike="noStrike" cap="none" dirty="0" err="1">
                <a:solidFill>
                  <a:srgbClr val="DEFF9A"/>
                </a:solidFill>
                <a:latin typeface="Bahnschrift SemiLight SemiConde" panose="020B0502040204020203" pitchFamily="34" charset="0"/>
                <a:ea typeface="Urbanist SemiBold"/>
                <a:cs typeface="Urbanist SemiBold"/>
                <a:sym typeface="Urbanist SemiBold"/>
              </a:rPr>
              <a:t>Khái</a:t>
            </a:r>
            <a:r>
              <a:rPr lang="en-US" sz="2100" b="0" i="0" u="none" strike="noStrike" cap="none" dirty="0">
                <a:solidFill>
                  <a:srgbClr val="DEFF9A"/>
                </a:solidFill>
                <a:latin typeface="Bahnschrift SemiLight SemiConde" panose="020B0502040204020203" pitchFamily="34" charset="0"/>
                <a:ea typeface="Urbanist SemiBold"/>
                <a:cs typeface="Urbanist SemiBold"/>
                <a:sym typeface="Urbanist SemiBold"/>
              </a:rPr>
              <a:t> </a:t>
            </a:r>
            <a:r>
              <a:rPr lang="en-US" sz="2100" b="0" i="0" u="none" strike="noStrike" cap="none" dirty="0" err="1">
                <a:solidFill>
                  <a:srgbClr val="DEFF9A"/>
                </a:solidFill>
                <a:latin typeface="Bahnschrift SemiLight SemiConde" panose="020B0502040204020203" pitchFamily="34" charset="0"/>
                <a:ea typeface="Urbanist SemiBold"/>
                <a:cs typeface="Urbanist SemiBold"/>
                <a:sym typeface="Urbanist SemiBold"/>
              </a:rPr>
              <a:t>Niệm</a:t>
            </a:r>
            <a:endParaRPr dirty="0">
              <a:latin typeface="Bahnschrift SemiLight SemiConde" panose="020B0502040204020203" pitchFamily="34" charset="0"/>
            </a:endParaRPr>
          </a:p>
        </p:txBody>
      </p:sp>
      <p:sp>
        <p:nvSpPr>
          <p:cNvPr id="162" name="Google Shape;162;p17"/>
          <p:cNvSpPr txBox="1"/>
          <p:nvPr/>
        </p:nvSpPr>
        <p:spPr>
          <a:xfrm>
            <a:off x="3700463" y="2402681"/>
            <a:ext cx="4791075" cy="118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60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Dữ liệu là tập hợp các sự kiện, nhận định, quan sát (hình ảnh, âm thanh, văn bản...) được thu thập để xử lý và ra quyết định.</a:t>
            </a:r>
            <a:endParaRPr lang="vi-VN" sz="1600" dirty="0">
              <a:latin typeface="Bahnschrift SemiLight SemiConde" panose="020B0502040204020203" pitchFamily="34" charset="0"/>
            </a:endParaRPr>
          </a:p>
        </p:txBody>
      </p:sp>
      <p:sp>
        <p:nvSpPr>
          <p:cNvPr id="163" name="Google Shape;163;p17"/>
          <p:cNvSpPr txBox="1"/>
          <p:nvPr/>
        </p:nvSpPr>
        <p:spPr>
          <a:xfrm>
            <a:off x="3756185" y="4421983"/>
            <a:ext cx="5030628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DEFF9A"/>
                </a:solidFill>
                <a:latin typeface="Bahnschrift SemiLight SemiConde" panose="020B0502040204020203" pitchFamily="34" charset="0"/>
                <a:ea typeface="Urbanist SemiBold"/>
                <a:cs typeface="Urbanist SemiBold"/>
                <a:sym typeface="Urbanist SemiBold"/>
              </a:rPr>
              <a:t> </a:t>
            </a:r>
            <a:r>
              <a:rPr lang="en-US" sz="2100" b="0" i="0" u="none" strike="noStrike" cap="none" dirty="0" err="1">
                <a:solidFill>
                  <a:srgbClr val="DEFF9A"/>
                </a:solidFill>
                <a:latin typeface="Bahnschrift SemiLight SemiConde" panose="020B0502040204020203" pitchFamily="34" charset="0"/>
                <a:ea typeface="Urbanist SemiBold"/>
                <a:cs typeface="Urbanist SemiBold"/>
                <a:sym typeface="Urbanist SemiBold"/>
              </a:rPr>
              <a:t>Nhiên</a:t>
            </a:r>
            <a:r>
              <a:rPr lang="en-US" sz="2100" b="0" i="0" u="none" strike="noStrike" cap="none" dirty="0">
                <a:solidFill>
                  <a:srgbClr val="DEFF9A"/>
                </a:solidFill>
                <a:latin typeface="Bahnschrift SemiLight SemiConde" panose="020B0502040204020203" pitchFamily="34" charset="0"/>
                <a:ea typeface="Urbanist SemiBold"/>
                <a:cs typeface="Urbanist SemiBold"/>
                <a:sym typeface="Urbanist SemiBold"/>
              </a:rPr>
              <a:t> </a:t>
            </a:r>
            <a:r>
              <a:rPr lang="en-US" sz="2100" b="0" i="0" u="none" strike="noStrike" cap="none" dirty="0" err="1">
                <a:solidFill>
                  <a:srgbClr val="DEFF9A"/>
                </a:solidFill>
                <a:latin typeface="Bahnschrift SemiLight SemiConde" panose="020B0502040204020203" pitchFamily="34" charset="0"/>
                <a:ea typeface="Urbanist SemiBold"/>
                <a:cs typeface="Urbanist SemiBold"/>
                <a:sym typeface="Urbanist SemiBold"/>
              </a:rPr>
              <a:t>Liệu</a:t>
            </a:r>
            <a:r>
              <a:rPr lang="en-US" sz="2100" b="0" i="0" u="none" strike="noStrike" cap="none" dirty="0">
                <a:solidFill>
                  <a:srgbClr val="DEFF9A"/>
                </a:solidFill>
                <a:latin typeface="Bahnschrift SemiLight SemiConde" panose="020B0502040204020203" pitchFamily="34" charset="0"/>
                <a:ea typeface="Urbanist SemiBold"/>
                <a:cs typeface="Urbanist SemiBold"/>
                <a:sym typeface="Urbanist SemiBold"/>
              </a:rPr>
              <a:t> Cho AI</a:t>
            </a:r>
            <a:endParaRPr dirty="0">
              <a:latin typeface="Bahnschrift SemiLight SemiConde" panose="020B0502040204020203" pitchFamily="34" charset="0"/>
            </a:endParaRPr>
          </a:p>
        </p:txBody>
      </p:sp>
      <p:sp>
        <p:nvSpPr>
          <p:cNvPr id="164" name="Google Shape;164;p17"/>
          <p:cNvSpPr txBox="1"/>
          <p:nvPr/>
        </p:nvSpPr>
        <p:spPr>
          <a:xfrm>
            <a:off x="3756185" y="5060158"/>
            <a:ext cx="4791075" cy="118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Dữ</a:t>
            </a:r>
            <a:r>
              <a:rPr lang="en-US" sz="160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60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liệu</a:t>
            </a:r>
            <a:r>
              <a:rPr lang="en-US" sz="160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60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là</a:t>
            </a:r>
            <a:r>
              <a:rPr lang="en-US" sz="160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"</a:t>
            </a:r>
            <a:r>
              <a:rPr lang="en-US" sz="160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thức</a:t>
            </a:r>
            <a:r>
              <a:rPr lang="en-US" sz="160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60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ăn</a:t>
            </a:r>
            <a:r>
              <a:rPr lang="en-US" sz="160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" </a:t>
            </a:r>
            <a:r>
              <a:rPr lang="en-US" sz="160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nuôi</a:t>
            </a:r>
            <a:r>
              <a:rPr lang="en-US" sz="160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60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sống</a:t>
            </a:r>
            <a:r>
              <a:rPr lang="en-US" sz="160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60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thuật</a:t>
            </a:r>
            <a:r>
              <a:rPr lang="en-US" sz="160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60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toán</a:t>
            </a:r>
            <a:r>
              <a:rPr lang="en-US" sz="160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. </a:t>
            </a:r>
            <a:r>
              <a:rPr lang="en-US" sz="160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Chất</a:t>
            </a:r>
            <a:r>
              <a:rPr lang="en-US" sz="160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60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lượng</a:t>
            </a:r>
            <a:r>
              <a:rPr lang="en-US" sz="160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60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và</a:t>
            </a:r>
            <a:r>
              <a:rPr lang="en-US" sz="160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60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loại</a:t>
            </a:r>
            <a:r>
              <a:rPr lang="en-US" sz="160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60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dữ</a:t>
            </a:r>
            <a:r>
              <a:rPr lang="en-US" sz="160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60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liệu</a:t>
            </a:r>
            <a:r>
              <a:rPr lang="en-US" sz="160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60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đầu</a:t>
            </a:r>
            <a:r>
              <a:rPr lang="en-US" sz="160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60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vào</a:t>
            </a:r>
            <a:r>
              <a:rPr lang="en-US" sz="160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60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quyết</a:t>
            </a:r>
            <a:r>
              <a:rPr lang="en-US" sz="160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60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định</a:t>
            </a:r>
            <a:r>
              <a:rPr lang="en-US" sz="160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60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trực</a:t>
            </a:r>
            <a:r>
              <a:rPr lang="en-US" sz="160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60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tiếp</a:t>
            </a:r>
            <a:r>
              <a:rPr lang="en-US" sz="160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60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đến</a:t>
            </a:r>
            <a:r>
              <a:rPr lang="en-US" sz="160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60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góc</a:t>
            </a:r>
            <a:r>
              <a:rPr lang="en-US" sz="160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60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nhìn</a:t>
            </a:r>
            <a:r>
              <a:rPr lang="en-US" sz="160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60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và</a:t>
            </a:r>
            <a:r>
              <a:rPr lang="en-US" sz="160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60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độ</a:t>
            </a:r>
            <a:r>
              <a:rPr lang="en-US" sz="160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60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chính</a:t>
            </a:r>
            <a:r>
              <a:rPr lang="en-US" sz="160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60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xác</a:t>
            </a:r>
            <a:r>
              <a:rPr lang="en-US" sz="160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60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của</a:t>
            </a:r>
            <a:r>
              <a:rPr lang="en-US" sz="160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60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mô</a:t>
            </a:r>
            <a:r>
              <a:rPr lang="en-US" sz="160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60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hình</a:t>
            </a:r>
            <a:r>
              <a:rPr lang="en-US" sz="160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AI.</a:t>
            </a:r>
            <a:endParaRPr sz="1800" dirty="0">
              <a:latin typeface="Bahnschrift SemiLight SemiConde" panose="020B0502040204020203" pitchFamily="34" charset="0"/>
            </a:endParaRPr>
          </a:p>
        </p:txBody>
      </p:sp>
      <p:pic>
        <p:nvPicPr>
          <p:cNvPr id="165" name="Google Shape;165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00463" y="1793081"/>
            <a:ext cx="2381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756185" y="4450558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7"/>
          <p:cNvSpPr txBox="1"/>
          <p:nvPr/>
        </p:nvSpPr>
        <p:spPr>
          <a:xfrm>
            <a:off x="476250" y="381000"/>
            <a:ext cx="117157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 err="1">
                <a:solidFill>
                  <a:srgbClr val="DEFF9A"/>
                </a:solidFill>
                <a:latin typeface="Bahnschrift SemiCondensed" panose="020B0502040204020203" pitchFamily="34" charset="0"/>
                <a:ea typeface="Urbanist SemiBold"/>
                <a:cs typeface="Urbanist SemiBold"/>
                <a:sym typeface="Urbanist SemiBold"/>
              </a:rPr>
              <a:t>Dữ</a:t>
            </a:r>
            <a:r>
              <a:rPr lang="en-US" sz="3600" b="0" i="0" u="none" strike="noStrike" cap="none" dirty="0">
                <a:solidFill>
                  <a:srgbClr val="DEFF9A"/>
                </a:solidFill>
                <a:latin typeface="Bahnschrift SemiCondensed" panose="020B0502040204020203" pitchFamily="34" charset="0"/>
                <a:ea typeface="Urbanist SemiBold"/>
                <a:cs typeface="Urbanist SemiBold"/>
                <a:sym typeface="Urbanist SemiBold"/>
              </a:rPr>
              <a:t> </a:t>
            </a:r>
            <a:r>
              <a:rPr lang="en-US" sz="3600" b="0" i="0" u="none" strike="noStrike" cap="none" dirty="0" err="1">
                <a:solidFill>
                  <a:srgbClr val="DEFF9A"/>
                </a:solidFill>
                <a:latin typeface="Bahnschrift SemiCondensed" panose="020B0502040204020203" pitchFamily="34" charset="0"/>
                <a:ea typeface="Urbanist SemiBold"/>
                <a:cs typeface="Urbanist SemiBold"/>
                <a:sym typeface="Urbanist SemiBold"/>
              </a:rPr>
              <a:t>Liệu</a:t>
            </a:r>
            <a:r>
              <a:rPr lang="en-US" sz="3600" b="0" i="0" u="none" strike="noStrike" cap="none" dirty="0">
                <a:solidFill>
                  <a:srgbClr val="DEFF9A"/>
                </a:solidFill>
                <a:latin typeface="Bahnschrift SemiCondensed" panose="020B0502040204020203" pitchFamily="34" charset="0"/>
                <a:ea typeface="Urbanist SemiBold"/>
                <a:cs typeface="Urbanist SemiBold"/>
                <a:sym typeface="Urbanist SemiBold"/>
              </a:rPr>
              <a:t> (Data)</a:t>
            </a:r>
            <a:endParaRPr dirty="0">
              <a:latin typeface="Bahnschrift SemiCondensed" panose="020B0502040204020203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8"/>
          <p:cNvSpPr txBox="1"/>
          <p:nvPr/>
        </p:nvSpPr>
        <p:spPr>
          <a:xfrm>
            <a:off x="3560683" y="1845830"/>
            <a:ext cx="5070633" cy="1466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0" i="0" u="none" strike="noStrike" cap="none" dirty="0">
                <a:solidFill>
                  <a:srgbClr val="DEFF9A"/>
                </a:solidFill>
                <a:latin typeface="Bahnschrift SemiCondensed" panose="020B0502040204020203" pitchFamily="34" charset="0"/>
                <a:ea typeface="Urbanist SemiBold"/>
                <a:cs typeface="Urbanist SemiBold"/>
                <a:sym typeface="Urbanist SemiBold"/>
              </a:rPr>
              <a:t>3 </a:t>
            </a:r>
            <a:r>
              <a:rPr lang="en-US" sz="4800" b="0" i="0" u="none" strike="noStrike" cap="none" dirty="0" err="1">
                <a:solidFill>
                  <a:srgbClr val="DEFF9A"/>
                </a:solidFill>
                <a:latin typeface="Bahnschrift SemiCondensed" panose="020B0502040204020203" pitchFamily="34" charset="0"/>
                <a:ea typeface="Urbanist SemiBold"/>
                <a:cs typeface="Urbanist SemiBold"/>
                <a:sym typeface="Urbanist SemiBold"/>
              </a:rPr>
              <a:t>Loại</a:t>
            </a:r>
            <a:r>
              <a:rPr lang="en-US" sz="4800" b="0" i="0" u="none" strike="noStrike" cap="none" dirty="0">
                <a:solidFill>
                  <a:srgbClr val="DEFF9A"/>
                </a:solidFill>
                <a:latin typeface="Bahnschrift SemiCondensed" panose="020B0502040204020203" pitchFamily="34" charset="0"/>
                <a:ea typeface="Urbanist SemiBold"/>
                <a:cs typeface="Urbanist SemiBold"/>
                <a:sym typeface="Urbanist SemiBold"/>
              </a:rPr>
              <a:t> </a:t>
            </a:r>
            <a:r>
              <a:rPr lang="en-US" sz="4800" b="0" i="0" u="none" strike="noStrike" cap="none" dirty="0" err="1">
                <a:solidFill>
                  <a:srgbClr val="DEFF9A"/>
                </a:solidFill>
                <a:latin typeface="Bahnschrift SemiCondensed" panose="020B0502040204020203" pitchFamily="34" charset="0"/>
                <a:ea typeface="Urbanist SemiBold"/>
                <a:cs typeface="Urbanist SemiBold"/>
                <a:sym typeface="Urbanist SemiBold"/>
              </a:rPr>
              <a:t>Bài</a:t>
            </a:r>
            <a:r>
              <a:rPr lang="en-US" sz="4800" b="0" i="0" u="none" strike="noStrike" cap="none" dirty="0">
                <a:solidFill>
                  <a:srgbClr val="DEFF9A"/>
                </a:solidFill>
                <a:latin typeface="Bahnschrift SemiCondensed" panose="020B0502040204020203" pitchFamily="34" charset="0"/>
                <a:ea typeface="Urbanist SemiBold"/>
                <a:cs typeface="Urbanist SemiBold"/>
                <a:sym typeface="Urbanist SemiBold"/>
              </a:rPr>
              <a:t> </a:t>
            </a:r>
            <a:r>
              <a:rPr lang="en-US" sz="4800" b="0" i="0" u="none" strike="noStrike" cap="none" dirty="0" err="1">
                <a:solidFill>
                  <a:srgbClr val="DEFF9A"/>
                </a:solidFill>
                <a:latin typeface="Bahnschrift SemiCondensed" panose="020B0502040204020203" pitchFamily="34" charset="0"/>
                <a:ea typeface="Urbanist SemiBold"/>
                <a:cs typeface="Urbanist SemiBold"/>
                <a:sym typeface="Urbanist SemiBold"/>
              </a:rPr>
              <a:t>Toán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Bahnschrift SemiCondensed" panose="020B0502040204020203" pitchFamily="34" charset="0"/>
                <a:ea typeface="Calibri"/>
                <a:cs typeface="Calibri"/>
                <a:sym typeface="Calibri"/>
              </a:rPr>
            </a:br>
            <a:r>
              <a:rPr lang="en-US" sz="4800" b="0" i="0" u="none" strike="noStrike" cap="none" dirty="0">
                <a:solidFill>
                  <a:srgbClr val="DEFF9A"/>
                </a:solidFill>
                <a:latin typeface="Bahnschrift SemiCondensed" panose="020B0502040204020203" pitchFamily="34" charset="0"/>
                <a:ea typeface="Urbanist SemiBold"/>
                <a:cs typeface="Urbanist SemiBold"/>
                <a:sym typeface="Urbanist SemiBold"/>
              </a:rPr>
              <a:t> Machine Learning</a:t>
            </a:r>
            <a:endParaRPr dirty="0">
              <a:latin typeface="Bahnschrift SemiCondensed" panose="020B0502040204020203" pitchFamily="34" charset="0"/>
            </a:endParaRPr>
          </a:p>
        </p:txBody>
      </p:sp>
      <p:sp>
        <p:nvSpPr>
          <p:cNvPr id="174" name="Google Shape;174;p18"/>
          <p:cNvSpPr/>
          <p:nvPr/>
        </p:nvSpPr>
        <p:spPr>
          <a:xfrm>
            <a:off x="5619750" y="3545321"/>
            <a:ext cx="9525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Bahnschrift SemiLight SemiConde" panose="020B0502040204020203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8"/>
          <p:cNvSpPr txBox="1"/>
          <p:nvPr/>
        </p:nvSpPr>
        <p:spPr>
          <a:xfrm>
            <a:off x="2752723" y="3816062"/>
            <a:ext cx="6686552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Supervised • Unsupervised • Reinforcement</a:t>
            </a:r>
            <a:endParaRPr sz="3200" dirty="0">
              <a:latin typeface="Bahnschrift SemiLight SemiConde" panose="020B0502040204020203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1" name="Google Shape;181;p19"/>
          <p:cNvGraphicFramePr/>
          <p:nvPr>
            <p:extLst>
              <p:ext uri="{D42A27DB-BD31-4B8C-83A1-F6EECF244321}">
                <p14:modId xmlns:p14="http://schemas.microsoft.com/office/powerpoint/2010/main" val="2476424616"/>
              </p:ext>
            </p:extLst>
          </p:nvPr>
        </p:nvGraphicFramePr>
        <p:xfrm>
          <a:off x="476250" y="2551807"/>
          <a:ext cx="11239500" cy="2878375"/>
        </p:xfrm>
        <a:graphic>
          <a:graphicData uri="http://schemas.openxmlformats.org/drawingml/2006/table">
            <a:tbl>
              <a:tblPr firstRow="1" bandRow="1">
                <a:noFill/>
                <a:tableStyleId>{4892B1A7-8AD3-4190-BC05-C91A6C73CA6D}</a:tableStyleId>
              </a:tblPr>
              <a:tblGrid>
                <a:gridCol w="1041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9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5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14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5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DEFF9A"/>
                          </a:solidFill>
                          <a:latin typeface="Bahnschrift SemiLight SemiConde" panose="020B0502040204020203" pitchFamily="34" charset="0"/>
                          <a:ea typeface="Urbanist"/>
                          <a:cs typeface="Urbanist"/>
                          <a:sym typeface="Urbanist"/>
                        </a:rPr>
                        <a:t>Tiêu chí</a:t>
                      </a:r>
                      <a:endParaRPr>
                        <a:latin typeface="Bahnschrift SemiLight SemiConde" panose="020B0502040204020203" pitchFamily="34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 err="1">
                          <a:solidFill>
                            <a:srgbClr val="DEFF9A"/>
                          </a:solidFill>
                          <a:latin typeface="Bahnschrift SemiLight SemiConde" panose="020B0502040204020203" pitchFamily="34" charset="0"/>
                          <a:ea typeface="Urbanist"/>
                          <a:cs typeface="Urbanist"/>
                          <a:sym typeface="Urbanist"/>
                        </a:rPr>
                        <a:t>Học</a:t>
                      </a:r>
                      <a:r>
                        <a:rPr lang="en-US" sz="1500" b="1" i="0" u="none" strike="noStrike" cap="none" dirty="0">
                          <a:solidFill>
                            <a:srgbClr val="DEFF9A"/>
                          </a:solidFill>
                          <a:latin typeface="Bahnschrift SemiLight SemiConde" panose="020B0502040204020203" pitchFamily="34" charset="0"/>
                          <a:ea typeface="Urbanist"/>
                          <a:cs typeface="Urbanist"/>
                          <a:sym typeface="Urbanist"/>
                        </a:rPr>
                        <a:t> </a:t>
                      </a:r>
                      <a:r>
                        <a:rPr lang="en-US" sz="1500" b="1" i="0" u="none" strike="noStrike" cap="none" dirty="0" err="1">
                          <a:solidFill>
                            <a:srgbClr val="DEFF9A"/>
                          </a:solidFill>
                          <a:latin typeface="Bahnschrift SemiLight SemiConde" panose="020B0502040204020203" pitchFamily="34" charset="0"/>
                          <a:ea typeface="Urbanist"/>
                          <a:cs typeface="Urbanist"/>
                          <a:sym typeface="Urbanist"/>
                        </a:rPr>
                        <a:t>có</a:t>
                      </a:r>
                      <a:r>
                        <a:rPr lang="en-US" sz="1500" b="1" i="0" u="none" strike="noStrike" cap="none" dirty="0">
                          <a:solidFill>
                            <a:srgbClr val="DEFF9A"/>
                          </a:solidFill>
                          <a:latin typeface="Bahnschrift SemiLight SemiConde" panose="020B0502040204020203" pitchFamily="34" charset="0"/>
                          <a:ea typeface="Urbanist"/>
                          <a:cs typeface="Urbanist"/>
                          <a:sym typeface="Urbanist"/>
                        </a:rPr>
                        <a:t> </a:t>
                      </a:r>
                      <a:r>
                        <a:rPr lang="en-US" sz="1500" b="1" i="0" u="none" strike="noStrike" cap="none" dirty="0" err="1">
                          <a:solidFill>
                            <a:srgbClr val="DEFF9A"/>
                          </a:solidFill>
                          <a:latin typeface="Bahnschrift SemiLight SemiConde" panose="020B0502040204020203" pitchFamily="34" charset="0"/>
                          <a:ea typeface="Urbanist"/>
                          <a:cs typeface="Urbanist"/>
                          <a:sym typeface="Urbanist"/>
                        </a:rPr>
                        <a:t>giám</a:t>
                      </a:r>
                      <a:r>
                        <a:rPr lang="en-US" sz="1500" b="1" i="0" u="none" strike="noStrike" cap="none" dirty="0">
                          <a:solidFill>
                            <a:srgbClr val="DEFF9A"/>
                          </a:solidFill>
                          <a:latin typeface="Bahnschrift SemiLight SemiConde" panose="020B0502040204020203" pitchFamily="34" charset="0"/>
                          <a:ea typeface="Urbanist"/>
                          <a:cs typeface="Urbanist"/>
                          <a:sym typeface="Urbanist"/>
                        </a:rPr>
                        <a:t> </a:t>
                      </a:r>
                      <a:r>
                        <a:rPr lang="en-US" sz="1500" b="1" i="0" u="none" strike="noStrike" cap="none" dirty="0" err="1">
                          <a:solidFill>
                            <a:srgbClr val="DEFF9A"/>
                          </a:solidFill>
                          <a:latin typeface="Bahnschrift SemiLight SemiConde" panose="020B0502040204020203" pitchFamily="34" charset="0"/>
                          <a:ea typeface="Urbanist"/>
                          <a:cs typeface="Urbanist"/>
                          <a:sym typeface="Urbanist"/>
                        </a:rPr>
                        <a:t>sát</a:t>
                      </a:r>
                      <a:r>
                        <a:rPr lang="en-US" sz="1500" b="1" i="0" u="none" strike="noStrike" cap="none" dirty="0">
                          <a:solidFill>
                            <a:srgbClr val="DEFF9A"/>
                          </a:solidFill>
                          <a:latin typeface="Bahnschrift SemiLight SemiConde" panose="020B0502040204020203" pitchFamily="34" charset="0"/>
                          <a:ea typeface="Urbanist"/>
                          <a:cs typeface="Urbanist"/>
                          <a:sym typeface="Urbanist"/>
                        </a:rPr>
                        <a:t> (Supervised)</a:t>
                      </a:r>
                      <a:endParaRPr dirty="0">
                        <a:latin typeface="Bahnschrift SemiLight SemiConde" panose="020B0502040204020203" pitchFamily="34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 err="1">
                          <a:solidFill>
                            <a:srgbClr val="DEFF9A"/>
                          </a:solidFill>
                          <a:latin typeface="Bahnschrift SemiLight SemiConde" panose="020B0502040204020203" pitchFamily="34" charset="0"/>
                          <a:ea typeface="Urbanist"/>
                          <a:cs typeface="Urbanist"/>
                          <a:sym typeface="Urbanist"/>
                        </a:rPr>
                        <a:t>Học</a:t>
                      </a:r>
                      <a:r>
                        <a:rPr lang="en-US" sz="1500" b="1" i="0" u="none" strike="noStrike" cap="none" dirty="0">
                          <a:solidFill>
                            <a:srgbClr val="DEFF9A"/>
                          </a:solidFill>
                          <a:latin typeface="Bahnschrift SemiLight SemiConde" panose="020B0502040204020203" pitchFamily="34" charset="0"/>
                          <a:ea typeface="Urbanist"/>
                          <a:cs typeface="Urbanist"/>
                          <a:sym typeface="Urbanist"/>
                        </a:rPr>
                        <a:t> </a:t>
                      </a:r>
                      <a:r>
                        <a:rPr lang="en-US" sz="1500" b="1" i="0" u="none" strike="noStrike" cap="none" dirty="0" err="1">
                          <a:solidFill>
                            <a:srgbClr val="DEFF9A"/>
                          </a:solidFill>
                          <a:latin typeface="Bahnschrift SemiLight SemiConde" panose="020B0502040204020203" pitchFamily="34" charset="0"/>
                          <a:ea typeface="Urbanist"/>
                          <a:cs typeface="Urbanist"/>
                          <a:sym typeface="Urbanist"/>
                        </a:rPr>
                        <a:t>không</a:t>
                      </a:r>
                      <a:r>
                        <a:rPr lang="en-US" sz="1500" b="1" i="0" u="none" strike="noStrike" cap="none" dirty="0">
                          <a:solidFill>
                            <a:srgbClr val="DEFF9A"/>
                          </a:solidFill>
                          <a:latin typeface="Bahnschrift SemiLight SemiConde" panose="020B0502040204020203" pitchFamily="34" charset="0"/>
                          <a:ea typeface="Urbanist"/>
                          <a:cs typeface="Urbanist"/>
                          <a:sym typeface="Urbanist"/>
                        </a:rPr>
                        <a:t> </a:t>
                      </a:r>
                      <a:r>
                        <a:rPr lang="en-US" sz="1500" b="1" i="0" u="none" strike="noStrike" cap="none" dirty="0" err="1">
                          <a:solidFill>
                            <a:srgbClr val="DEFF9A"/>
                          </a:solidFill>
                          <a:latin typeface="Bahnschrift SemiLight SemiConde" panose="020B0502040204020203" pitchFamily="34" charset="0"/>
                          <a:ea typeface="Urbanist"/>
                          <a:cs typeface="Urbanist"/>
                          <a:sym typeface="Urbanist"/>
                        </a:rPr>
                        <a:t>giám</a:t>
                      </a:r>
                      <a:r>
                        <a:rPr lang="en-US" sz="1500" b="1" i="0" u="none" strike="noStrike" cap="none" dirty="0">
                          <a:solidFill>
                            <a:srgbClr val="DEFF9A"/>
                          </a:solidFill>
                          <a:latin typeface="Bahnschrift SemiLight SemiConde" panose="020B0502040204020203" pitchFamily="34" charset="0"/>
                          <a:ea typeface="Urbanist"/>
                          <a:cs typeface="Urbanist"/>
                          <a:sym typeface="Urbanist"/>
                        </a:rPr>
                        <a:t> </a:t>
                      </a:r>
                      <a:r>
                        <a:rPr lang="en-US" sz="1500" b="1" i="0" u="none" strike="noStrike" cap="none" dirty="0" err="1">
                          <a:solidFill>
                            <a:srgbClr val="DEFF9A"/>
                          </a:solidFill>
                          <a:latin typeface="Bahnschrift SemiLight SemiConde" panose="020B0502040204020203" pitchFamily="34" charset="0"/>
                          <a:ea typeface="Urbanist"/>
                          <a:cs typeface="Urbanist"/>
                          <a:sym typeface="Urbanist"/>
                        </a:rPr>
                        <a:t>sát</a:t>
                      </a:r>
                      <a:r>
                        <a:rPr lang="en-US" sz="1500" b="1" i="0" u="none" strike="noStrike" cap="none" dirty="0">
                          <a:solidFill>
                            <a:srgbClr val="DEFF9A"/>
                          </a:solidFill>
                          <a:latin typeface="Bahnschrift SemiLight SemiConde" panose="020B0502040204020203" pitchFamily="34" charset="0"/>
                          <a:ea typeface="Urbanist"/>
                          <a:cs typeface="Urbanist"/>
                          <a:sym typeface="Urbanist"/>
                        </a:rPr>
                        <a:t> (Unsupervised)</a:t>
                      </a:r>
                      <a:endParaRPr dirty="0">
                        <a:latin typeface="Bahnschrift SemiLight SemiConde" panose="020B0502040204020203" pitchFamily="34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DEFF9A"/>
                          </a:solidFill>
                          <a:latin typeface="Bahnschrift SemiLight SemiConde" panose="020B0502040204020203" pitchFamily="34" charset="0"/>
                          <a:ea typeface="Urbanist"/>
                          <a:cs typeface="Urbanist"/>
                          <a:sym typeface="Urbanist"/>
                        </a:rPr>
                        <a:t>Học tăng cường (Reinforcement)</a:t>
                      </a:r>
                      <a:endParaRPr>
                        <a:latin typeface="Bahnschrift SemiLight SemiConde" panose="020B0502040204020203" pitchFamily="34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D1D5DB"/>
                          </a:solidFill>
                          <a:latin typeface="Bahnschrift SemiLight SemiConde" panose="020B0502040204020203" pitchFamily="34" charset="0"/>
                          <a:ea typeface="Urbanist"/>
                          <a:cs typeface="Urbanist"/>
                          <a:sym typeface="Urbanist"/>
                        </a:rPr>
                        <a:t>Dữ liệu</a:t>
                      </a:r>
                      <a:endParaRPr>
                        <a:latin typeface="Bahnschrift SemiLight SemiConde" panose="020B0502040204020203" pitchFamily="34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 err="1">
                          <a:solidFill>
                            <a:srgbClr val="D1D5DB"/>
                          </a:solidFill>
                          <a:latin typeface="Bahnschrift SemiLight SemiConde" panose="020B0502040204020203" pitchFamily="34" charset="0"/>
                          <a:ea typeface="Urbanist"/>
                          <a:cs typeface="Urbanist"/>
                          <a:sym typeface="Urbanist"/>
                        </a:rPr>
                        <a:t>Có</a:t>
                      </a:r>
                      <a:r>
                        <a:rPr lang="en-US" sz="1350" b="0" i="0" u="none" strike="noStrike" cap="none" dirty="0">
                          <a:solidFill>
                            <a:srgbClr val="D1D5DB"/>
                          </a:solidFill>
                          <a:latin typeface="Bahnschrift SemiLight SemiConde" panose="020B0502040204020203" pitchFamily="34" charset="0"/>
                          <a:ea typeface="Urbanist"/>
                          <a:cs typeface="Urbanist"/>
                          <a:sym typeface="Urbanist"/>
                        </a:rPr>
                        <a:t> </a:t>
                      </a:r>
                      <a:r>
                        <a:rPr lang="en-US" sz="1350" b="0" i="0" u="none" strike="noStrike" cap="none" dirty="0" err="1">
                          <a:solidFill>
                            <a:srgbClr val="D1D5DB"/>
                          </a:solidFill>
                          <a:latin typeface="Bahnschrift SemiLight SemiConde" panose="020B0502040204020203" pitchFamily="34" charset="0"/>
                          <a:ea typeface="Urbanist"/>
                          <a:cs typeface="Urbanist"/>
                          <a:sym typeface="Urbanist"/>
                        </a:rPr>
                        <a:t>nhãn</a:t>
                      </a:r>
                      <a:r>
                        <a:rPr lang="en-US" sz="1350" b="0" i="0" u="none" strike="noStrike" cap="none" dirty="0">
                          <a:solidFill>
                            <a:srgbClr val="D1D5DB"/>
                          </a:solidFill>
                          <a:latin typeface="Bahnschrift SemiLight SemiConde" panose="020B0502040204020203" pitchFamily="34" charset="0"/>
                          <a:ea typeface="Urbanist"/>
                          <a:cs typeface="Urbanist"/>
                          <a:sym typeface="Urbanist"/>
                        </a:rPr>
                        <a:t> (Input + Output)</a:t>
                      </a:r>
                      <a:endParaRPr dirty="0">
                        <a:latin typeface="Bahnschrift SemiLight SemiConde" panose="020B0502040204020203" pitchFamily="34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D1D5DB"/>
                          </a:solidFill>
                          <a:latin typeface="Bahnschrift SemiLight SemiConde" panose="020B0502040204020203" pitchFamily="34" charset="0"/>
                          <a:ea typeface="Urbanist"/>
                          <a:cs typeface="Urbanist"/>
                          <a:sym typeface="Urbanist"/>
                        </a:rPr>
                        <a:t>Không nhãn (Chỉ có Input)</a:t>
                      </a:r>
                      <a:endParaRPr>
                        <a:latin typeface="Bahnschrift SemiLight SemiConde" panose="020B0502040204020203" pitchFamily="34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D1D5DB"/>
                          </a:solidFill>
                          <a:latin typeface="Bahnschrift SemiLight SemiConde" panose="020B0502040204020203" pitchFamily="34" charset="0"/>
                          <a:ea typeface="Urbanist"/>
                          <a:cs typeface="Urbanist"/>
                          <a:sym typeface="Urbanist"/>
                        </a:rPr>
                        <a:t>Sinh ra từ tương tác môi trường</a:t>
                      </a:r>
                      <a:endParaRPr>
                        <a:latin typeface="Bahnschrift SemiLight SemiConde" panose="020B0502040204020203" pitchFamily="34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5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D1D5DB"/>
                          </a:solidFill>
                          <a:latin typeface="Bahnschrift SemiLight SemiConde" panose="020B0502040204020203" pitchFamily="34" charset="0"/>
                          <a:ea typeface="Urbanist"/>
                          <a:cs typeface="Urbanist"/>
                          <a:sym typeface="Urbanist"/>
                        </a:rPr>
                        <a:t>Mục tiêu</a:t>
                      </a:r>
                      <a:endParaRPr>
                        <a:latin typeface="Bahnschrift SemiLight SemiConde" panose="020B0502040204020203" pitchFamily="34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D1D5DB"/>
                          </a:solidFill>
                          <a:latin typeface="Bahnschrift SemiLight SemiConde" panose="020B0502040204020203" pitchFamily="34" charset="0"/>
                          <a:ea typeface="Urbanist"/>
                          <a:cs typeface="Urbanist"/>
                          <a:sym typeface="Urbanist"/>
                        </a:rPr>
                        <a:t>Dự đoán kết quả chính xác</a:t>
                      </a:r>
                      <a:endParaRPr>
                        <a:latin typeface="Bahnschrift SemiLight SemiConde" panose="020B0502040204020203" pitchFamily="34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D1D5DB"/>
                          </a:solidFill>
                          <a:latin typeface="Bahnschrift SemiLight SemiConde" panose="020B0502040204020203" pitchFamily="34" charset="0"/>
                          <a:ea typeface="Urbanist"/>
                          <a:cs typeface="Urbanist"/>
                          <a:sym typeface="Urbanist"/>
                        </a:rPr>
                        <a:t>Khám phá cấu trúc ẩn/Mẫu</a:t>
                      </a:r>
                      <a:endParaRPr>
                        <a:latin typeface="Bahnschrift SemiLight SemiConde" panose="020B0502040204020203" pitchFamily="34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D1D5DB"/>
                          </a:solidFill>
                          <a:latin typeface="Bahnschrift SemiLight SemiConde" panose="020B0502040204020203" pitchFamily="34" charset="0"/>
                          <a:ea typeface="Urbanist"/>
                          <a:cs typeface="Urbanist"/>
                          <a:sym typeface="Urbanist"/>
                        </a:rPr>
                        <a:t>Tối ưu hóa hành động (thưởng)</a:t>
                      </a:r>
                      <a:endParaRPr>
                        <a:latin typeface="Bahnschrift SemiLight SemiConde" panose="020B0502040204020203" pitchFamily="34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5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D1D5DB"/>
                          </a:solidFill>
                          <a:latin typeface="Bahnschrift SemiLight SemiConde" panose="020B0502040204020203" pitchFamily="34" charset="0"/>
                          <a:ea typeface="Urbanist"/>
                          <a:cs typeface="Urbanist"/>
                          <a:sym typeface="Urbanist"/>
                        </a:rPr>
                        <a:t>Bài toán</a:t>
                      </a:r>
                      <a:endParaRPr>
                        <a:latin typeface="Bahnschrift SemiLight SemiConde" panose="020B0502040204020203" pitchFamily="34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 err="1">
                          <a:solidFill>
                            <a:srgbClr val="D1D5DB"/>
                          </a:solidFill>
                          <a:latin typeface="Bahnschrift SemiLight SemiConde" panose="020B0502040204020203" pitchFamily="34" charset="0"/>
                          <a:ea typeface="Urbanist"/>
                          <a:cs typeface="Urbanist"/>
                          <a:sym typeface="Urbanist"/>
                        </a:rPr>
                        <a:t>Phân</a:t>
                      </a:r>
                      <a:r>
                        <a:rPr lang="en-US" sz="1350" b="0" i="0" u="none" strike="noStrike" cap="none" dirty="0">
                          <a:solidFill>
                            <a:srgbClr val="D1D5DB"/>
                          </a:solidFill>
                          <a:latin typeface="Bahnschrift SemiLight SemiConde" panose="020B0502040204020203" pitchFamily="34" charset="0"/>
                          <a:ea typeface="Urbanist"/>
                          <a:cs typeface="Urbanist"/>
                          <a:sym typeface="Urbanist"/>
                        </a:rPr>
                        <a:t> </a:t>
                      </a:r>
                      <a:r>
                        <a:rPr lang="en-US" sz="1350" b="0" i="0" u="none" strike="noStrike" cap="none" dirty="0" err="1">
                          <a:solidFill>
                            <a:srgbClr val="D1D5DB"/>
                          </a:solidFill>
                          <a:latin typeface="Bahnschrift SemiLight SemiConde" panose="020B0502040204020203" pitchFamily="34" charset="0"/>
                          <a:ea typeface="Urbanist"/>
                          <a:cs typeface="Urbanist"/>
                          <a:sym typeface="Urbanist"/>
                        </a:rPr>
                        <a:t>loại</a:t>
                      </a:r>
                      <a:r>
                        <a:rPr lang="en-US" sz="1350" b="0" i="0" u="none" strike="noStrike" cap="none" dirty="0">
                          <a:solidFill>
                            <a:srgbClr val="D1D5DB"/>
                          </a:solidFill>
                          <a:latin typeface="Bahnschrift SemiLight SemiConde" panose="020B0502040204020203" pitchFamily="34" charset="0"/>
                          <a:ea typeface="Urbanist"/>
                          <a:cs typeface="Urbanist"/>
                          <a:sym typeface="Urbanist"/>
                        </a:rPr>
                        <a:t>, </a:t>
                      </a:r>
                      <a:r>
                        <a:rPr lang="en-US" sz="1350" b="0" i="0" u="none" strike="noStrike" cap="none" dirty="0" err="1">
                          <a:solidFill>
                            <a:srgbClr val="D1D5DB"/>
                          </a:solidFill>
                          <a:latin typeface="Bahnschrift SemiLight SemiConde" panose="020B0502040204020203" pitchFamily="34" charset="0"/>
                          <a:ea typeface="Urbanist"/>
                          <a:cs typeface="Urbanist"/>
                          <a:sym typeface="Urbanist"/>
                        </a:rPr>
                        <a:t>Hồi</a:t>
                      </a:r>
                      <a:r>
                        <a:rPr lang="en-US" sz="1350" b="0" i="0" u="none" strike="noStrike" cap="none" dirty="0">
                          <a:solidFill>
                            <a:srgbClr val="D1D5DB"/>
                          </a:solidFill>
                          <a:latin typeface="Bahnschrift SemiLight SemiConde" panose="020B0502040204020203" pitchFamily="34" charset="0"/>
                          <a:ea typeface="Urbanist"/>
                          <a:cs typeface="Urbanist"/>
                          <a:sym typeface="Urbanist"/>
                        </a:rPr>
                        <a:t> </a:t>
                      </a:r>
                      <a:r>
                        <a:rPr lang="en-US" sz="1350" b="0" i="0" u="none" strike="noStrike" cap="none" dirty="0" err="1">
                          <a:solidFill>
                            <a:srgbClr val="D1D5DB"/>
                          </a:solidFill>
                          <a:latin typeface="Bahnschrift SemiLight SemiConde" panose="020B0502040204020203" pitchFamily="34" charset="0"/>
                          <a:ea typeface="Urbanist"/>
                          <a:cs typeface="Urbanist"/>
                          <a:sym typeface="Urbanist"/>
                        </a:rPr>
                        <a:t>quy</a:t>
                      </a:r>
                      <a:endParaRPr dirty="0">
                        <a:latin typeface="Bahnschrift SemiLight SemiConde" panose="020B0502040204020203" pitchFamily="34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D1D5DB"/>
                          </a:solidFill>
                          <a:latin typeface="Bahnschrift SemiLight SemiConde" panose="020B0502040204020203" pitchFamily="34" charset="0"/>
                          <a:ea typeface="Urbanist"/>
                          <a:cs typeface="Urbanist"/>
                          <a:sym typeface="Urbanist"/>
                        </a:rPr>
                        <a:t>Phân cụm, Luật kết hợp</a:t>
                      </a:r>
                      <a:endParaRPr>
                        <a:latin typeface="Bahnschrift SemiLight SemiConde" panose="020B0502040204020203" pitchFamily="34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D1D5DB"/>
                          </a:solidFill>
                          <a:latin typeface="Bahnschrift SemiLight SemiConde" panose="020B0502040204020203" pitchFamily="34" charset="0"/>
                          <a:ea typeface="Urbanist"/>
                          <a:cs typeface="Urbanist"/>
                          <a:sym typeface="Urbanist"/>
                        </a:rPr>
                        <a:t>Ra quyết định tuần tự</a:t>
                      </a:r>
                      <a:endParaRPr>
                        <a:latin typeface="Bahnschrift SemiLight SemiConde" panose="020B0502040204020203" pitchFamily="34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5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D1D5DB"/>
                          </a:solidFill>
                          <a:latin typeface="Bahnschrift SemiLight SemiConde" panose="020B0502040204020203" pitchFamily="34" charset="0"/>
                          <a:ea typeface="Urbanist"/>
                          <a:cs typeface="Urbanist"/>
                          <a:sym typeface="Urbanist"/>
                        </a:rPr>
                        <a:t>Ví dụ</a:t>
                      </a:r>
                      <a:endParaRPr>
                        <a:latin typeface="Bahnschrift SemiLight SemiConde" panose="020B0502040204020203" pitchFamily="34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D1D5DB"/>
                          </a:solidFill>
                          <a:latin typeface="Bahnschrift SemiLight SemiConde" panose="020B0502040204020203" pitchFamily="34" charset="0"/>
                          <a:ea typeface="Urbanist"/>
                          <a:cs typeface="Urbanist"/>
                          <a:sym typeface="Urbanist"/>
                        </a:rPr>
                        <a:t>Chẩn đoán bệnh, giá nhà</a:t>
                      </a:r>
                      <a:endParaRPr>
                        <a:latin typeface="Bahnschrift SemiLight SemiConde" panose="020B0502040204020203" pitchFamily="34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D1D5DB"/>
                          </a:solidFill>
                          <a:latin typeface="Bahnschrift SemiLight SemiConde" panose="020B0502040204020203" pitchFamily="34" charset="0"/>
                          <a:ea typeface="Urbanist"/>
                          <a:cs typeface="Urbanist"/>
                          <a:sym typeface="Urbanist"/>
                        </a:rPr>
                        <a:t>Phân khúc khách hàng</a:t>
                      </a:r>
                      <a:endParaRPr>
                        <a:latin typeface="Bahnschrift SemiLight SemiConde" panose="020B0502040204020203" pitchFamily="34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rgbClr val="D1D5DB"/>
                          </a:solidFill>
                          <a:latin typeface="Bahnschrift SemiLight SemiConde" panose="020B0502040204020203" pitchFamily="34" charset="0"/>
                          <a:ea typeface="Urbanist"/>
                          <a:cs typeface="Urbanist"/>
                          <a:sym typeface="Urbanist"/>
                        </a:rPr>
                        <a:t>Xe </a:t>
                      </a:r>
                      <a:r>
                        <a:rPr lang="en-US" sz="1350" b="0" i="0" u="none" strike="noStrike" cap="none" dirty="0" err="1">
                          <a:solidFill>
                            <a:srgbClr val="D1D5DB"/>
                          </a:solidFill>
                          <a:latin typeface="Bahnschrift SemiLight SemiConde" panose="020B0502040204020203" pitchFamily="34" charset="0"/>
                          <a:ea typeface="Urbanist"/>
                          <a:cs typeface="Urbanist"/>
                          <a:sym typeface="Urbanist"/>
                        </a:rPr>
                        <a:t>tự</a:t>
                      </a:r>
                      <a:r>
                        <a:rPr lang="en-US" sz="1350" b="0" i="0" u="none" strike="noStrike" cap="none" dirty="0">
                          <a:solidFill>
                            <a:srgbClr val="D1D5DB"/>
                          </a:solidFill>
                          <a:latin typeface="Bahnschrift SemiLight SemiConde" panose="020B0502040204020203" pitchFamily="34" charset="0"/>
                          <a:ea typeface="Urbanist"/>
                          <a:cs typeface="Urbanist"/>
                          <a:sym typeface="Urbanist"/>
                        </a:rPr>
                        <a:t> </a:t>
                      </a:r>
                      <a:r>
                        <a:rPr lang="en-US" sz="1350" b="0" i="0" u="none" strike="noStrike" cap="none" dirty="0" err="1">
                          <a:solidFill>
                            <a:srgbClr val="D1D5DB"/>
                          </a:solidFill>
                          <a:latin typeface="Bahnschrift SemiLight SemiConde" panose="020B0502040204020203" pitchFamily="34" charset="0"/>
                          <a:ea typeface="Urbanist"/>
                          <a:cs typeface="Urbanist"/>
                          <a:sym typeface="Urbanist"/>
                        </a:rPr>
                        <a:t>lái</a:t>
                      </a:r>
                      <a:r>
                        <a:rPr lang="en-US" sz="1350" b="0" i="0" u="none" strike="noStrike" cap="none" dirty="0">
                          <a:solidFill>
                            <a:srgbClr val="D1D5DB"/>
                          </a:solidFill>
                          <a:latin typeface="Bahnschrift SemiLight SemiConde" panose="020B0502040204020203" pitchFamily="34" charset="0"/>
                          <a:ea typeface="Urbanist"/>
                          <a:cs typeface="Urbanist"/>
                          <a:sym typeface="Urbanist"/>
                        </a:rPr>
                        <a:t>, </a:t>
                      </a:r>
                      <a:r>
                        <a:rPr lang="en-US" sz="1350" b="0" i="0" u="none" strike="noStrike" cap="none" dirty="0" err="1">
                          <a:solidFill>
                            <a:srgbClr val="D1D5DB"/>
                          </a:solidFill>
                          <a:latin typeface="Bahnschrift SemiLight SemiConde" panose="020B0502040204020203" pitchFamily="34" charset="0"/>
                          <a:ea typeface="Urbanist"/>
                          <a:cs typeface="Urbanist"/>
                          <a:sym typeface="Urbanist"/>
                        </a:rPr>
                        <a:t>Chơi</a:t>
                      </a:r>
                      <a:r>
                        <a:rPr lang="en-US" sz="1350" b="0" i="0" u="none" strike="noStrike" cap="none" dirty="0">
                          <a:solidFill>
                            <a:srgbClr val="D1D5DB"/>
                          </a:solidFill>
                          <a:latin typeface="Bahnschrift SemiLight SemiConde" panose="020B0502040204020203" pitchFamily="34" charset="0"/>
                          <a:ea typeface="Urbanist"/>
                          <a:cs typeface="Urbanist"/>
                          <a:sym typeface="Urbanist"/>
                        </a:rPr>
                        <a:t> game</a:t>
                      </a:r>
                      <a:endParaRPr dirty="0">
                        <a:latin typeface="Bahnschrift SemiLight SemiConde" panose="020B0502040204020203" pitchFamily="34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2" name="Google Shape;182;p19"/>
          <p:cNvSpPr/>
          <p:nvPr/>
        </p:nvSpPr>
        <p:spPr>
          <a:xfrm>
            <a:off x="476250" y="3132832"/>
            <a:ext cx="1041945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Bahnschrift SemiLight SemiConde" panose="020B0502040204020203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9"/>
          <p:cNvSpPr/>
          <p:nvPr/>
        </p:nvSpPr>
        <p:spPr>
          <a:xfrm>
            <a:off x="1518195" y="3132832"/>
            <a:ext cx="3097410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Bahnschrift SemiLight SemiConde" panose="020B0502040204020203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9"/>
          <p:cNvSpPr/>
          <p:nvPr/>
        </p:nvSpPr>
        <p:spPr>
          <a:xfrm>
            <a:off x="4615606" y="3132832"/>
            <a:ext cx="3685579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Bahnschrift SemiLight SemiConde" panose="020B0502040204020203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9"/>
          <p:cNvSpPr/>
          <p:nvPr/>
        </p:nvSpPr>
        <p:spPr>
          <a:xfrm>
            <a:off x="8301186" y="3132832"/>
            <a:ext cx="3414563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Bahnschrift SemiLight SemiConde" panose="020B0502040204020203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9"/>
          <p:cNvSpPr/>
          <p:nvPr/>
        </p:nvSpPr>
        <p:spPr>
          <a:xfrm>
            <a:off x="476250" y="3716684"/>
            <a:ext cx="1041945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Bahnschrift SemiLight SemiConde" panose="020B0502040204020203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9"/>
          <p:cNvSpPr/>
          <p:nvPr/>
        </p:nvSpPr>
        <p:spPr>
          <a:xfrm>
            <a:off x="1518195" y="3716684"/>
            <a:ext cx="309741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Bahnschrift SemiLight SemiConde" panose="020B0502040204020203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9"/>
          <p:cNvSpPr/>
          <p:nvPr/>
        </p:nvSpPr>
        <p:spPr>
          <a:xfrm>
            <a:off x="4615606" y="3716684"/>
            <a:ext cx="3685579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Bahnschrift SemiLight SemiConde" panose="020B0502040204020203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9"/>
          <p:cNvSpPr/>
          <p:nvPr/>
        </p:nvSpPr>
        <p:spPr>
          <a:xfrm>
            <a:off x="8301186" y="3716684"/>
            <a:ext cx="3414563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Bahnschrift SemiLight SemiConde" panose="020B0502040204020203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9"/>
          <p:cNvSpPr/>
          <p:nvPr/>
        </p:nvSpPr>
        <p:spPr>
          <a:xfrm>
            <a:off x="476250" y="4286250"/>
            <a:ext cx="1041945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Bahnschrift SemiLight SemiConde" panose="020B0502040204020203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9"/>
          <p:cNvSpPr/>
          <p:nvPr/>
        </p:nvSpPr>
        <p:spPr>
          <a:xfrm>
            <a:off x="1518195" y="4286250"/>
            <a:ext cx="309741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Bahnschrift SemiLight SemiConde" panose="020B0502040204020203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9"/>
          <p:cNvSpPr/>
          <p:nvPr/>
        </p:nvSpPr>
        <p:spPr>
          <a:xfrm>
            <a:off x="4615606" y="4286250"/>
            <a:ext cx="3685579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Bahnschrift SemiLight SemiConde" panose="020B0502040204020203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9"/>
          <p:cNvSpPr/>
          <p:nvPr/>
        </p:nvSpPr>
        <p:spPr>
          <a:xfrm>
            <a:off x="8301186" y="4286250"/>
            <a:ext cx="3414563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Bahnschrift SemiLight SemiConde" panose="020B0502040204020203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9"/>
          <p:cNvSpPr/>
          <p:nvPr/>
        </p:nvSpPr>
        <p:spPr>
          <a:xfrm>
            <a:off x="476250" y="4855815"/>
            <a:ext cx="1041945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Bahnschrift SemiLight SemiConde" panose="020B0502040204020203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9"/>
          <p:cNvSpPr/>
          <p:nvPr/>
        </p:nvSpPr>
        <p:spPr>
          <a:xfrm>
            <a:off x="1518195" y="4855815"/>
            <a:ext cx="309741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Bahnschrift SemiLight SemiConde" panose="020B0502040204020203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9"/>
          <p:cNvSpPr/>
          <p:nvPr/>
        </p:nvSpPr>
        <p:spPr>
          <a:xfrm>
            <a:off x="4615606" y="4855815"/>
            <a:ext cx="3685579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Bahnschrift SemiLight SemiConde" panose="020B0502040204020203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9"/>
          <p:cNvSpPr/>
          <p:nvPr/>
        </p:nvSpPr>
        <p:spPr>
          <a:xfrm>
            <a:off x="8301186" y="4855815"/>
            <a:ext cx="3414563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Bahnschrift SemiLight SemiConde" panose="020B0502040204020203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9"/>
          <p:cNvSpPr txBox="1"/>
          <p:nvPr/>
        </p:nvSpPr>
        <p:spPr>
          <a:xfrm>
            <a:off x="476250" y="381000"/>
            <a:ext cx="117157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>
                <a:solidFill>
                  <a:srgbClr val="DEFF9A"/>
                </a:solidFill>
                <a:latin typeface="Bahnschrift SemiCondensed" panose="020B0502040204020203" pitchFamily="34" charset="0"/>
                <a:ea typeface="Urbanist SemiBold"/>
                <a:cs typeface="Urbanist SemiBold"/>
                <a:sym typeface="Urbanist SemiBold"/>
              </a:rPr>
              <a:t>So </a:t>
            </a:r>
            <a:r>
              <a:rPr lang="en-US" sz="3600" b="0" i="0" u="none" strike="noStrike" cap="none" dirty="0" err="1">
                <a:solidFill>
                  <a:srgbClr val="DEFF9A"/>
                </a:solidFill>
                <a:latin typeface="Bahnschrift SemiCondensed" panose="020B0502040204020203" pitchFamily="34" charset="0"/>
                <a:ea typeface="Urbanist SemiBold"/>
                <a:cs typeface="Urbanist SemiBold"/>
                <a:sym typeface="Urbanist SemiBold"/>
              </a:rPr>
              <a:t>Sánh</a:t>
            </a:r>
            <a:r>
              <a:rPr lang="en-US" sz="3600" b="0" i="0" u="none" strike="noStrike" cap="none" dirty="0">
                <a:solidFill>
                  <a:srgbClr val="DEFF9A"/>
                </a:solidFill>
                <a:latin typeface="Bahnschrift SemiCondensed" panose="020B0502040204020203" pitchFamily="34" charset="0"/>
                <a:ea typeface="Urbanist SemiBold"/>
                <a:cs typeface="Urbanist SemiBold"/>
                <a:sym typeface="Urbanist SemiBold"/>
              </a:rPr>
              <a:t> </a:t>
            </a:r>
            <a:r>
              <a:rPr lang="en-US" sz="3600" b="0" i="0" u="none" strike="noStrike" cap="none" dirty="0" err="1">
                <a:solidFill>
                  <a:srgbClr val="DEFF9A"/>
                </a:solidFill>
                <a:latin typeface="Bahnschrift SemiCondensed" panose="020B0502040204020203" pitchFamily="34" charset="0"/>
                <a:ea typeface="Urbanist SemiBold"/>
                <a:cs typeface="Urbanist SemiBold"/>
                <a:sym typeface="Urbanist SemiBold"/>
              </a:rPr>
              <a:t>Các</a:t>
            </a:r>
            <a:r>
              <a:rPr lang="en-US" sz="3600" b="0" i="0" u="none" strike="noStrike" cap="none" dirty="0">
                <a:solidFill>
                  <a:srgbClr val="DEFF9A"/>
                </a:solidFill>
                <a:latin typeface="Bahnschrift SemiCondensed" panose="020B0502040204020203" pitchFamily="34" charset="0"/>
                <a:ea typeface="Urbanist SemiBold"/>
                <a:cs typeface="Urbanist SemiBold"/>
                <a:sym typeface="Urbanist SemiBold"/>
              </a:rPr>
              <a:t> </a:t>
            </a:r>
            <a:r>
              <a:rPr lang="en-US" sz="3600" b="0" i="0" u="none" strike="noStrike" cap="none" dirty="0" err="1">
                <a:solidFill>
                  <a:srgbClr val="DEFF9A"/>
                </a:solidFill>
                <a:latin typeface="Bahnschrift SemiCondensed" panose="020B0502040204020203" pitchFamily="34" charset="0"/>
                <a:ea typeface="Urbanist SemiBold"/>
                <a:cs typeface="Urbanist SemiBold"/>
                <a:sym typeface="Urbanist SemiBold"/>
              </a:rPr>
              <a:t>Loại</a:t>
            </a:r>
            <a:r>
              <a:rPr lang="en-US" sz="3600" b="0" i="0" u="none" strike="noStrike" cap="none" dirty="0">
                <a:solidFill>
                  <a:srgbClr val="DEFF9A"/>
                </a:solidFill>
                <a:latin typeface="Bahnschrift SemiCondensed" panose="020B0502040204020203" pitchFamily="34" charset="0"/>
                <a:ea typeface="Urbanist SemiBold"/>
                <a:cs typeface="Urbanist SemiBold"/>
                <a:sym typeface="Urbanist SemiBold"/>
              </a:rPr>
              <a:t> </a:t>
            </a:r>
            <a:r>
              <a:rPr lang="en-US" sz="3600" b="0" i="0" u="none" strike="noStrike" cap="none" dirty="0" err="1">
                <a:solidFill>
                  <a:srgbClr val="DEFF9A"/>
                </a:solidFill>
                <a:latin typeface="Bahnschrift SemiCondensed" panose="020B0502040204020203" pitchFamily="34" charset="0"/>
                <a:ea typeface="Urbanist SemiBold"/>
                <a:cs typeface="Urbanist SemiBold"/>
                <a:sym typeface="Urbanist SemiBold"/>
              </a:rPr>
              <a:t>Học</a:t>
            </a:r>
            <a:r>
              <a:rPr lang="en-US" sz="3600" b="0" i="0" u="none" strike="noStrike" cap="none" dirty="0">
                <a:solidFill>
                  <a:srgbClr val="DEFF9A"/>
                </a:solidFill>
                <a:latin typeface="Bahnschrift SemiCondensed" panose="020B0502040204020203" pitchFamily="34" charset="0"/>
                <a:ea typeface="Urbanist SemiBold"/>
                <a:cs typeface="Urbanist SemiBold"/>
                <a:sym typeface="Urbanist SemiBold"/>
              </a:rPr>
              <a:t> </a:t>
            </a:r>
            <a:r>
              <a:rPr lang="en-US" sz="3600" b="0" i="0" u="none" strike="noStrike" cap="none" dirty="0" err="1">
                <a:solidFill>
                  <a:srgbClr val="DEFF9A"/>
                </a:solidFill>
                <a:latin typeface="Bahnschrift SemiCondensed" panose="020B0502040204020203" pitchFamily="34" charset="0"/>
                <a:ea typeface="Urbanist SemiBold"/>
                <a:cs typeface="Urbanist SemiBold"/>
                <a:sym typeface="Urbanist SemiBold"/>
              </a:rPr>
              <a:t>Máy</a:t>
            </a:r>
            <a:endParaRPr dirty="0">
              <a:latin typeface="Bahnschrift SemiCondensed" panose="020B0502040204020203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0"/>
          <p:cNvSpPr txBox="1"/>
          <p:nvPr/>
        </p:nvSpPr>
        <p:spPr>
          <a:xfrm>
            <a:off x="476250" y="381000"/>
            <a:ext cx="117157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 err="1">
                <a:solidFill>
                  <a:srgbClr val="DEFF9A"/>
                </a:solidFill>
                <a:latin typeface="Bahnschrift SemiCondensed" panose="020B0502040204020203" pitchFamily="34" charset="0"/>
                <a:ea typeface="Urbanist SemiBold"/>
                <a:cs typeface="Urbanist SemiBold"/>
                <a:sym typeface="Urbanist SemiBold"/>
              </a:rPr>
              <a:t>Thuật</a:t>
            </a:r>
            <a:r>
              <a:rPr lang="en-US" sz="3600" b="0" i="0" u="none" strike="noStrike" cap="none" dirty="0">
                <a:solidFill>
                  <a:srgbClr val="DEFF9A"/>
                </a:solidFill>
                <a:latin typeface="Bahnschrift SemiCondensed" panose="020B0502040204020203" pitchFamily="34" charset="0"/>
                <a:ea typeface="Urbanist SemiBold"/>
                <a:cs typeface="Urbanist SemiBold"/>
                <a:sym typeface="Urbanist SemiBold"/>
              </a:rPr>
              <a:t> </a:t>
            </a:r>
            <a:r>
              <a:rPr lang="en-US" sz="3600" b="0" i="0" u="none" strike="noStrike" cap="none" dirty="0" err="1">
                <a:solidFill>
                  <a:srgbClr val="DEFF9A"/>
                </a:solidFill>
                <a:latin typeface="Bahnschrift SemiCondensed" panose="020B0502040204020203" pitchFamily="34" charset="0"/>
                <a:ea typeface="Urbanist SemiBold"/>
                <a:cs typeface="Urbanist SemiBold"/>
                <a:sym typeface="Urbanist SemiBold"/>
              </a:rPr>
              <a:t>Ngữ</a:t>
            </a:r>
            <a:r>
              <a:rPr lang="en-US" sz="3600" b="0" i="0" u="none" strike="noStrike" cap="none" dirty="0">
                <a:solidFill>
                  <a:srgbClr val="DEFF9A"/>
                </a:solidFill>
                <a:latin typeface="Bahnschrift SemiCondensed" panose="020B0502040204020203" pitchFamily="34" charset="0"/>
                <a:ea typeface="Urbanist SemiBold"/>
                <a:cs typeface="Urbanist SemiBold"/>
                <a:sym typeface="Urbanist SemiBold"/>
              </a:rPr>
              <a:t> &amp; </a:t>
            </a:r>
            <a:r>
              <a:rPr lang="en-US" sz="3600" b="0" i="0" u="none" strike="noStrike" cap="none" dirty="0" err="1">
                <a:solidFill>
                  <a:srgbClr val="DEFF9A"/>
                </a:solidFill>
                <a:latin typeface="Bahnschrift SemiCondensed" panose="020B0502040204020203" pitchFamily="34" charset="0"/>
                <a:ea typeface="Urbanist SemiBold"/>
                <a:cs typeface="Urbanist SemiBold"/>
                <a:sym typeface="Urbanist SemiBold"/>
              </a:rPr>
              <a:t>Ký</a:t>
            </a:r>
            <a:r>
              <a:rPr lang="en-US" sz="3600" b="0" i="0" u="none" strike="noStrike" cap="none" dirty="0">
                <a:solidFill>
                  <a:srgbClr val="DEFF9A"/>
                </a:solidFill>
                <a:latin typeface="Bahnschrift SemiCondensed" panose="020B0502040204020203" pitchFamily="34" charset="0"/>
                <a:ea typeface="Urbanist SemiBold"/>
                <a:cs typeface="Urbanist SemiBold"/>
                <a:sym typeface="Urbanist SemiBold"/>
              </a:rPr>
              <a:t> </a:t>
            </a:r>
            <a:r>
              <a:rPr lang="en-US" sz="3600" b="0" i="0" u="none" strike="noStrike" cap="none" dirty="0" err="1">
                <a:solidFill>
                  <a:srgbClr val="DEFF9A"/>
                </a:solidFill>
                <a:latin typeface="Bahnschrift SemiCondensed" panose="020B0502040204020203" pitchFamily="34" charset="0"/>
                <a:ea typeface="Urbanist SemiBold"/>
                <a:cs typeface="Urbanist SemiBold"/>
                <a:sym typeface="Urbanist SemiBold"/>
              </a:rPr>
              <a:t>Hiệu</a:t>
            </a:r>
            <a:r>
              <a:rPr lang="en-US" sz="3600" b="0" i="0" u="none" strike="noStrike" cap="none" dirty="0">
                <a:solidFill>
                  <a:srgbClr val="DEFF9A"/>
                </a:solidFill>
                <a:latin typeface="Bahnschrift SemiCondensed" panose="020B0502040204020203" pitchFamily="34" charset="0"/>
                <a:ea typeface="Urbanist SemiBold"/>
                <a:cs typeface="Urbanist SemiBold"/>
                <a:sym typeface="Urbanist SemiBold"/>
              </a:rPr>
              <a:t> AI</a:t>
            </a:r>
            <a:endParaRPr dirty="0">
              <a:latin typeface="Bahnschrift SemiCondensed" panose="020B0502040204020203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8" name="Table 37">
                <a:extLst>
                  <a:ext uri="{FF2B5EF4-FFF2-40B4-BE49-F238E27FC236}">
                    <a16:creationId xmlns:a16="http://schemas.microsoft.com/office/drawing/2014/main" id="{F59468C0-A65E-4900-A5F4-F621CCD20C1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85636742"/>
                  </p:ext>
                </p:extLst>
              </p:nvPr>
            </p:nvGraphicFramePr>
            <p:xfrm>
              <a:off x="476251" y="1938733"/>
              <a:ext cx="11239498" cy="3480684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1826732">
                      <a:extLst>
                        <a:ext uri="{9D8B030D-6E8A-4147-A177-3AD203B41FA5}">
                          <a16:colId xmlns:a16="http://schemas.microsoft.com/office/drawing/2014/main" val="2362174861"/>
                        </a:ext>
                      </a:extLst>
                    </a:gridCol>
                    <a:gridCol w="2851261">
                      <a:extLst>
                        <a:ext uri="{9D8B030D-6E8A-4147-A177-3AD203B41FA5}">
                          <a16:colId xmlns:a16="http://schemas.microsoft.com/office/drawing/2014/main" val="3095350347"/>
                        </a:ext>
                      </a:extLst>
                    </a:gridCol>
                    <a:gridCol w="6561505">
                      <a:extLst>
                        <a:ext uri="{9D8B030D-6E8A-4147-A177-3AD203B41FA5}">
                          <a16:colId xmlns:a16="http://schemas.microsoft.com/office/drawing/2014/main" val="2554392170"/>
                        </a:ext>
                      </a:extLst>
                    </a:gridCol>
                  </a:tblGrid>
                  <a:tr h="426197"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1200"/>
                            </a:spcAft>
                          </a:pPr>
                          <a:r>
                            <a:rPr lang="en-US" sz="1500" b="1" dirty="0" err="1">
                              <a:solidFill>
                                <a:srgbClr val="DEFF9A"/>
                              </a:solidFill>
                              <a:effectLst/>
                              <a:latin typeface="Bahnschrift SemiCondensed" panose="020B0502040204020203" pitchFamily="34" charset="0"/>
                            </a:rPr>
                            <a:t>Ký</a:t>
                          </a:r>
                          <a:r>
                            <a:rPr lang="en-US" sz="1500" b="1" dirty="0">
                              <a:solidFill>
                                <a:srgbClr val="DEFF9A"/>
                              </a:solidFill>
                              <a:effectLst/>
                              <a:latin typeface="Bahnschrift SemiCondensed" panose="020B0502040204020203" pitchFamily="34" charset="0"/>
                            </a:rPr>
                            <a:t> </a:t>
                          </a:r>
                          <a:r>
                            <a:rPr lang="en-US" sz="1500" b="1" dirty="0" err="1">
                              <a:solidFill>
                                <a:srgbClr val="DEFF9A"/>
                              </a:solidFill>
                              <a:effectLst/>
                              <a:latin typeface="Bahnschrift SemiCondensed" panose="020B0502040204020203" pitchFamily="34" charset="0"/>
                            </a:rPr>
                            <a:t>hiệu</a:t>
                          </a:r>
                          <a:endParaRPr lang="en-US" sz="1500" b="1" dirty="0">
                            <a:solidFill>
                              <a:srgbClr val="DEFF9A"/>
                            </a:solidFill>
                            <a:effectLst/>
                            <a:latin typeface="Bahnschrift SemiCondensed" panose="020B0502040204020203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A9C57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1200"/>
                            </a:spcAft>
                          </a:pPr>
                          <a:r>
                            <a:rPr lang="en-US" sz="1500" b="1" dirty="0" err="1">
                              <a:solidFill>
                                <a:srgbClr val="DEFF9A"/>
                              </a:solidFill>
                              <a:effectLst/>
                              <a:latin typeface="Bahnschrift SemiCondensed" panose="020B0502040204020203" pitchFamily="34" charset="0"/>
                            </a:rPr>
                            <a:t>Tên</a:t>
                          </a:r>
                          <a:r>
                            <a:rPr lang="en-US" sz="1500" b="1" dirty="0">
                              <a:solidFill>
                                <a:srgbClr val="DEFF9A"/>
                              </a:solidFill>
                              <a:effectLst/>
                              <a:latin typeface="Bahnschrift SemiCondensed" panose="020B0502040204020203" pitchFamily="34" charset="0"/>
                            </a:rPr>
                            <a:t> </a:t>
                          </a:r>
                          <a:r>
                            <a:rPr lang="en-US" sz="1500" b="1" dirty="0" err="1">
                              <a:solidFill>
                                <a:srgbClr val="DEFF9A"/>
                              </a:solidFill>
                              <a:effectLst/>
                              <a:latin typeface="Bahnschrift SemiCondensed" panose="020B0502040204020203" pitchFamily="34" charset="0"/>
                            </a:rPr>
                            <a:t>gọi</a:t>
                          </a:r>
                          <a:r>
                            <a:rPr lang="en-US" sz="1500" b="1" dirty="0">
                              <a:solidFill>
                                <a:srgbClr val="DEFF9A"/>
                              </a:solidFill>
                              <a:effectLst/>
                              <a:latin typeface="Bahnschrift SemiCondensed" panose="020B0502040204020203" pitchFamily="34" charset="0"/>
                            </a:rPr>
                            <a:t> (</a:t>
                          </a:r>
                          <a:r>
                            <a:rPr lang="en-US" sz="1500" b="1" dirty="0" err="1">
                              <a:solidFill>
                                <a:srgbClr val="DEFF9A"/>
                              </a:solidFill>
                              <a:effectLst/>
                              <a:latin typeface="Bahnschrift SemiCondensed" panose="020B0502040204020203" pitchFamily="34" charset="0"/>
                            </a:rPr>
                            <a:t>Tiếng</a:t>
                          </a:r>
                          <a:r>
                            <a:rPr lang="en-US" sz="1500" b="1" dirty="0">
                              <a:solidFill>
                                <a:srgbClr val="DEFF9A"/>
                              </a:solidFill>
                              <a:effectLst/>
                              <a:latin typeface="Bahnschrift SemiCondensed" panose="020B0502040204020203" pitchFamily="34" charset="0"/>
                            </a:rPr>
                            <a:t> Anh)</a:t>
                          </a:r>
                          <a:endParaRPr lang="en-US" sz="1500" b="1" dirty="0">
                            <a:solidFill>
                              <a:srgbClr val="DEFF9A"/>
                            </a:solidFill>
                            <a:effectLst/>
                            <a:latin typeface="Bahnschrift SemiCondensed" panose="020B0502040204020203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A9C57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1200"/>
                            </a:spcAft>
                          </a:pPr>
                          <a:r>
                            <a:rPr lang="en-US" sz="1500" b="1" dirty="0">
                              <a:solidFill>
                                <a:srgbClr val="DEFF9A"/>
                              </a:solidFill>
                              <a:effectLst/>
                              <a:latin typeface="Bahnschrift SemiCondensed" panose="020B0502040204020203" pitchFamily="34" charset="0"/>
                            </a:rPr>
                            <a:t>Ý </a:t>
                          </a:r>
                          <a:r>
                            <a:rPr lang="en-US" sz="1500" b="1" dirty="0" err="1">
                              <a:solidFill>
                                <a:srgbClr val="DEFF9A"/>
                              </a:solidFill>
                              <a:effectLst/>
                              <a:latin typeface="Bahnschrift SemiCondensed" panose="020B0502040204020203" pitchFamily="34" charset="0"/>
                            </a:rPr>
                            <a:t>nghĩa</a:t>
                          </a:r>
                          <a:r>
                            <a:rPr lang="en-US" sz="1500" b="1" dirty="0">
                              <a:solidFill>
                                <a:srgbClr val="DEFF9A"/>
                              </a:solidFill>
                              <a:effectLst/>
                              <a:latin typeface="Bahnschrift SemiCondensed" panose="020B0502040204020203" pitchFamily="34" charset="0"/>
                            </a:rPr>
                            <a:t> &amp; </a:t>
                          </a:r>
                          <a:r>
                            <a:rPr lang="en-US" sz="1500" b="1" dirty="0" err="1">
                              <a:solidFill>
                                <a:srgbClr val="DEFF9A"/>
                              </a:solidFill>
                              <a:effectLst/>
                              <a:latin typeface="Bahnschrift SemiCondensed" panose="020B0502040204020203" pitchFamily="34" charset="0"/>
                            </a:rPr>
                            <a:t>Giải</a:t>
                          </a:r>
                          <a:r>
                            <a:rPr lang="en-US" sz="1500" b="1" dirty="0">
                              <a:solidFill>
                                <a:srgbClr val="DEFF9A"/>
                              </a:solidFill>
                              <a:effectLst/>
                              <a:latin typeface="Bahnschrift SemiCondensed" panose="020B0502040204020203" pitchFamily="34" charset="0"/>
                            </a:rPr>
                            <a:t> </a:t>
                          </a:r>
                          <a:r>
                            <a:rPr lang="en-US" sz="1500" b="1" dirty="0" err="1">
                              <a:solidFill>
                                <a:srgbClr val="DEFF9A"/>
                              </a:solidFill>
                              <a:effectLst/>
                              <a:latin typeface="Bahnschrift SemiCondensed" panose="020B0502040204020203" pitchFamily="34" charset="0"/>
                            </a:rPr>
                            <a:t>thích</a:t>
                          </a:r>
                          <a:endParaRPr lang="en-US" sz="1500" b="1" dirty="0">
                            <a:solidFill>
                              <a:srgbClr val="DEFF9A"/>
                            </a:solidFill>
                            <a:effectLst/>
                            <a:latin typeface="Bahnschrift SemiCondensed" panose="020B0502040204020203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A9C57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86449696"/>
                      </a:ext>
                    </a:extLst>
                  </a:tr>
                  <a:tr h="513822"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1500" smtClean="0">
                                    <a:solidFill>
                                      <a:schemeClr val="bg1"/>
                                    </a:solidFill>
                                    <a:effectLst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US" sz="1500" dirty="0">
                            <a:solidFill>
                              <a:schemeClr val="bg1"/>
                            </a:solidFill>
                            <a:effectLst/>
                            <a:latin typeface="Bahnschrift SemiLight SemiConde" panose="020B0502040204020203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A9C57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500" dirty="0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Scalar / Input vector</a:t>
                          </a:r>
                          <a:endParaRPr lang="en-US" sz="1500" dirty="0">
                            <a:solidFill>
                              <a:schemeClr val="bg1"/>
                            </a:solidFill>
                            <a:effectLst/>
                            <a:latin typeface="Bahnschrift SemiLight SemiConde" panose="020B0502040204020203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A9C57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500" dirty="0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Biến </a:t>
                          </a:r>
                          <a:r>
                            <a:rPr lang="en-US" sz="1500" dirty="0" err="1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đầu</a:t>
                          </a:r>
                          <a:r>
                            <a:rPr lang="en-US" sz="1500" dirty="0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 </a:t>
                          </a:r>
                          <a:r>
                            <a:rPr lang="en-US" sz="1500" dirty="0" err="1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vào</a:t>
                          </a:r>
                          <a:r>
                            <a:rPr lang="en-US" sz="1500" dirty="0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. </a:t>
                          </a:r>
                          <a:r>
                            <a:rPr lang="en-US" sz="1500" dirty="0" err="1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Thường</a:t>
                          </a:r>
                          <a:r>
                            <a:rPr lang="en-US" sz="1500" dirty="0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 </a:t>
                          </a:r>
                          <a:r>
                            <a:rPr lang="en-US" sz="1500" dirty="0" err="1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là</a:t>
                          </a:r>
                          <a:r>
                            <a:rPr lang="en-US" sz="1500" dirty="0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 </a:t>
                          </a:r>
                          <a:r>
                            <a:rPr lang="en-US" sz="1500" dirty="0" err="1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một</a:t>
                          </a:r>
                          <a:r>
                            <a:rPr lang="en-US" sz="1500" dirty="0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 vector </a:t>
                          </a:r>
                          <a:r>
                            <a:rPr lang="en-US" sz="1500" dirty="0" err="1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đặc</a:t>
                          </a:r>
                          <a:r>
                            <a:rPr lang="en-US" sz="1500" dirty="0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 </a:t>
                          </a:r>
                          <a:r>
                            <a:rPr lang="en-US" sz="1500" dirty="0" err="1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trưng</a:t>
                          </a:r>
                          <a:r>
                            <a:rPr lang="en-US" sz="1500" dirty="0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500">
                                  <a:solidFill>
                                    <a:schemeClr val="bg1"/>
                                  </a:solidFill>
                                  <a:effectLst/>
                                </a:rPr>
                                <m:t>𝑥</m:t>
                              </m:r>
                              <m:r>
                                <a:rPr lang="en-US" sz="1500">
                                  <a:solidFill>
                                    <a:schemeClr val="bg1"/>
                                  </a:solidFill>
                                  <a:effectLst/>
                                </a:rPr>
                                <m:t>∈ </m:t>
                              </m:r>
                              <m:sSup>
                                <m:sSupPr>
                                  <m:ctrlPr>
                                    <a:rPr lang="en-US" sz="1500">
                                      <a:solidFill>
                                        <a:schemeClr val="bg1"/>
                                      </a:solidFill>
                                      <a:effectLst/>
                                    </a:rPr>
                                  </m:ctrlPr>
                                </m:sSupPr>
                                <m:e>
                                  <m:r>
                                    <a:rPr lang="en-US" sz="1500">
                                      <a:solidFill>
                                        <a:schemeClr val="bg1"/>
                                      </a:solidFill>
                                      <a:effectLst/>
                                    </a:rPr>
                                    <m:t>ℝ</m:t>
                                  </m:r>
                                </m:e>
                                <m:sup>
                                  <m:r>
                                    <a:rPr lang="en-US" sz="1500">
                                      <a:solidFill>
                                        <a:schemeClr val="bg1"/>
                                      </a:solidFill>
                                      <a:effectLst/>
                                    </a:rPr>
                                    <m:t>𝑛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1500" dirty="0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 (vector </a:t>
                          </a:r>
                          <a:r>
                            <a:rPr lang="en-US" sz="1500" dirty="0" err="1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cột</a:t>
                          </a:r>
                          <a:r>
                            <a:rPr lang="en-US" sz="1500" dirty="0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).</a:t>
                          </a:r>
                          <a:endParaRPr lang="en-US" sz="1500" dirty="0">
                            <a:solidFill>
                              <a:schemeClr val="bg1"/>
                            </a:solidFill>
                            <a:effectLst/>
                            <a:latin typeface="Bahnschrift SemiLight SemiConde" panose="020B0502040204020203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A9C57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645322878"/>
                      </a:ext>
                    </a:extLst>
                  </a:tr>
                  <a:tr h="500059"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1500" smtClean="0">
                                    <a:solidFill>
                                      <a:schemeClr val="bg1"/>
                                    </a:solidFill>
                                    <a:effectLst/>
                                  </a:rPr>
                                  <m:t>𝒚</m:t>
                                </m:r>
                              </m:oMath>
                            </m:oMathPara>
                          </a14:m>
                          <a:endParaRPr lang="en-US" sz="1500" dirty="0">
                            <a:solidFill>
                              <a:schemeClr val="bg1"/>
                            </a:solidFill>
                            <a:effectLst/>
                            <a:latin typeface="Bahnschrift SemiLight SemiConde" panose="020B0502040204020203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500" dirty="0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True Label / Ground Truth</a:t>
                          </a:r>
                          <a:endParaRPr lang="en-US" sz="1500" dirty="0">
                            <a:solidFill>
                              <a:schemeClr val="bg1"/>
                            </a:solidFill>
                            <a:effectLst/>
                            <a:latin typeface="Bahnschrift SemiLight SemiConde" panose="020B0502040204020203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500" dirty="0" err="1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Giá</a:t>
                          </a:r>
                          <a:r>
                            <a:rPr lang="en-US" sz="1500" dirty="0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 </a:t>
                          </a:r>
                          <a:r>
                            <a:rPr lang="en-US" sz="1500" dirty="0" err="1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trị</a:t>
                          </a:r>
                          <a:r>
                            <a:rPr lang="en-US" sz="1500" dirty="0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 </a:t>
                          </a:r>
                          <a:r>
                            <a:rPr lang="en-US" sz="1500" dirty="0" err="1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thực</a:t>
                          </a:r>
                          <a:r>
                            <a:rPr lang="en-US" sz="1500" dirty="0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 </a:t>
                          </a:r>
                          <a:r>
                            <a:rPr lang="en-US" sz="1500" dirty="0" err="1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tế</a:t>
                          </a:r>
                          <a:r>
                            <a:rPr lang="en-US" sz="1500" dirty="0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 (</a:t>
                          </a:r>
                          <a:r>
                            <a:rPr lang="en-US" sz="1500" dirty="0" err="1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kết</a:t>
                          </a:r>
                          <a:r>
                            <a:rPr lang="en-US" sz="1500" dirty="0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 </a:t>
                          </a:r>
                          <a:r>
                            <a:rPr lang="en-US" sz="1500" dirty="0" err="1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quả</a:t>
                          </a:r>
                          <a:r>
                            <a:rPr lang="en-US" sz="1500" dirty="0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 </a:t>
                          </a:r>
                          <a:r>
                            <a:rPr lang="en-US" sz="1500" dirty="0" err="1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đúng</a:t>
                          </a:r>
                          <a:r>
                            <a:rPr lang="en-US" sz="1500" dirty="0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) </a:t>
                          </a:r>
                          <a:r>
                            <a:rPr lang="en-US" sz="1500" dirty="0" err="1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của</a:t>
                          </a:r>
                          <a:r>
                            <a:rPr lang="en-US" sz="1500" dirty="0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 </a:t>
                          </a:r>
                          <a:r>
                            <a:rPr lang="en-US" sz="1500" dirty="0" err="1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dữ</a:t>
                          </a:r>
                          <a:r>
                            <a:rPr lang="en-US" sz="1500" dirty="0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 </a:t>
                          </a:r>
                          <a:r>
                            <a:rPr lang="en-US" sz="1500" dirty="0" err="1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liệu</a:t>
                          </a:r>
                          <a:r>
                            <a:rPr lang="en-US" sz="1500" dirty="0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.</a:t>
                          </a:r>
                          <a:endParaRPr lang="en-US" sz="1500" dirty="0">
                            <a:solidFill>
                              <a:schemeClr val="bg1"/>
                            </a:solidFill>
                            <a:effectLst/>
                            <a:latin typeface="Bahnschrift SemiLight SemiConde" panose="020B0502040204020203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131738088"/>
                      </a:ext>
                    </a:extLst>
                  </a:tr>
                  <a:tr h="513822"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en-US" sz="1500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500">
                                        <a:solidFill>
                                          <a:schemeClr val="bg1"/>
                                        </a:solidFill>
                                        <a:effectLst/>
                                      </a:rPr>
                                      <m:t>𝒚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1500" dirty="0">
                            <a:solidFill>
                              <a:schemeClr val="bg1"/>
                            </a:solidFill>
                            <a:effectLst/>
                            <a:latin typeface="Bahnschrift SemiLight SemiConde" panose="020B0502040204020203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500" dirty="0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Predicted Value (y-hat)</a:t>
                          </a:r>
                          <a:endParaRPr lang="en-US" sz="1500" dirty="0">
                            <a:solidFill>
                              <a:schemeClr val="bg1"/>
                            </a:solidFill>
                            <a:effectLst/>
                            <a:latin typeface="Bahnschrift SemiLight SemiConde" panose="020B0502040204020203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500" dirty="0" err="1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Giá</a:t>
                          </a:r>
                          <a:r>
                            <a:rPr lang="en-US" sz="1500" dirty="0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 </a:t>
                          </a:r>
                          <a:r>
                            <a:rPr lang="en-US" sz="1500" dirty="0" err="1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trị</a:t>
                          </a:r>
                          <a:r>
                            <a:rPr lang="en-US" sz="1500" dirty="0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 do </a:t>
                          </a:r>
                          <a:r>
                            <a:rPr lang="en-US" sz="1500" dirty="0" err="1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mô</a:t>
                          </a:r>
                          <a:r>
                            <a:rPr lang="en-US" sz="1500" dirty="0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 </a:t>
                          </a:r>
                          <a:r>
                            <a:rPr lang="en-US" sz="1500" dirty="0" err="1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hình</a:t>
                          </a:r>
                          <a:r>
                            <a:rPr lang="en-US" sz="1500" dirty="0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 </a:t>
                          </a:r>
                          <a:r>
                            <a:rPr lang="en-US" sz="1500" dirty="0" err="1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dự</a:t>
                          </a:r>
                          <a:r>
                            <a:rPr lang="en-US" sz="1500" dirty="0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 </a:t>
                          </a:r>
                          <a:r>
                            <a:rPr lang="en-US" sz="1500" dirty="0" err="1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đoán</a:t>
                          </a:r>
                          <a:r>
                            <a:rPr lang="en-US" sz="1500" dirty="0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. </a:t>
                          </a:r>
                          <a:r>
                            <a:rPr lang="en-US" sz="1500" dirty="0" err="1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Mục</a:t>
                          </a:r>
                          <a:r>
                            <a:rPr lang="en-US" sz="1500" dirty="0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 </a:t>
                          </a:r>
                          <a:r>
                            <a:rPr lang="en-US" sz="1500" dirty="0" err="1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tiêu</a:t>
                          </a:r>
                          <a:r>
                            <a:rPr lang="en-US" sz="1500" dirty="0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 </a:t>
                          </a:r>
                          <a:r>
                            <a:rPr lang="en-US" sz="1500" dirty="0" err="1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là</a:t>
                          </a:r>
                          <a:r>
                            <a:rPr lang="en-US" sz="1500" dirty="0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 </a:t>
                          </a:r>
                          <a:r>
                            <a:rPr lang="en-US" sz="1500" dirty="0" err="1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làm</a:t>
                          </a:r>
                          <a:r>
                            <a:rPr lang="en-US" sz="1500" dirty="0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 </a:t>
                          </a:r>
                          <a:r>
                            <a:rPr lang="en-US" sz="1500" dirty="0" err="1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sao</a:t>
                          </a:r>
                          <a:r>
                            <a:rPr lang="en-US" sz="1500" dirty="0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 </a:t>
                          </a:r>
                          <a:r>
                            <a:rPr lang="en-US" sz="1500" dirty="0" err="1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cho</a:t>
                          </a:r>
                          <a:r>
                            <a:rPr lang="en-US" sz="1500" dirty="0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̂"/>
                                  <m:ctrlPr>
                                    <a:rPr lang="en-US" sz="1500">
                                      <a:solidFill>
                                        <a:schemeClr val="bg1"/>
                                      </a:solidFill>
                                      <a:effectLst/>
                                    </a:rPr>
                                  </m:ctrlPr>
                                </m:accPr>
                                <m:e>
                                  <m:r>
                                    <a:rPr lang="en-US" sz="1500">
                                      <a:solidFill>
                                        <a:schemeClr val="bg1"/>
                                      </a:solidFill>
                                      <a:effectLst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en-US" sz="1500">
                                  <a:solidFill>
                                    <a:schemeClr val="bg1"/>
                                  </a:solidFill>
                                  <a:effectLst/>
                                </a:rPr>
                                <m:t> ≈</m:t>
                              </m:r>
                              <m:r>
                                <a:rPr lang="en-US" sz="1500">
                                  <a:solidFill>
                                    <a:schemeClr val="bg1"/>
                                  </a:solidFill>
                                  <a:effectLst/>
                                </a:rPr>
                                <m:t>𝑦</m:t>
                              </m:r>
                            </m:oMath>
                          </a14:m>
                          <a:endParaRPr lang="en-US" sz="1500" dirty="0">
                            <a:solidFill>
                              <a:schemeClr val="bg1"/>
                            </a:solidFill>
                            <a:effectLst/>
                            <a:latin typeface="Bahnschrift SemiLight SemiConde" panose="020B0502040204020203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464725969"/>
                      </a:ext>
                    </a:extLst>
                  </a:tr>
                  <a:tr h="506481"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1500" smtClean="0">
                                    <a:solidFill>
                                      <a:schemeClr val="bg1"/>
                                    </a:solidFill>
                                    <a:effectLst/>
                                  </a:rPr>
                                  <m:t>𝑿</m:t>
                                </m:r>
                              </m:oMath>
                            </m:oMathPara>
                          </a14:m>
                          <a:endParaRPr lang="en-US" sz="1500" dirty="0">
                            <a:solidFill>
                              <a:schemeClr val="bg1"/>
                            </a:solidFill>
                            <a:effectLst/>
                            <a:latin typeface="Bahnschrift SemiLight SemiConde" panose="020B0502040204020203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500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Input Matrix</a:t>
                          </a:r>
                          <a:endParaRPr lang="en-US" sz="1500">
                            <a:solidFill>
                              <a:schemeClr val="bg1"/>
                            </a:solidFill>
                            <a:effectLst/>
                            <a:latin typeface="Bahnschrift SemiLight SemiConde" panose="020B0502040204020203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500" dirty="0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Ma </a:t>
                          </a:r>
                          <a:r>
                            <a:rPr lang="en-US" sz="1500" dirty="0" err="1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trận</a:t>
                          </a:r>
                          <a:r>
                            <a:rPr lang="en-US" sz="1500" dirty="0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 </a:t>
                          </a:r>
                          <a:r>
                            <a:rPr lang="en-US" sz="1500" dirty="0" err="1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dữ</a:t>
                          </a:r>
                          <a:r>
                            <a:rPr lang="en-US" sz="1500" dirty="0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 </a:t>
                          </a:r>
                          <a:r>
                            <a:rPr lang="en-US" sz="1500" dirty="0" err="1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liệu</a:t>
                          </a:r>
                          <a:r>
                            <a:rPr lang="en-US" sz="1500" dirty="0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 </a:t>
                          </a:r>
                          <a:r>
                            <a:rPr lang="en-US" sz="1500" dirty="0" err="1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đầu</a:t>
                          </a:r>
                          <a:r>
                            <a:rPr lang="en-US" sz="1500" dirty="0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 </a:t>
                          </a:r>
                          <a:r>
                            <a:rPr lang="en-US" sz="1500" dirty="0" err="1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vào</a:t>
                          </a:r>
                          <a:r>
                            <a:rPr lang="en-US" sz="1500" dirty="0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, </a:t>
                          </a:r>
                          <a:r>
                            <a:rPr lang="en-US" sz="1500" dirty="0" err="1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thường</a:t>
                          </a:r>
                          <a:r>
                            <a:rPr lang="en-US" sz="1500" dirty="0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 </a:t>
                          </a:r>
                          <a:r>
                            <a:rPr lang="en-US" sz="1500" dirty="0" err="1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có</a:t>
                          </a:r>
                          <a:r>
                            <a:rPr lang="en-US" sz="1500" dirty="0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 </a:t>
                          </a:r>
                          <a:r>
                            <a:rPr lang="en-US" sz="1500" dirty="0" err="1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kích</a:t>
                          </a:r>
                          <a:r>
                            <a:rPr lang="en-US" sz="1500" dirty="0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 </a:t>
                          </a:r>
                          <a:r>
                            <a:rPr lang="en-US" sz="1500" dirty="0" err="1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thước</a:t>
                          </a:r>
                          <a:r>
                            <a:rPr lang="en-US" sz="1500" dirty="0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500">
                                  <a:solidFill>
                                    <a:schemeClr val="bg1"/>
                                  </a:solidFill>
                                  <a:effectLst/>
                                </a:rPr>
                                <m:t>𝑚</m:t>
                              </m:r>
                              <m:r>
                                <a:rPr lang="en-US" sz="1500">
                                  <a:solidFill>
                                    <a:schemeClr val="bg1"/>
                                  </a:solidFill>
                                  <a:effectLst/>
                                </a:rPr>
                                <m:t> ×</m:t>
                              </m:r>
                              <m:r>
                                <a:rPr lang="en-US" sz="1500">
                                  <a:solidFill>
                                    <a:schemeClr val="bg1"/>
                                  </a:solidFill>
                                  <a:effectLst/>
                                </a:rPr>
                                <m:t>𝑛</m:t>
                              </m:r>
                            </m:oMath>
                          </a14:m>
                          <a:r>
                            <a:rPr lang="en-US" sz="1500" dirty="0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 (</a:t>
                          </a:r>
                          <a14:m>
                            <m:oMath xmlns:m="http://schemas.openxmlformats.org/officeDocument/2006/math">
                              <m:r>
                                <a:rPr lang="en-US" sz="1500">
                                  <a:solidFill>
                                    <a:schemeClr val="bg1"/>
                                  </a:solidFill>
                                  <a:effectLst/>
                                </a:rPr>
                                <m:t>𝑚</m:t>
                              </m:r>
                            </m:oMath>
                          </a14:m>
                          <a:r>
                            <a:rPr lang="en-US" sz="1500" dirty="0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 </a:t>
                          </a:r>
                          <a:r>
                            <a:rPr lang="en-US" sz="1500" dirty="0" err="1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mẫu</a:t>
                          </a:r>
                          <a:r>
                            <a:rPr lang="en-US" sz="1500" dirty="0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en-US" sz="1500">
                                  <a:solidFill>
                                    <a:schemeClr val="bg1"/>
                                  </a:solidFill>
                                  <a:effectLst/>
                                </a:rPr>
                                <m:t>𝑛</m:t>
                              </m:r>
                            </m:oMath>
                          </a14:m>
                          <a:r>
                            <a:rPr lang="en-US" sz="1500" dirty="0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 </a:t>
                          </a:r>
                          <a:r>
                            <a:rPr lang="en-US" sz="1500" dirty="0" err="1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đặc</a:t>
                          </a:r>
                          <a:r>
                            <a:rPr lang="en-US" sz="1500" dirty="0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 </a:t>
                          </a:r>
                          <a:r>
                            <a:rPr lang="en-US" sz="1500" dirty="0" err="1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trưng</a:t>
                          </a:r>
                          <a:r>
                            <a:rPr lang="en-US" sz="1500" dirty="0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).</a:t>
                          </a:r>
                          <a:endParaRPr lang="en-US" sz="1500" dirty="0">
                            <a:solidFill>
                              <a:schemeClr val="bg1"/>
                            </a:solidFill>
                            <a:effectLst/>
                            <a:latin typeface="Bahnschrift SemiLight SemiConde" panose="020B0502040204020203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923173382"/>
                      </a:ext>
                    </a:extLst>
                  </a:tr>
                  <a:tr h="506481"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1500" smtClean="0">
                                    <a:solidFill>
                                      <a:schemeClr val="bg1"/>
                                    </a:solidFill>
                                    <a:effectLst/>
                                  </a:rPr>
                                  <m:t>𝔀</m:t>
                                </m:r>
                                <m:r>
                                  <m:rPr>
                                    <m:nor/>
                                  </m:rPr>
                                  <a:rPr lang="en-US" sz="1500">
                                    <a:solidFill>
                                      <a:schemeClr val="bg1"/>
                                    </a:solidFill>
                                    <a:effectLst/>
                                    <a:latin typeface="Bahnschrift SemiLight SemiConde" panose="020B0502040204020203" pitchFamily="34" charset="0"/>
                                  </a:rPr>
                                  <m:t>/</m:t>
                                </m:r>
                                <m:r>
                                  <a:rPr lang="en-US" sz="1500">
                                    <a:solidFill>
                                      <a:schemeClr val="bg1"/>
                                    </a:solidFill>
                                    <a:effectLst/>
                                  </a:rPr>
                                  <m:t>𝜽</m:t>
                                </m:r>
                              </m:oMath>
                            </m:oMathPara>
                          </a14:m>
                          <a:endParaRPr lang="en-US" sz="1500" dirty="0">
                            <a:solidFill>
                              <a:schemeClr val="bg1"/>
                            </a:solidFill>
                            <a:effectLst/>
                            <a:latin typeface="Bahnschrift SemiLight SemiConde" panose="020B0502040204020203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500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Weights / Parameters</a:t>
                          </a:r>
                          <a:endParaRPr lang="en-US" sz="1500">
                            <a:solidFill>
                              <a:schemeClr val="bg1"/>
                            </a:solidFill>
                            <a:effectLst/>
                            <a:latin typeface="Bahnschrift SemiLight SemiConde" panose="020B0502040204020203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500" dirty="0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Trọng </a:t>
                          </a:r>
                          <a:r>
                            <a:rPr lang="en-US" sz="1500" dirty="0" err="1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số</a:t>
                          </a:r>
                          <a:r>
                            <a:rPr lang="en-US" sz="1500" dirty="0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 (</a:t>
                          </a:r>
                          <a:r>
                            <a:rPr lang="en-US" sz="1500" dirty="0" err="1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hoặc</a:t>
                          </a:r>
                          <a:r>
                            <a:rPr lang="en-US" sz="1500" dirty="0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 </a:t>
                          </a:r>
                          <a:r>
                            <a:rPr lang="en-US" sz="1500" dirty="0" err="1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tham</a:t>
                          </a:r>
                          <a:r>
                            <a:rPr lang="en-US" sz="1500" dirty="0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 </a:t>
                          </a:r>
                          <a:r>
                            <a:rPr lang="en-US" sz="1500" dirty="0" err="1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số</a:t>
                          </a:r>
                          <a:r>
                            <a:rPr lang="en-US" sz="1500" dirty="0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500">
                                  <a:solidFill>
                                    <a:schemeClr val="bg1"/>
                                  </a:solidFill>
                                  <a:effectLst/>
                                </a:rPr>
                                <m:t>𝜃</m:t>
                              </m:r>
                            </m:oMath>
                          </a14:m>
                          <a:r>
                            <a:rPr lang="en-US" sz="1500" dirty="0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). </a:t>
                          </a:r>
                          <a:r>
                            <a:rPr lang="en-US" sz="1500" dirty="0" err="1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Đây</a:t>
                          </a:r>
                          <a:r>
                            <a:rPr lang="en-US" sz="1500" dirty="0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 </a:t>
                          </a:r>
                          <a:r>
                            <a:rPr lang="en-US" sz="1500" dirty="0" err="1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là</a:t>
                          </a:r>
                          <a:r>
                            <a:rPr lang="en-US" sz="1500" dirty="0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 </a:t>
                          </a:r>
                          <a:r>
                            <a:rPr lang="en-US" sz="1500" dirty="0" err="1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cái</a:t>
                          </a:r>
                          <a:r>
                            <a:rPr lang="en-US" sz="1500" dirty="0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 </a:t>
                          </a:r>
                          <a:r>
                            <a:rPr lang="en-US" sz="1500" dirty="0" err="1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máy</a:t>
                          </a:r>
                          <a:r>
                            <a:rPr lang="en-US" sz="1500" dirty="0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 </a:t>
                          </a:r>
                          <a:r>
                            <a:rPr lang="en-US" sz="1500" dirty="0" err="1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cần</a:t>
                          </a:r>
                          <a:r>
                            <a:rPr lang="en-US" sz="1500" dirty="0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 </a:t>
                          </a:r>
                          <a:r>
                            <a:rPr lang="en-US" sz="1500" dirty="0" err="1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tìm</a:t>
                          </a:r>
                          <a:r>
                            <a:rPr lang="en-US" sz="1500" dirty="0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 </a:t>
                          </a:r>
                          <a:r>
                            <a:rPr lang="en-US" sz="1500" dirty="0" err="1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để</a:t>
                          </a:r>
                          <a:r>
                            <a:rPr lang="en-US" sz="1500" dirty="0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 </a:t>
                          </a:r>
                          <a:r>
                            <a:rPr lang="en-US" sz="1500" dirty="0" err="1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tối</a:t>
                          </a:r>
                          <a:r>
                            <a:rPr lang="en-US" sz="1500" dirty="0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 </a:t>
                          </a:r>
                          <a:r>
                            <a:rPr lang="en-US" sz="1500" dirty="0" err="1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ưu</a:t>
                          </a:r>
                          <a:r>
                            <a:rPr lang="en-US" sz="1500" dirty="0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 </a:t>
                          </a:r>
                          <a:r>
                            <a:rPr lang="en-US" sz="1500" dirty="0" err="1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hóa</a:t>
                          </a:r>
                          <a:r>
                            <a:rPr lang="en-US" sz="1500" dirty="0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.</a:t>
                          </a:r>
                          <a:endParaRPr lang="en-US" sz="1500" dirty="0">
                            <a:solidFill>
                              <a:schemeClr val="bg1"/>
                            </a:solidFill>
                            <a:effectLst/>
                            <a:latin typeface="Bahnschrift SemiLight SemiConde" panose="020B0502040204020203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15085663"/>
                      </a:ext>
                    </a:extLst>
                  </a:tr>
                  <a:tr h="513822"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1500" smtClean="0">
                                    <a:solidFill>
                                      <a:schemeClr val="bg1"/>
                                    </a:solidFill>
                                    <a:effectLst/>
                                  </a:rPr>
                                  <m:t>𝒃</m:t>
                                </m:r>
                              </m:oMath>
                            </m:oMathPara>
                          </a14:m>
                          <a:endParaRPr lang="en-US" sz="1500" dirty="0">
                            <a:solidFill>
                              <a:schemeClr val="bg1"/>
                            </a:solidFill>
                            <a:effectLst/>
                            <a:latin typeface="Bahnschrift SemiLight SemiConde" panose="020B0502040204020203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500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Bias</a:t>
                          </a:r>
                          <a:endParaRPr lang="en-US" sz="1500">
                            <a:solidFill>
                              <a:schemeClr val="bg1"/>
                            </a:solidFill>
                            <a:effectLst/>
                            <a:latin typeface="Bahnschrift SemiLight SemiConde" panose="020B0502040204020203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500" dirty="0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Hệ </a:t>
                          </a:r>
                          <a:r>
                            <a:rPr lang="en-US" sz="1500" dirty="0" err="1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số</a:t>
                          </a:r>
                          <a:r>
                            <a:rPr lang="en-US" sz="1500" dirty="0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 </a:t>
                          </a:r>
                          <a:r>
                            <a:rPr lang="en-US" sz="1500" dirty="0" err="1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chệch</a:t>
                          </a:r>
                          <a:r>
                            <a:rPr lang="en-US" sz="1500" dirty="0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 (</a:t>
                          </a:r>
                          <a:r>
                            <a:rPr lang="en-US" sz="1500" dirty="0" err="1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tương</a:t>
                          </a:r>
                          <a:r>
                            <a:rPr lang="en-US" sz="1500" dirty="0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 </a:t>
                          </a:r>
                          <a:r>
                            <a:rPr lang="en-US" sz="1500" dirty="0" err="1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tự</a:t>
                          </a:r>
                          <a:r>
                            <a:rPr lang="en-US" sz="1500" dirty="0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500">
                                  <a:solidFill>
                                    <a:schemeClr val="bg1"/>
                                  </a:solidFill>
                                  <a:effectLst/>
                                </a:rPr>
                                <m:t>𝑐</m:t>
                              </m:r>
                            </m:oMath>
                          </a14:m>
                          <a:r>
                            <a:rPr lang="en-US" sz="1500" dirty="0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 </a:t>
                          </a:r>
                          <a:r>
                            <a:rPr lang="en-US" sz="1500" dirty="0" err="1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trong</a:t>
                          </a:r>
                          <a:r>
                            <a:rPr lang="en-US" sz="1500" dirty="0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 </a:t>
                          </a:r>
                          <a:r>
                            <a:rPr lang="en-US" sz="1500" dirty="0" err="1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phương</a:t>
                          </a:r>
                          <a:r>
                            <a:rPr lang="en-US" sz="1500" dirty="0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 </a:t>
                          </a:r>
                          <a:r>
                            <a:rPr lang="en-US" sz="1500" dirty="0" err="1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trình</a:t>
                          </a:r>
                          <a:r>
                            <a:rPr lang="en-US" sz="1500" dirty="0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 </a:t>
                          </a:r>
                          <a:r>
                            <a:rPr lang="en-US" sz="1500" dirty="0" err="1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đường</a:t>
                          </a:r>
                          <a:r>
                            <a:rPr lang="en-US" sz="1500" dirty="0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 </a:t>
                          </a:r>
                          <a:r>
                            <a:rPr lang="en-US" sz="1500" dirty="0" err="1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thẳng</a:t>
                          </a:r>
                          <a:r>
                            <a:rPr lang="en-US" sz="1500" dirty="0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500">
                                  <a:solidFill>
                                    <a:schemeClr val="bg1"/>
                                  </a:solidFill>
                                  <a:effectLst/>
                                </a:rPr>
                                <m:t>𝑦</m:t>
                              </m:r>
                              <m:r>
                                <a:rPr lang="en-US" sz="1500">
                                  <a:solidFill>
                                    <a:schemeClr val="bg1"/>
                                  </a:solidFill>
                                  <a:effectLst/>
                                </a:rPr>
                                <m:t>=</m:t>
                              </m:r>
                              <m:r>
                                <a:rPr lang="en-US" sz="1500">
                                  <a:solidFill>
                                    <a:schemeClr val="bg1"/>
                                  </a:solidFill>
                                  <a:effectLst/>
                                </a:rPr>
                                <m:t>𝑎𝑥</m:t>
                              </m:r>
                              <m:r>
                                <a:rPr lang="en-US" sz="1500">
                                  <a:solidFill>
                                    <a:schemeClr val="bg1"/>
                                  </a:solidFill>
                                  <a:effectLst/>
                                </a:rPr>
                                <m:t>+</m:t>
                              </m:r>
                              <m:r>
                                <a:rPr lang="en-US" sz="1500">
                                  <a:solidFill>
                                    <a:schemeClr val="bg1"/>
                                  </a:solidFill>
                                  <a:effectLst/>
                                </a:rPr>
                                <m:t>𝑐</m:t>
                              </m:r>
                            </m:oMath>
                          </a14:m>
                          <a:endParaRPr lang="en-US" sz="1500" dirty="0">
                            <a:solidFill>
                              <a:schemeClr val="bg1"/>
                            </a:solidFill>
                            <a:effectLst/>
                            <a:latin typeface="Bahnschrift SemiLight SemiConde" panose="020B0502040204020203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98361724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8" name="Table 37">
                <a:extLst>
                  <a:ext uri="{FF2B5EF4-FFF2-40B4-BE49-F238E27FC236}">
                    <a16:creationId xmlns:a16="http://schemas.microsoft.com/office/drawing/2014/main" id="{F59468C0-A65E-4900-A5F4-F621CCD20C1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85636742"/>
                  </p:ext>
                </p:extLst>
              </p:nvPr>
            </p:nvGraphicFramePr>
            <p:xfrm>
              <a:off x="476251" y="1938733"/>
              <a:ext cx="11239498" cy="3480684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1826732">
                      <a:extLst>
                        <a:ext uri="{9D8B030D-6E8A-4147-A177-3AD203B41FA5}">
                          <a16:colId xmlns:a16="http://schemas.microsoft.com/office/drawing/2014/main" val="2362174861"/>
                        </a:ext>
                      </a:extLst>
                    </a:gridCol>
                    <a:gridCol w="2851261">
                      <a:extLst>
                        <a:ext uri="{9D8B030D-6E8A-4147-A177-3AD203B41FA5}">
                          <a16:colId xmlns:a16="http://schemas.microsoft.com/office/drawing/2014/main" val="3095350347"/>
                        </a:ext>
                      </a:extLst>
                    </a:gridCol>
                    <a:gridCol w="6561505">
                      <a:extLst>
                        <a:ext uri="{9D8B030D-6E8A-4147-A177-3AD203B41FA5}">
                          <a16:colId xmlns:a16="http://schemas.microsoft.com/office/drawing/2014/main" val="2554392170"/>
                        </a:ext>
                      </a:extLst>
                    </a:gridCol>
                  </a:tblGrid>
                  <a:tr h="426197"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1200"/>
                            </a:spcAft>
                          </a:pPr>
                          <a:r>
                            <a:rPr lang="en-US" sz="1500" b="1" dirty="0" err="1">
                              <a:solidFill>
                                <a:srgbClr val="DEFF9A"/>
                              </a:solidFill>
                              <a:effectLst/>
                              <a:latin typeface="Bahnschrift SemiCondensed" panose="020B0502040204020203" pitchFamily="34" charset="0"/>
                            </a:rPr>
                            <a:t>Ký</a:t>
                          </a:r>
                          <a:r>
                            <a:rPr lang="en-US" sz="1500" b="1" dirty="0">
                              <a:solidFill>
                                <a:srgbClr val="DEFF9A"/>
                              </a:solidFill>
                              <a:effectLst/>
                              <a:latin typeface="Bahnschrift SemiCondensed" panose="020B0502040204020203" pitchFamily="34" charset="0"/>
                            </a:rPr>
                            <a:t> </a:t>
                          </a:r>
                          <a:r>
                            <a:rPr lang="en-US" sz="1500" b="1" dirty="0" err="1">
                              <a:solidFill>
                                <a:srgbClr val="DEFF9A"/>
                              </a:solidFill>
                              <a:effectLst/>
                              <a:latin typeface="Bahnschrift SemiCondensed" panose="020B0502040204020203" pitchFamily="34" charset="0"/>
                            </a:rPr>
                            <a:t>hiệu</a:t>
                          </a:r>
                          <a:endParaRPr lang="en-US" sz="1500" b="1" dirty="0">
                            <a:solidFill>
                              <a:srgbClr val="DEFF9A"/>
                            </a:solidFill>
                            <a:effectLst/>
                            <a:latin typeface="Bahnschrift SemiCondensed" panose="020B0502040204020203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A9C57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1200"/>
                            </a:spcAft>
                          </a:pPr>
                          <a:r>
                            <a:rPr lang="en-US" sz="1500" b="1" dirty="0" err="1">
                              <a:solidFill>
                                <a:srgbClr val="DEFF9A"/>
                              </a:solidFill>
                              <a:effectLst/>
                              <a:latin typeface="Bahnschrift SemiCondensed" panose="020B0502040204020203" pitchFamily="34" charset="0"/>
                            </a:rPr>
                            <a:t>Tên</a:t>
                          </a:r>
                          <a:r>
                            <a:rPr lang="en-US" sz="1500" b="1" dirty="0">
                              <a:solidFill>
                                <a:srgbClr val="DEFF9A"/>
                              </a:solidFill>
                              <a:effectLst/>
                              <a:latin typeface="Bahnschrift SemiCondensed" panose="020B0502040204020203" pitchFamily="34" charset="0"/>
                            </a:rPr>
                            <a:t> </a:t>
                          </a:r>
                          <a:r>
                            <a:rPr lang="en-US" sz="1500" b="1" dirty="0" err="1">
                              <a:solidFill>
                                <a:srgbClr val="DEFF9A"/>
                              </a:solidFill>
                              <a:effectLst/>
                              <a:latin typeface="Bahnschrift SemiCondensed" panose="020B0502040204020203" pitchFamily="34" charset="0"/>
                            </a:rPr>
                            <a:t>gọi</a:t>
                          </a:r>
                          <a:r>
                            <a:rPr lang="en-US" sz="1500" b="1" dirty="0">
                              <a:solidFill>
                                <a:srgbClr val="DEFF9A"/>
                              </a:solidFill>
                              <a:effectLst/>
                              <a:latin typeface="Bahnschrift SemiCondensed" panose="020B0502040204020203" pitchFamily="34" charset="0"/>
                            </a:rPr>
                            <a:t> (</a:t>
                          </a:r>
                          <a:r>
                            <a:rPr lang="en-US" sz="1500" b="1" dirty="0" err="1">
                              <a:solidFill>
                                <a:srgbClr val="DEFF9A"/>
                              </a:solidFill>
                              <a:effectLst/>
                              <a:latin typeface="Bahnschrift SemiCondensed" panose="020B0502040204020203" pitchFamily="34" charset="0"/>
                            </a:rPr>
                            <a:t>Tiếng</a:t>
                          </a:r>
                          <a:r>
                            <a:rPr lang="en-US" sz="1500" b="1" dirty="0">
                              <a:solidFill>
                                <a:srgbClr val="DEFF9A"/>
                              </a:solidFill>
                              <a:effectLst/>
                              <a:latin typeface="Bahnschrift SemiCondensed" panose="020B0502040204020203" pitchFamily="34" charset="0"/>
                            </a:rPr>
                            <a:t> Anh)</a:t>
                          </a:r>
                          <a:endParaRPr lang="en-US" sz="1500" b="1" dirty="0">
                            <a:solidFill>
                              <a:srgbClr val="DEFF9A"/>
                            </a:solidFill>
                            <a:effectLst/>
                            <a:latin typeface="Bahnschrift SemiCondensed" panose="020B0502040204020203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A9C57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1200"/>
                            </a:spcAft>
                          </a:pPr>
                          <a:r>
                            <a:rPr lang="en-US" sz="1500" b="1" dirty="0">
                              <a:solidFill>
                                <a:srgbClr val="DEFF9A"/>
                              </a:solidFill>
                              <a:effectLst/>
                              <a:latin typeface="Bahnschrift SemiCondensed" panose="020B0502040204020203" pitchFamily="34" charset="0"/>
                            </a:rPr>
                            <a:t>Ý </a:t>
                          </a:r>
                          <a:r>
                            <a:rPr lang="en-US" sz="1500" b="1" dirty="0" err="1">
                              <a:solidFill>
                                <a:srgbClr val="DEFF9A"/>
                              </a:solidFill>
                              <a:effectLst/>
                              <a:latin typeface="Bahnschrift SemiCondensed" panose="020B0502040204020203" pitchFamily="34" charset="0"/>
                            </a:rPr>
                            <a:t>nghĩa</a:t>
                          </a:r>
                          <a:r>
                            <a:rPr lang="en-US" sz="1500" b="1" dirty="0">
                              <a:solidFill>
                                <a:srgbClr val="DEFF9A"/>
                              </a:solidFill>
                              <a:effectLst/>
                              <a:latin typeface="Bahnschrift SemiCondensed" panose="020B0502040204020203" pitchFamily="34" charset="0"/>
                            </a:rPr>
                            <a:t> &amp; </a:t>
                          </a:r>
                          <a:r>
                            <a:rPr lang="en-US" sz="1500" b="1" dirty="0" err="1">
                              <a:solidFill>
                                <a:srgbClr val="DEFF9A"/>
                              </a:solidFill>
                              <a:effectLst/>
                              <a:latin typeface="Bahnschrift SemiCondensed" panose="020B0502040204020203" pitchFamily="34" charset="0"/>
                            </a:rPr>
                            <a:t>Giải</a:t>
                          </a:r>
                          <a:r>
                            <a:rPr lang="en-US" sz="1500" b="1" dirty="0">
                              <a:solidFill>
                                <a:srgbClr val="DEFF9A"/>
                              </a:solidFill>
                              <a:effectLst/>
                              <a:latin typeface="Bahnschrift SemiCondensed" panose="020B0502040204020203" pitchFamily="34" charset="0"/>
                            </a:rPr>
                            <a:t> </a:t>
                          </a:r>
                          <a:r>
                            <a:rPr lang="en-US" sz="1500" b="1" dirty="0" err="1">
                              <a:solidFill>
                                <a:srgbClr val="DEFF9A"/>
                              </a:solidFill>
                              <a:effectLst/>
                              <a:latin typeface="Bahnschrift SemiCondensed" panose="020B0502040204020203" pitchFamily="34" charset="0"/>
                            </a:rPr>
                            <a:t>thích</a:t>
                          </a:r>
                          <a:endParaRPr lang="en-US" sz="1500" b="1" dirty="0">
                            <a:solidFill>
                              <a:srgbClr val="DEFF9A"/>
                            </a:solidFill>
                            <a:effectLst/>
                            <a:latin typeface="Bahnschrift SemiCondensed" panose="020B0502040204020203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A9C57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86449696"/>
                      </a:ext>
                    </a:extLst>
                  </a:tr>
                  <a:tr h="513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A9C57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83333" r="-515333" b="-4976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500" dirty="0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Scalar / Input vector</a:t>
                          </a:r>
                          <a:endParaRPr lang="en-US" sz="1500" dirty="0">
                            <a:solidFill>
                              <a:schemeClr val="bg1"/>
                            </a:solidFill>
                            <a:effectLst/>
                            <a:latin typeface="Bahnschrift SemiLight SemiConde" panose="020B0502040204020203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A9C57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A9C57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71216" t="-83333" r="-186" b="-4976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45322878"/>
                      </a:ext>
                    </a:extLst>
                  </a:tr>
                  <a:tr h="50005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185542" r="-515333" b="-4036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500" dirty="0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True Label / Ground Truth</a:t>
                          </a:r>
                          <a:endParaRPr lang="en-US" sz="1500" dirty="0">
                            <a:solidFill>
                              <a:schemeClr val="bg1"/>
                            </a:solidFill>
                            <a:effectLst/>
                            <a:latin typeface="Bahnschrift SemiLight SemiConde" panose="020B0502040204020203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500" dirty="0" err="1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Giá</a:t>
                          </a:r>
                          <a:r>
                            <a:rPr lang="en-US" sz="1500" dirty="0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 </a:t>
                          </a:r>
                          <a:r>
                            <a:rPr lang="en-US" sz="1500" dirty="0" err="1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trị</a:t>
                          </a:r>
                          <a:r>
                            <a:rPr lang="en-US" sz="1500" dirty="0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 </a:t>
                          </a:r>
                          <a:r>
                            <a:rPr lang="en-US" sz="1500" dirty="0" err="1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thực</a:t>
                          </a:r>
                          <a:r>
                            <a:rPr lang="en-US" sz="1500" dirty="0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 </a:t>
                          </a:r>
                          <a:r>
                            <a:rPr lang="en-US" sz="1500" dirty="0" err="1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tế</a:t>
                          </a:r>
                          <a:r>
                            <a:rPr lang="en-US" sz="1500" dirty="0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 (</a:t>
                          </a:r>
                          <a:r>
                            <a:rPr lang="en-US" sz="1500" dirty="0" err="1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kết</a:t>
                          </a:r>
                          <a:r>
                            <a:rPr lang="en-US" sz="1500" dirty="0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 </a:t>
                          </a:r>
                          <a:r>
                            <a:rPr lang="en-US" sz="1500" dirty="0" err="1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quả</a:t>
                          </a:r>
                          <a:r>
                            <a:rPr lang="en-US" sz="1500" dirty="0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 </a:t>
                          </a:r>
                          <a:r>
                            <a:rPr lang="en-US" sz="1500" dirty="0" err="1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đúng</a:t>
                          </a:r>
                          <a:r>
                            <a:rPr lang="en-US" sz="1500" dirty="0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) </a:t>
                          </a:r>
                          <a:r>
                            <a:rPr lang="en-US" sz="1500" dirty="0" err="1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của</a:t>
                          </a:r>
                          <a:r>
                            <a:rPr lang="en-US" sz="1500" dirty="0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 </a:t>
                          </a:r>
                          <a:r>
                            <a:rPr lang="en-US" sz="1500" dirty="0" err="1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dữ</a:t>
                          </a:r>
                          <a:r>
                            <a:rPr lang="en-US" sz="1500" dirty="0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 </a:t>
                          </a:r>
                          <a:r>
                            <a:rPr lang="en-US" sz="1500" dirty="0" err="1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liệu</a:t>
                          </a:r>
                          <a:r>
                            <a:rPr lang="en-US" sz="1500" dirty="0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.</a:t>
                          </a:r>
                          <a:endParaRPr lang="en-US" sz="1500" dirty="0">
                            <a:solidFill>
                              <a:schemeClr val="bg1"/>
                            </a:solidFill>
                            <a:effectLst/>
                            <a:latin typeface="Bahnschrift SemiLight SemiConde" panose="020B0502040204020203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131738088"/>
                      </a:ext>
                    </a:extLst>
                  </a:tr>
                  <a:tr h="513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282143" r="-515333" b="-2988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500" dirty="0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Predicted Value (y-hat)</a:t>
                          </a:r>
                          <a:endParaRPr lang="en-US" sz="1500" dirty="0">
                            <a:solidFill>
                              <a:schemeClr val="bg1"/>
                            </a:solidFill>
                            <a:effectLst/>
                            <a:latin typeface="Bahnschrift SemiLight SemiConde" panose="020B0502040204020203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71216" t="-282143" r="-186" b="-29881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64725969"/>
                      </a:ext>
                    </a:extLst>
                  </a:tr>
                  <a:tr h="50648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386747" r="-515333" b="-2024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500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Input Matrix</a:t>
                          </a:r>
                          <a:endParaRPr lang="en-US" sz="1500">
                            <a:solidFill>
                              <a:schemeClr val="bg1"/>
                            </a:solidFill>
                            <a:effectLst/>
                            <a:latin typeface="Bahnschrift SemiLight SemiConde" panose="020B0502040204020203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71216" t="-386747" r="-186" b="-20241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23173382"/>
                      </a:ext>
                    </a:extLst>
                  </a:tr>
                  <a:tr h="50648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480952" r="-515333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500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Weights / Parameters</a:t>
                          </a:r>
                          <a:endParaRPr lang="en-US" sz="1500">
                            <a:solidFill>
                              <a:schemeClr val="bg1"/>
                            </a:solidFill>
                            <a:effectLst/>
                            <a:latin typeface="Bahnschrift SemiLight SemiConde" panose="020B0502040204020203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71216" t="-480952" r="-186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15085663"/>
                      </a:ext>
                    </a:extLst>
                  </a:tr>
                  <a:tr h="513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580952" r="-515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500">
                              <a:solidFill>
                                <a:schemeClr val="bg1"/>
                              </a:solidFill>
                              <a:effectLst/>
                              <a:latin typeface="Bahnschrift SemiLight SemiConde" panose="020B0502040204020203" pitchFamily="34" charset="0"/>
                            </a:rPr>
                            <a:t>Bias</a:t>
                          </a:r>
                          <a:endParaRPr lang="en-US" sz="1500">
                            <a:solidFill>
                              <a:schemeClr val="bg1"/>
                            </a:solidFill>
                            <a:effectLst/>
                            <a:latin typeface="Bahnschrift SemiLight SemiConde" panose="020B0502040204020203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71216" t="-580952" r="-1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3617246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1409700"/>
            <a:ext cx="5381625" cy="506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409700"/>
            <a:ext cx="5381625" cy="50673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1"/>
          <p:cNvSpPr txBox="1"/>
          <p:nvPr/>
        </p:nvSpPr>
        <p:spPr>
          <a:xfrm>
            <a:off x="771525" y="1704975"/>
            <a:ext cx="5030628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DEFF9A"/>
                </a:solidFill>
                <a:latin typeface="Bahnschrift SemiLight SemiConde" panose="020B0502040204020203" pitchFamily="34" charset="0"/>
                <a:ea typeface="Urbanist SemiBold"/>
                <a:cs typeface="Urbanist SemiBold"/>
                <a:sym typeface="Urbanist SemiBold"/>
              </a:rPr>
              <a:t>Tổng Quan</a:t>
            </a:r>
            <a:endParaRPr>
              <a:latin typeface="Bahnschrift SemiLight SemiConde" panose="020B0502040204020203" pitchFamily="34" charset="0"/>
            </a:endParaRPr>
          </a:p>
        </p:txBody>
      </p:sp>
      <p:sp>
        <p:nvSpPr>
          <p:cNvPr id="236" name="Google Shape;236;p21"/>
          <p:cNvSpPr txBox="1"/>
          <p:nvPr/>
        </p:nvSpPr>
        <p:spPr>
          <a:xfrm>
            <a:off x="771525" y="2343150"/>
            <a:ext cx="4791075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Thư viện nền tảng cho tính toán số trong Python. Cung cấp mảng đa chiều (ndarray) và các hàm toán học hiệu năng cao.</a:t>
            </a:r>
            <a:endParaRPr>
              <a:latin typeface="Bahnschrift SemiLight SemiConde" panose="020B0502040204020203" pitchFamily="34" charset="0"/>
            </a:endParaRPr>
          </a:p>
        </p:txBody>
      </p:sp>
      <p:sp>
        <p:nvSpPr>
          <p:cNvPr id="237" name="Google Shape;237;p21"/>
          <p:cNvSpPr txBox="1"/>
          <p:nvPr/>
        </p:nvSpPr>
        <p:spPr>
          <a:xfrm>
            <a:off x="771525" y="3234630"/>
            <a:ext cx="4791075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Sáng</a:t>
            </a:r>
            <a:r>
              <a:rPr lang="en-US" sz="1350" b="0" i="1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1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lập</a:t>
            </a:r>
            <a:r>
              <a:rPr lang="en-US" sz="1350" b="0" i="1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: Travis Oliphant</a:t>
            </a:r>
            <a:endParaRPr dirty="0">
              <a:latin typeface="Bahnschrift SemiLight SemiConde" panose="020B0502040204020203" pitchFamily="34" charset="0"/>
            </a:endParaRPr>
          </a:p>
        </p:txBody>
      </p:sp>
      <p:sp>
        <p:nvSpPr>
          <p:cNvPr id="238" name="Google Shape;238;p21"/>
          <p:cNvSpPr txBox="1"/>
          <p:nvPr/>
        </p:nvSpPr>
        <p:spPr>
          <a:xfrm>
            <a:off x="6629400" y="1704975"/>
            <a:ext cx="5030628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DEFF9A"/>
                </a:solidFill>
                <a:latin typeface="Bahnschrift SemiLight SemiConde" panose="020B0502040204020203" pitchFamily="34" charset="0"/>
                <a:ea typeface="Urbanist SemiBold"/>
                <a:cs typeface="Urbanist SemiBold"/>
                <a:sym typeface="Urbanist SemiBold"/>
              </a:rPr>
              <a:t>Ưu &amp; Nhược Điểm</a:t>
            </a:r>
            <a:endParaRPr>
              <a:latin typeface="Bahnschrift SemiLight SemiConde" panose="020B0502040204020203" pitchFamily="34" charset="0"/>
            </a:endParaRPr>
          </a:p>
        </p:txBody>
      </p:sp>
      <p:sp>
        <p:nvSpPr>
          <p:cNvPr id="239" name="Google Shape;239;p21"/>
          <p:cNvSpPr txBox="1"/>
          <p:nvPr/>
        </p:nvSpPr>
        <p:spPr>
          <a:xfrm>
            <a:off x="6629400" y="2324100"/>
            <a:ext cx="4791075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56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Ưu</a:t>
            </a:r>
            <a:r>
              <a:rPr lang="en-US" sz="1350" b="1" i="0" u="none" strike="noStrike" cap="none" dirty="0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:</a:t>
            </a:r>
            <a:r>
              <a:rPr lang="en-US" sz="1350" b="0" i="0" u="none" strike="noStrike" cap="none" dirty="0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Tốc</a:t>
            </a:r>
            <a:r>
              <a:rPr lang="en-US" sz="1350" b="0" i="0" u="none" strike="noStrike" cap="none" dirty="0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độ</a:t>
            </a:r>
            <a:r>
              <a:rPr lang="en-US" sz="1350" b="0" i="0" u="none" strike="noStrike" cap="none" dirty="0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nhanh</a:t>
            </a:r>
            <a:r>
              <a:rPr lang="en-US" sz="1350" b="0" i="0" u="none" strike="noStrike" cap="none" dirty="0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(10-100x), code </a:t>
            </a:r>
            <a:r>
              <a:rPr lang="en-US" sz="1350" b="0" i="0" u="none" strike="noStrike" cap="none" dirty="0" err="1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gọn</a:t>
            </a:r>
            <a:r>
              <a:rPr lang="en-US" sz="1350" b="0" i="0" u="none" strike="noStrike" cap="none" dirty="0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, </a:t>
            </a:r>
            <a:r>
              <a:rPr lang="en-US" sz="1350" b="0" i="0" u="none" strike="noStrike" cap="none" dirty="0" err="1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tích</a:t>
            </a:r>
            <a:r>
              <a:rPr lang="en-US" sz="1350" b="0" i="0" u="none" strike="noStrike" cap="none" dirty="0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hợp</a:t>
            </a:r>
            <a:r>
              <a:rPr lang="en-US" sz="1350" b="0" i="0" u="none" strike="noStrike" cap="none" dirty="0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Đại</a:t>
            </a:r>
            <a:r>
              <a:rPr lang="en-US" sz="1350" b="0" i="0" u="none" strike="noStrike" cap="none" dirty="0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số</a:t>
            </a:r>
            <a:r>
              <a:rPr lang="en-US" sz="1350" b="0" i="0" u="none" strike="noStrike" cap="none" dirty="0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tuyến</a:t>
            </a:r>
            <a:r>
              <a:rPr lang="en-US" sz="1350" b="0" i="0" u="none" strike="noStrike" cap="none" dirty="0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tính</a:t>
            </a:r>
            <a:r>
              <a:rPr lang="en-US" sz="1350" b="0" i="0" u="none" strike="noStrike" cap="none" dirty="0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, </a:t>
            </a:r>
            <a:r>
              <a:rPr lang="en-US" sz="1350" b="0" i="0" u="none" strike="noStrike" cap="none" dirty="0" err="1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tiết</a:t>
            </a:r>
            <a:r>
              <a:rPr lang="en-US" sz="1350" b="0" i="0" u="none" strike="noStrike" cap="none" dirty="0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kiệm</a:t>
            </a:r>
            <a:r>
              <a:rPr lang="en-US" sz="1350" b="0" i="0" u="none" strike="noStrike" cap="none" dirty="0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RAM.</a:t>
            </a:r>
            <a:endParaRPr dirty="0">
              <a:latin typeface="Bahnschrift SemiLight SemiConde" panose="020B0502040204020203" pitchFamily="34" charset="0"/>
            </a:endParaRPr>
          </a:p>
        </p:txBody>
      </p:sp>
      <p:sp>
        <p:nvSpPr>
          <p:cNvPr id="240" name="Google Shape;240;p21"/>
          <p:cNvSpPr txBox="1"/>
          <p:nvPr/>
        </p:nvSpPr>
        <p:spPr>
          <a:xfrm>
            <a:off x="6334125" y="3019425"/>
            <a:ext cx="508635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795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F87171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Nhược</a:t>
            </a:r>
            <a:r>
              <a:rPr lang="en-US" sz="1350" b="1" i="0" u="none" strike="noStrike" cap="none" dirty="0">
                <a:solidFill>
                  <a:srgbClr val="F87171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:</a:t>
            </a:r>
            <a:r>
              <a:rPr lang="en-US" sz="1350" b="0" i="0" u="none" strike="noStrike" cap="none" dirty="0">
                <a:solidFill>
                  <a:srgbClr val="F87171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F87171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Kích</a:t>
            </a:r>
            <a:r>
              <a:rPr lang="en-US" sz="1350" b="0" i="0" u="none" strike="noStrike" cap="none" dirty="0">
                <a:solidFill>
                  <a:srgbClr val="F87171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F87171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thước</a:t>
            </a:r>
            <a:r>
              <a:rPr lang="en-US" sz="1350" b="0" i="0" u="none" strike="noStrike" cap="none" dirty="0">
                <a:solidFill>
                  <a:srgbClr val="F87171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F87171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mảng</a:t>
            </a:r>
            <a:r>
              <a:rPr lang="en-US" sz="1350" b="0" i="0" u="none" strike="noStrike" cap="none" dirty="0">
                <a:solidFill>
                  <a:srgbClr val="F87171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F87171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cố</a:t>
            </a:r>
            <a:r>
              <a:rPr lang="en-US" sz="1350" b="0" i="0" u="none" strike="noStrike" cap="none" dirty="0">
                <a:solidFill>
                  <a:srgbClr val="F87171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F87171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định</a:t>
            </a:r>
            <a:r>
              <a:rPr lang="en-US" sz="1350" b="0" i="0" u="none" strike="noStrike" cap="none" dirty="0">
                <a:solidFill>
                  <a:srgbClr val="F87171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, </a:t>
            </a:r>
            <a:r>
              <a:rPr lang="en-US" sz="1350" b="0" i="0" u="none" strike="noStrike" cap="none" dirty="0" err="1">
                <a:solidFill>
                  <a:srgbClr val="F87171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bắt</a:t>
            </a:r>
            <a:r>
              <a:rPr lang="en-US" sz="1350" b="0" i="0" u="none" strike="noStrike" cap="none" dirty="0">
                <a:solidFill>
                  <a:srgbClr val="F87171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F87171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buộc</a:t>
            </a:r>
            <a:r>
              <a:rPr lang="en-US" sz="1350" b="0" i="0" u="none" strike="noStrike" cap="none" dirty="0">
                <a:solidFill>
                  <a:srgbClr val="F87171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F87171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đồng</a:t>
            </a:r>
            <a:r>
              <a:rPr lang="en-US" sz="1350" b="0" i="0" u="none" strike="noStrike" cap="none" dirty="0">
                <a:solidFill>
                  <a:srgbClr val="F87171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F87171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nhất</a:t>
            </a:r>
            <a:r>
              <a:rPr lang="en-US" sz="1350" b="0" i="0" u="none" strike="noStrike" cap="none" dirty="0">
                <a:solidFill>
                  <a:srgbClr val="F87171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F87171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kiểu</a:t>
            </a:r>
            <a:r>
              <a:rPr lang="en-US" sz="1350" b="0" i="0" u="none" strike="noStrike" cap="none" dirty="0">
                <a:solidFill>
                  <a:srgbClr val="F87171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F87171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dữ</a:t>
            </a:r>
            <a:r>
              <a:rPr lang="en-US" sz="1350" b="0" i="0" u="none" strike="noStrike" cap="none" dirty="0">
                <a:solidFill>
                  <a:srgbClr val="F87171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F87171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liệu</a:t>
            </a:r>
            <a:r>
              <a:rPr lang="en-US" sz="1350" b="0" i="0" u="none" strike="noStrike" cap="none" dirty="0">
                <a:solidFill>
                  <a:srgbClr val="F87171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, </a:t>
            </a:r>
            <a:r>
              <a:rPr lang="en-US" sz="1350" b="0" i="0" u="none" strike="noStrike" cap="none" dirty="0" err="1">
                <a:solidFill>
                  <a:srgbClr val="F87171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không</a:t>
            </a:r>
            <a:r>
              <a:rPr lang="en-US" sz="1350" b="0" i="0" u="none" strike="noStrike" cap="none" dirty="0">
                <a:solidFill>
                  <a:srgbClr val="F87171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F87171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hỗ</a:t>
            </a:r>
            <a:r>
              <a:rPr lang="en-US" sz="1350" b="0" i="0" u="none" strike="noStrike" cap="none" dirty="0">
                <a:solidFill>
                  <a:srgbClr val="F87171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F87171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trợ</a:t>
            </a:r>
            <a:r>
              <a:rPr lang="en-US" sz="1350" b="0" i="0" u="none" strike="noStrike" cap="none" dirty="0">
                <a:solidFill>
                  <a:srgbClr val="F87171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GPU.</a:t>
            </a:r>
            <a:endParaRPr dirty="0">
              <a:latin typeface="Bahnschrift SemiLight SemiConde" panose="020B0502040204020203" pitchFamily="34" charset="0"/>
            </a:endParaRPr>
          </a:p>
        </p:txBody>
      </p:sp>
      <p:pic>
        <p:nvPicPr>
          <p:cNvPr id="241" name="Google Shape;241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29400" y="2371725"/>
            <a:ext cx="16192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29400" y="3063180"/>
            <a:ext cx="161925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1"/>
          <p:cNvSpPr txBox="1"/>
          <p:nvPr/>
        </p:nvSpPr>
        <p:spPr>
          <a:xfrm>
            <a:off x="476250" y="381000"/>
            <a:ext cx="117157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 err="1">
                <a:solidFill>
                  <a:srgbClr val="DEFF9A"/>
                </a:solidFill>
                <a:latin typeface="Bahnschrift SemiCondensed" panose="020B0502040204020203" pitchFamily="34" charset="0"/>
                <a:ea typeface="Urbanist SemiBold"/>
                <a:cs typeface="Urbanist SemiBold"/>
                <a:sym typeface="Urbanist SemiBold"/>
              </a:rPr>
              <a:t>Thư</a:t>
            </a:r>
            <a:r>
              <a:rPr lang="en-US" sz="3600" b="0" i="0" u="none" strike="noStrike" cap="none" dirty="0">
                <a:solidFill>
                  <a:srgbClr val="DEFF9A"/>
                </a:solidFill>
                <a:latin typeface="Bahnschrift SemiCondensed" panose="020B0502040204020203" pitchFamily="34" charset="0"/>
                <a:ea typeface="Urbanist SemiBold"/>
                <a:cs typeface="Urbanist SemiBold"/>
                <a:sym typeface="Urbanist SemiBold"/>
              </a:rPr>
              <a:t> </a:t>
            </a:r>
            <a:r>
              <a:rPr lang="en-US" sz="3600" b="0" i="0" u="none" strike="noStrike" cap="none" dirty="0" err="1">
                <a:solidFill>
                  <a:srgbClr val="DEFF9A"/>
                </a:solidFill>
                <a:latin typeface="Bahnschrift SemiCondensed" panose="020B0502040204020203" pitchFamily="34" charset="0"/>
                <a:ea typeface="Urbanist SemiBold"/>
                <a:cs typeface="Urbanist SemiBold"/>
                <a:sym typeface="Urbanist SemiBold"/>
              </a:rPr>
              <a:t>Viện</a:t>
            </a:r>
            <a:r>
              <a:rPr lang="en-US" sz="3600" b="0" i="0" u="none" strike="noStrike" cap="none" dirty="0">
                <a:solidFill>
                  <a:srgbClr val="DEFF9A"/>
                </a:solidFill>
                <a:latin typeface="Bahnschrift SemiCondensed" panose="020B0502040204020203" pitchFamily="34" charset="0"/>
                <a:ea typeface="Urbanist SemiBold"/>
                <a:cs typeface="Urbanist SemiBold"/>
                <a:sym typeface="Urbanist SemiBold"/>
              </a:rPr>
              <a:t>: NumPy (2006)</a:t>
            </a:r>
            <a:endParaRPr dirty="0">
              <a:latin typeface="Bahnschrift SemiCondensed" panose="020B0502040204020203" pitchFamily="34" charset="0"/>
            </a:endParaRPr>
          </a:p>
        </p:txBody>
      </p:sp>
      <p:sp>
        <p:nvSpPr>
          <p:cNvPr id="14" name="Google Shape;237;p21">
            <a:extLst>
              <a:ext uri="{FF2B5EF4-FFF2-40B4-BE49-F238E27FC236}">
                <a16:creationId xmlns:a16="http://schemas.microsoft.com/office/drawing/2014/main" id="{ADDDB16F-1272-4DD3-A4DA-60825FD86BF3}"/>
              </a:ext>
            </a:extLst>
          </p:cNvPr>
          <p:cNvSpPr txBox="1"/>
          <p:nvPr/>
        </p:nvSpPr>
        <p:spPr>
          <a:xfrm>
            <a:off x="771525" y="3567029"/>
            <a:ext cx="4791075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Thời</a:t>
            </a:r>
            <a:r>
              <a:rPr lang="en-US" sz="1350" b="0" i="1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1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gian</a:t>
            </a:r>
            <a:r>
              <a:rPr lang="en-US" sz="1350" b="0" i="1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1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phát</a:t>
            </a:r>
            <a:r>
              <a:rPr lang="en-US" sz="1350" b="0" i="1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1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hành</a:t>
            </a:r>
            <a:r>
              <a:rPr lang="en-US" sz="1350" b="0" i="1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: 2006</a:t>
            </a:r>
            <a:endParaRPr dirty="0">
              <a:latin typeface="Bahnschrift SemiLight SemiConde" panose="020B0502040204020203" pitchFamily="34" charset="0"/>
            </a:endParaRPr>
          </a:p>
        </p:txBody>
      </p:sp>
      <p:pic>
        <p:nvPicPr>
          <p:cNvPr id="2050" name="Picture 2" descr="numpy · PyPI">
            <a:extLst>
              <a:ext uri="{FF2B5EF4-FFF2-40B4-BE49-F238E27FC236}">
                <a16:creationId xmlns:a16="http://schemas.microsoft.com/office/drawing/2014/main" id="{F915E07B-B935-42AC-A149-E9593D0F18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1624" y="4473839"/>
            <a:ext cx="3190875" cy="142875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Getting Started with NumPy">
            <a:extLst>
              <a:ext uri="{FF2B5EF4-FFF2-40B4-BE49-F238E27FC236}">
                <a16:creationId xmlns:a16="http://schemas.microsoft.com/office/drawing/2014/main" id="{F42840CA-2AB2-4D6B-90DB-8F6F4222BF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3026" y="3979497"/>
            <a:ext cx="4183376" cy="219278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1409700"/>
            <a:ext cx="5381625" cy="506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409700"/>
            <a:ext cx="5381625" cy="50673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2"/>
          <p:cNvSpPr txBox="1"/>
          <p:nvPr/>
        </p:nvSpPr>
        <p:spPr>
          <a:xfrm>
            <a:off x="771525" y="1704975"/>
            <a:ext cx="5030628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DEFF9A"/>
                </a:solidFill>
                <a:latin typeface="Bahnschrift SemiLight SemiConde" panose="020B0502040204020203" pitchFamily="34" charset="0"/>
                <a:ea typeface="Urbanist SemiBold"/>
                <a:cs typeface="Urbanist SemiBold"/>
                <a:sym typeface="Urbanist SemiBold"/>
              </a:rPr>
              <a:t>Tổng Quan</a:t>
            </a:r>
            <a:endParaRPr>
              <a:latin typeface="Bahnschrift SemiLight SemiConde" panose="020B0502040204020203" pitchFamily="34" charset="0"/>
            </a:endParaRPr>
          </a:p>
        </p:txBody>
      </p:sp>
      <p:sp>
        <p:nvSpPr>
          <p:cNvPr id="252" name="Google Shape;252;p22"/>
          <p:cNvSpPr txBox="1"/>
          <p:nvPr/>
        </p:nvSpPr>
        <p:spPr>
          <a:xfrm>
            <a:off x="771525" y="2343150"/>
            <a:ext cx="4791075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Chuyên dụng để thao tác, làm sạch và phân tích dữ liệu dạng bảng (DataFrame). Đọc/ghi nhiều nguồn (CSV, Excel, SQL).</a:t>
            </a:r>
            <a:endParaRPr>
              <a:latin typeface="Bahnschrift SemiLight SemiConde" panose="020B0502040204020203" pitchFamily="34" charset="0"/>
            </a:endParaRPr>
          </a:p>
        </p:txBody>
      </p:sp>
      <p:sp>
        <p:nvSpPr>
          <p:cNvPr id="253" name="Google Shape;253;p22"/>
          <p:cNvSpPr txBox="1"/>
          <p:nvPr/>
        </p:nvSpPr>
        <p:spPr>
          <a:xfrm>
            <a:off x="771525" y="3234630"/>
            <a:ext cx="4791075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Sáng</a:t>
            </a:r>
            <a:r>
              <a:rPr lang="en-US" sz="1350" b="0" i="1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1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lập</a:t>
            </a:r>
            <a:r>
              <a:rPr lang="en-US" sz="1350" b="0" i="1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: Wes McKinney</a:t>
            </a:r>
            <a:endParaRPr dirty="0">
              <a:latin typeface="Bahnschrift SemiLight SemiConde" panose="020B0502040204020203" pitchFamily="34" charset="0"/>
            </a:endParaRPr>
          </a:p>
        </p:txBody>
      </p:sp>
      <p:sp>
        <p:nvSpPr>
          <p:cNvPr id="254" name="Google Shape;254;p22"/>
          <p:cNvSpPr txBox="1"/>
          <p:nvPr/>
        </p:nvSpPr>
        <p:spPr>
          <a:xfrm>
            <a:off x="6629400" y="1704975"/>
            <a:ext cx="5030628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DEFF9A"/>
                </a:solidFill>
                <a:latin typeface="Bahnschrift SemiLight SemiConde" panose="020B0502040204020203" pitchFamily="34" charset="0"/>
                <a:ea typeface="Urbanist SemiBold"/>
                <a:cs typeface="Urbanist SemiBold"/>
                <a:sym typeface="Urbanist SemiBold"/>
              </a:rPr>
              <a:t>Ưu &amp; Nhược Điểm</a:t>
            </a:r>
            <a:endParaRPr>
              <a:latin typeface="Bahnschrift SemiLight SemiConde" panose="020B0502040204020203" pitchFamily="34" charset="0"/>
            </a:endParaRPr>
          </a:p>
        </p:txBody>
      </p:sp>
      <p:sp>
        <p:nvSpPr>
          <p:cNvPr id="255" name="Google Shape;255;p22"/>
          <p:cNvSpPr txBox="1"/>
          <p:nvPr/>
        </p:nvSpPr>
        <p:spPr>
          <a:xfrm>
            <a:off x="6629400" y="2324100"/>
            <a:ext cx="4791075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56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Ưu</a:t>
            </a:r>
            <a:r>
              <a:rPr lang="en-US" sz="1350" b="1" i="0" u="none" strike="noStrike" cap="none" dirty="0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:</a:t>
            </a:r>
            <a:r>
              <a:rPr lang="en-US" sz="1350" b="0" i="0" u="none" strike="noStrike" cap="none" dirty="0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Xử</a:t>
            </a:r>
            <a:r>
              <a:rPr lang="en-US" sz="1350" b="0" i="0" u="none" strike="noStrike" cap="none" dirty="0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lý</a:t>
            </a:r>
            <a:r>
              <a:rPr lang="en-US" sz="1350" b="0" i="0" u="none" strike="noStrike" cap="none" dirty="0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dữ</a:t>
            </a:r>
            <a:r>
              <a:rPr lang="en-US" sz="1350" b="0" i="0" u="none" strike="noStrike" cap="none" dirty="0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liệu</a:t>
            </a:r>
            <a:r>
              <a:rPr lang="en-US" sz="1350" b="0" i="0" u="none" strike="noStrike" cap="none" dirty="0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bảng</a:t>
            </a:r>
            <a:r>
              <a:rPr lang="en-US" sz="1350" b="0" i="0" u="none" strike="noStrike" cap="none" dirty="0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mạnh</a:t>
            </a:r>
            <a:r>
              <a:rPr lang="en-US" sz="1350" b="0" i="0" u="none" strike="noStrike" cap="none" dirty="0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mẽ</a:t>
            </a:r>
            <a:r>
              <a:rPr lang="en-US" sz="1350" b="0" i="0" u="none" strike="noStrike" cap="none" dirty="0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, </a:t>
            </a:r>
            <a:r>
              <a:rPr lang="en-US" sz="1350" b="0" i="0" u="none" strike="noStrike" cap="none" dirty="0" err="1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xử</a:t>
            </a:r>
            <a:r>
              <a:rPr lang="en-US" sz="1350" b="0" i="0" u="none" strike="noStrike" cap="none" dirty="0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lý</a:t>
            </a:r>
            <a:r>
              <a:rPr lang="en-US" sz="1350" b="0" i="0" u="none" strike="noStrike" cap="none" dirty="0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dữ</a:t>
            </a:r>
            <a:r>
              <a:rPr lang="en-US" sz="1350" b="0" i="0" u="none" strike="noStrike" cap="none" dirty="0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liệu</a:t>
            </a:r>
            <a:r>
              <a:rPr lang="en-US" sz="1350" b="0" i="0" u="none" strike="noStrike" cap="none" dirty="0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thiếu</a:t>
            </a:r>
            <a:r>
              <a:rPr lang="en-US" sz="1350" b="0" i="0" u="none" strike="noStrike" cap="none" dirty="0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(</a:t>
            </a:r>
            <a:r>
              <a:rPr lang="en-US" sz="1350" b="0" i="0" u="none" strike="noStrike" cap="none" dirty="0" err="1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NaN</a:t>
            </a:r>
            <a:r>
              <a:rPr lang="en-US" sz="1350" b="0" i="0" u="none" strike="noStrike" cap="none" dirty="0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) </a:t>
            </a:r>
            <a:r>
              <a:rPr lang="en-US" sz="1350" b="0" i="0" u="none" strike="noStrike" cap="none" dirty="0" err="1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tốt</a:t>
            </a:r>
            <a:r>
              <a:rPr lang="en-US" sz="1350" b="0" i="0" u="none" strike="noStrike" cap="none" dirty="0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, </a:t>
            </a:r>
            <a:r>
              <a:rPr lang="en-US" sz="1350" b="0" i="0" u="none" strike="noStrike" cap="none" dirty="0" err="1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linh</a:t>
            </a:r>
            <a:r>
              <a:rPr lang="en-US" sz="1350" b="0" i="0" u="none" strike="noStrike" cap="none" dirty="0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hoạt</a:t>
            </a:r>
            <a:r>
              <a:rPr lang="en-US" sz="1350" b="0" i="0" u="none" strike="noStrike" cap="none" dirty="0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đầu</a:t>
            </a:r>
            <a:r>
              <a:rPr lang="en-US" sz="1350" b="0" i="0" u="none" strike="noStrike" cap="none" dirty="0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vào</a:t>
            </a:r>
            <a:r>
              <a:rPr lang="en-US" sz="1350" b="0" i="0" u="none" strike="noStrike" cap="none" dirty="0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/ra.</a:t>
            </a:r>
            <a:endParaRPr dirty="0">
              <a:latin typeface="Bahnschrift SemiLight SemiConde" panose="020B0502040204020203" pitchFamily="34" charset="0"/>
            </a:endParaRPr>
          </a:p>
        </p:txBody>
      </p:sp>
      <p:sp>
        <p:nvSpPr>
          <p:cNvPr id="256" name="Google Shape;256;p22"/>
          <p:cNvSpPr txBox="1"/>
          <p:nvPr/>
        </p:nvSpPr>
        <p:spPr>
          <a:xfrm>
            <a:off x="6334125" y="2991177"/>
            <a:ext cx="5030628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795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F87171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Nhược</a:t>
            </a:r>
            <a:r>
              <a:rPr lang="en-US" sz="1350" b="1" i="0" u="none" strike="noStrike" cap="none" dirty="0">
                <a:solidFill>
                  <a:srgbClr val="F87171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:</a:t>
            </a:r>
            <a:r>
              <a:rPr lang="en-US" sz="1350" b="0" i="0" u="none" strike="noStrike" cap="none" dirty="0">
                <a:solidFill>
                  <a:srgbClr val="F87171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F87171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Tốn</a:t>
            </a:r>
            <a:r>
              <a:rPr lang="en-US" sz="1350" b="0" i="0" u="none" strike="noStrike" cap="none" dirty="0">
                <a:solidFill>
                  <a:srgbClr val="F87171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RAM (</a:t>
            </a:r>
            <a:r>
              <a:rPr lang="en-US" sz="1350" b="0" i="0" u="none" strike="noStrike" cap="none" dirty="0" err="1">
                <a:solidFill>
                  <a:srgbClr val="F87171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tải</a:t>
            </a:r>
            <a:r>
              <a:rPr lang="en-US" sz="1350" b="0" i="0" u="none" strike="noStrike" cap="none" dirty="0">
                <a:solidFill>
                  <a:srgbClr val="F87171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F87171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toàn</a:t>
            </a:r>
            <a:r>
              <a:rPr lang="en-US" sz="1350" b="0" i="0" u="none" strike="noStrike" cap="none" dirty="0">
                <a:solidFill>
                  <a:srgbClr val="F87171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F87171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bộ</a:t>
            </a:r>
            <a:r>
              <a:rPr lang="en-US" sz="1350" b="0" i="0" u="none" strike="noStrike" cap="none" dirty="0">
                <a:solidFill>
                  <a:srgbClr val="F87171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data), </a:t>
            </a:r>
            <a:r>
              <a:rPr lang="en-US" sz="1350" b="0" i="0" u="none" strike="noStrike" cap="none" dirty="0" err="1">
                <a:solidFill>
                  <a:srgbClr val="F87171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chậm</a:t>
            </a:r>
            <a:r>
              <a:rPr lang="en-US" sz="1350" b="0" i="0" u="none" strike="noStrike" cap="none" dirty="0">
                <a:solidFill>
                  <a:srgbClr val="F87171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F87171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hơn</a:t>
            </a:r>
            <a:r>
              <a:rPr lang="en-US" sz="1350" b="0" i="0" u="none" strike="noStrike" cap="none" dirty="0">
                <a:solidFill>
                  <a:srgbClr val="F87171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NumPy </a:t>
            </a:r>
            <a:r>
              <a:rPr lang="en-US" sz="1350" b="0" i="0" u="none" strike="noStrike" cap="none" dirty="0" err="1">
                <a:solidFill>
                  <a:srgbClr val="F87171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trong</a:t>
            </a:r>
            <a:r>
              <a:rPr lang="en-US" sz="1350" b="0" i="0" u="none" strike="noStrike" cap="none" dirty="0">
                <a:solidFill>
                  <a:srgbClr val="F87171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F87171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tính</a:t>
            </a:r>
            <a:r>
              <a:rPr lang="en-US" sz="1350" b="0" i="0" u="none" strike="noStrike" cap="none" dirty="0">
                <a:solidFill>
                  <a:srgbClr val="F87171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F87171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toán</a:t>
            </a:r>
            <a:r>
              <a:rPr lang="en-US" sz="1350" b="0" i="0" u="none" strike="noStrike" cap="none" dirty="0">
                <a:solidFill>
                  <a:srgbClr val="F87171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F87171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thuần</a:t>
            </a:r>
            <a:r>
              <a:rPr lang="en-US" sz="1350" b="0" i="0" u="none" strike="noStrike" cap="none" dirty="0">
                <a:solidFill>
                  <a:srgbClr val="F87171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F87171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túy</a:t>
            </a:r>
            <a:r>
              <a:rPr lang="en-US" sz="1350" b="0" i="0" u="none" strike="noStrike" cap="none" dirty="0">
                <a:solidFill>
                  <a:srgbClr val="F87171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.</a:t>
            </a:r>
            <a:endParaRPr dirty="0">
              <a:latin typeface="Bahnschrift SemiLight SemiConde" panose="020B0502040204020203" pitchFamily="34" charset="0"/>
            </a:endParaRPr>
          </a:p>
        </p:txBody>
      </p:sp>
      <p:pic>
        <p:nvPicPr>
          <p:cNvPr id="257" name="Google Shape;257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29400" y="2371725"/>
            <a:ext cx="16192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29400" y="3063180"/>
            <a:ext cx="161925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2"/>
          <p:cNvSpPr txBox="1"/>
          <p:nvPr/>
        </p:nvSpPr>
        <p:spPr>
          <a:xfrm>
            <a:off x="476250" y="381000"/>
            <a:ext cx="117157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 err="1">
                <a:solidFill>
                  <a:srgbClr val="DEFF9A"/>
                </a:solidFill>
                <a:latin typeface="Bahnschrift SemiCondensed" panose="020B0502040204020203" pitchFamily="34" charset="0"/>
                <a:ea typeface="Urbanist SemiBold"/>
                <a:cs typeface="Urbanist SemiBold"/>
                <a:sym typeface="Urbanist SemiBold"/>
              </a:rPr>
              <a:t>Thư</a:t>
            </a:r>
            <a:r>
              <a:rPr lang="en-US" sz="3600" b="0" i="0" u="none" strike="noStrike" cap="none" dirty="0">
                <a:solidFill>
                  <a:srgbClr val="DEFF9A"/>
                </a:solidFill>
                <a:latin typeface="Bahnschrift SemiCondensed" panose="020B0502040204020203" pitchFamily="34" charset="0"/>
                <a:ea typeface="Urbanist SemiBold"/>
                <a:cs typeface="Urbanist SemiBold"/>
                <a:sym typeface="Urbanist SemiBold"/>
              </a:rPr>
              <a:t> </a:t>
            </a:r>
            <a:r>
              <a:rPr lang="en-US" sz="3600" b="0" i="0" u="none" strike="noStrike" cap="none" dirty="0" err="1">
                <a:solidFill>
                  <a:srgbClr val="DEFF9A"/>
                </a:solidFill>
                <a:latin typeface="Bahnschrift SemiCondensed" panose="020B0502040204020203" pitchFamily="34" charset="0"/>
                <a:ea typeface="Urbanist SemiBold"/>
                <a:cs typeface="Urbanist SemiBold"/>
                <a:sym typeface="Urbanist SemiBold"/>
              </a:rPr>
              <a:t>Viện</a:t>
            </a:r>
            <a:r>
              <a:rPr lang="en-US" sz="3600" b="0" i="0" u="none" strike="noStrike" cap="none" dirty="0">
                <a:solidFill>
                  <a:srgbClr val="DEFF9A"/>
                </a:solidFill>
                <a:latin typeface="Bahnschrift SemiCondensed" panose="020B0502040204020203" pitchFamily="34" charset="0"/>
                <a:ea typeface="Urbanist SemiBold"/>
                <a:cs typeface="Urbanist SemiBold"/>
                <a:sym typeface="Urbanist SemiBold"/>
              </a:rPr>
              <a:t>: Pandas (2008)</a:t>
            </a:r>
            <a:endParaRPr dirty="0">
              <a:latin typeface="Bahnschrift SemiCondensed" panose="020B0502040204020203" pitchFamily="34" charset="0"/>
            </a:endParaRPr>
          </a:p>
        </p:txBody>
      </p:sp>
      <p:sp>
        <p:nvSpPr>
          <p:cNvPr id="14" name="Google Shape;237;p21">
            <a:extLst>
              <a:ext uri="{FF2B5EF4-FFF2-40B4-BE49-F238E27FC236}">
                <a16:creationId xmlns:a16="http://schemas.microsoft.com/office/drawing/2014/main" id="{593825E2-F950-4E6B-BE48-3F823B99AD63}"/>
              </a:ext>
            </a:extLst>
          </p:cNvPr>
          <p:cNvSpPr txBox="1"/>
          <p:nvPr/>
        </p:nvSpPr>
        <p:spPr>
          <a:xfrm>
            <a:off x="771525" y="3567029"/>
            <a:ext cx="4791075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Thời</a:t>
            </a:r>
            <a:r>
              <a:rPr lang="en-US" sz="1350" b="0" i="1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1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gian</a:t>
            </a:r>
            <a:r>
              <a:rPr lang="en-US" sz="1350" b="0" i="1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1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phát</a:t>
            </a:r>
            <a:r>
              <a:rPr lang="en-US" sz="1350" b="0" i="1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1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hành</a:t>
            </a:r>
            <a:r>
              <a:rPr lang="en-US" sz="1350" b="0" i="1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: 2008</a:t>
            </a:r>
            <a:endParaRPr dirty="0">
              <a:latin typeface="Bahnschrift SemiLight SemiConde" panose="020B0502040204020203" pitchFamily="34" charset="0"/>
            </a:endParaRPr>
          </a:p>
        </p:txBody>
      </p:sp>
      <p:pic>
        <p:nvPicPr>
          <p:cNvPr id="16" name="Picture 2" descr="pandas (software) - Wikipedia">
            <a:extLst>
              <a:ext uri="{FF2B5EF4-FFF2-40B4-BE49-F238E27FC236}">
                <a16:creationId xmlns:a16="http://schemas.microsoft.com/office/drawing/2014/main" id="{F7F9D823-8031-4B26-B794-7CD6436BB6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05" y="4473839"/>
            <a:ext cx="3526914" cy="142875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Introduction to Pandas in Python - PickupBrain: Be Smart">
            <a:extLst>
              <a:ext uri="{FF2B5EF4-FFF2-40B4-BE49-F238E27FC236}">
                <a16:creationId xmlns:a16="http://schemas.microsoft.com/office/drawing/2014/main" id="{C188D73E-06E2-4087-9CDD-F8DBEDEE3E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9131" y="4233881"/>
            <a:ext cx="4351611" cy="166870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1409700"/>
            <a:ext cx="5381625" cy="506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409700"/>
            <a:ext cx="5381625" cy="50673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3"/>
          <p:cNvSpPr txBox="1"/>
          <p:nvPr/>
        </p:nvSpPr>
        <p:spPr>
          <a:xfrm>
            <a:off x="771525" y="1704975"/>
            <a:ext cx="5030628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DEFF9A"/>
                </a:solidFill>
                <a:latin typeface="Bahnschrift SemiLight SemiConde" panose="020B0502040204020203" pitchFamily="34" charset="0"/>
                <a:ea typeface="Urbanist SemiBold"/>
                <a:cs typeface="Urbanist SemiBold"/>
                <a:sym typeface="Urbanist SemiBold"/>
              </a:rPr>
              <a:t>Tổng Quan</a:t>
            </a:r>
            <a:endParaRPr>
              <a:latin typeface="Bahnschrift SemiLight SemiConde" panose="020B0502040204020203" pitchFamily="34" charset="0"/>
            </a:endParaRPr>
          </a:p>
        </p:txBody>
      </p:sp>
      <p:sp>
        <p:nvSpPr>
          <p:cNvPr id="268" name="Google Shape;268;p23"/>
          <p:cNvSpPr txBox="1"/>
          <p:nvPr/>
        </p:nvSpPr>
        <p:spPr>
          <a:xfrm>
            <a:off x="771525" y="2343150"/>
            <a:ext cx="4791075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Thư</a:t>
            </a:r>
            <a:r>
              <a:rPr lang="en-US" sz="135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viện</a:t>
            </a:r>
            <a:r>
              <a:rPr lang="en-US" sz="135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vẽ</a:t>
            </a:r>
            <a:r>
              <a:rPr lang="en-US" sz="135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đồ</a:t>
            </a:r>
            <a:r>
              <a:rPr lang="en-US" sz="135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thị</a:t>
            </a:r>
            <a:r>
              <a:rPr lang="en-US" sz="135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2D </a:t>
            </a:r>
            <a:r>
              <a:rPr lang="en-US" sz="135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nền</a:t>
            </a:r>
            <a:r>
              <a:rPr lang="en-US" sz="135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tảng</a:t>
            </a:r>
            <a:r>
              <a:rPr lang="en-US" sz="135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. </a:t>
            </a:r>
            <a:r>
              <a:rPr lang="en-US" sz="135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Tạo</a:t>
            </a:r>
            <a:r>
              <a:rPr lang="en-US" sz="135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các</a:t>
            </a:r>
            <a:r>
              <a:rPr lang="en-US" sz="135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biểu</a:t>
            </a:r>
            <a:r>
              <a:rPr lang="en-US" sz="135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đồ</a:t>
            </a:r>
            <a:r>
              <a:rPr lang="en-US" sz="135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tĩnh</a:t>
            </a:r>
            <a:r>
              <a:rPr lang="en-US" sz="135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, </a:t>
            </a:r>
            <a:r>
              <a:rPr lang="en-US" sz="135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động</a:t>
            </a:r>
            <a:r>
              <a:rPr lang="en-US" sz="135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để</a:t>
            </a:r>
            <a:r>
              <a:rPr lang="en-US" sz="135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phân</a:t>
            </a:r>
            <a:r>
              <a:rPr lang="en-US" sz="135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tích</a:t>
            </a:r>
            <a:r>
              <a:rPr lang="en-US" sz="135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và</a:t>
            </a:r>
            <a:r>
              <a:rPr lang="en-US" sz="135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báo</a:t>
            </a:r>
            <a:r>
              <a:rPr lang="en-US" sz="135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cáo</a:t>
            </a:r>
            <a:r>
              <a:rPr lang="en-US" sz="135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. </a:t>
            </a:r>
            <a:r>
              <a:rPr lang="en-US" sz="135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Là</a:t>
            </a:r>
            <a:r>
              <a:rPr lang="en-US" sz="135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cơ</a:t>
            </a:r>
            <a:r>
              <a:rPr lang="en-US" sz="135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sở</a:t>
            </a:r>
            <a:r>
              <a:rPr lang="en-US" sz="135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cho</a:t>
            </a:r>
            <a:r>
              <a:rPr lang="en-US" sz="135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Seaborn.</a:t>
            </a:r>
            <a:endParaRPr dirty="0">
              <a:latin typeface="Bahnschrift SemiLight SemiConde" panose="020B0502040204020203" pitchFamily="34" charset="0"/>
            </a:endParaRPr>
          </a:p>
        </p:txBody>
      </p:sp>
      <p:sp>
        <p:nvSpPr>
          <p:cNvPr id="269" name="Google Shape;269;p23"/>
          <p:cNvSpPr txBox="1"/>
          <p:nvPr/>
        </p:nvSpPr>
        <p:spPr>
          <a:xfrm>
            <a:off x="771525" y="3234630"/>
            <a:ext cx="4791075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Sáng lập: John D. Hunter</a:t>
            </a:r>
            <a:endParaRPr>
              <a:latin typeface="Bahnschrift SemiLight SemiConde" panose="020B0502040204020203" pitchFamily="34" charset="0"/>
            </a:endParaRPr>
          </a:p>
        </p:txBody>
      </p:sp>
      <p:sp>
        <p:nvSpPr>
          <p:cNvPr id="270" name="Google Shape;270;p23"/>
          <p:cNvSpPr txBox="1"/>
          <p:nvPr/>
        </p:nvSpPr>
        <p:spPr>
          <a:xfrm>
            <a:off x="6629400" y="1704975"/>
            <a:ext cx="5030628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 err="1">
                <a:solidFill>
                  <a:srgbClr val="DEFF9A"/>
                </a:solidFill>
                <a:latin typeface="Bahnschrift SemiLight SemiConde" panose="020B0502040204020203" pitchFamily="34" charset="0"/>
                <a:ea typeface="Urbanist SemiBold"/>
                <a:cs typeface="Urbanist SemiBold"/>
                <a:sym typeface="Urbanist SemiBold"/>
              </a:rPr>
              <a:t>Ưu</a:t>
            </a:r>
            <a:r>
              <a:rPr lang="en-US" sz="2100" b="0" i="0" u="none" strike="noStrike" cap="none" dirty="0">
                <a:solidFill>
                  <a:srgbClr val="DEFF9A"/>
                </a:solidFill>
                <a:latin typeface="Bahnschrift SemiLight SemiConde" panose="020B0502040204020203" pitchFamily="34" charset="0"/>
                <a:ea typeface="Urbanist SemiBold"/>
                <a:cs typeface="Urbanist SemiBold"/>
                <a:sym typeface="Urbanist SemiBold"/>
              </a:rPr>
              <a:t> &amp; </a:t>
            </a:r>
            <a:r>
              <a:rPr lang="en-US" sz="2100" b="0" i="0" u="none" strike="noStrike" cap="none" dirty="0" err="1">
                <a:solidFill>
                  <a:srgbClr val="DEFF9A"/>
                </a:solidFill>
                <a:latin typeface="Bahnschrift SemiLight SemiConde" panose="020B0502040204020203" pitchFamily="34" charset="0"/>
                <a:ea typeface="Urbanist SemiBold"/>
                <a:cs typeface="Urbanist SemiBold"/>
                <a:sym typeface="Urbanist SemiBold"/>
              </a:rPr>
              <a:t>Nhược</a:t>
            </a:r>
            <a:r>
              <a:rPr lang="en-US" sz="2100" b="0" i="0" u="none" strike="noStrike" cap="none" dirty="0">
                <a:solidFill>
                  <a:srgbClr val="DEFF9A"/>
                </a:solidFill>
                <a:latin typeface="Bahnschrift SemiLight SemiConde" panose="020B0502040204020203" pitchFamily="34" charset="0"/>
                <a:ea typeface="Urbanist SemiBold"/>
                <a:cs typeface="Urbanist SemiBold"/>
                <a:sym typeface="Urbanist SemiBold"/>
              </a:rPr>
              <a:t> </a:t>
            </a:r>
            <a:r>
              <a:rPr lang="en-US" sz="2100" b="0" i="0" u="none" strike="noStrike" cap="none" dirty="0" err="1">
                <a:solidFill>
                  <a:srgbClr val="DEFF9A"/>
                </a:solidFill>
                <a:latin typeface="Bahnschrift SemiLight SemiConde" panose="020B0502040204020203" pitchFamily="34" charset="0"/>
                <a:ea typeface="Urbanist SemiBold"/>
                <a:cs typeface="Urbanist SemiBold"/>
                <a:sym typeface="Urbanist SemiBold"/>
              </a:rPr>
              <a:t>Điểm</a:t>
            </a:r>
            <a:endParaRPr dirty="0">
              <a:latin typeface="Bahnschrift SemiLight SemiConde" panose="020B0502040204020203" pitchFamily="34" charset="0"/>
            </a:endParaRPr>
          </a:p>
        </p:txBody>
      </p:sp>
      <p:sp>
        <p:nvSpPr>
          <p:cNvPr id="271" name="Google Shape;271;p23"/>
          <p:cNvSpPr txBox="1"/>
          <p:nvPr/>
        </p:nvSpPr>
        <p:spPr>
          <a:xfrm>
            <a:off x="6629400" y="2324100"/>
            <a:ext cx="4791075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56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Ưu</a:t>
            </a:r>
            <a:r>
              <a:rPr lang="en-US" sz="1350" b="1" i="0" u="none" strike="noStrike" cap="none" dirty="0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:</a:t>
            </a:r>
            <a:r>
              <a:rPr lang="en-US" sz="1350" b="0" i="0" u="none" strike="noStrike" cap="none" dirty="0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Cực</a:t>
            </a:r>
            <a:r>
              <a:rPr lang="en-US" sz="1350" b="0" i="0" u="none" strike="noStrike" cap="none" dirty="0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kỳ</a:t>
            </a:r>
            <a:r>
              <a:rPr lang="en-US" sz="1350" b="0" i="0" u="none" strike="noStrike" cap="none" dirty="0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linh</a:t>
            </a:r>
            <a:r>
              <a:rPr lang="en-US" sz="1350" b="0" i="0" u="none" strike="noStrike" cap="none" dirty="0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hoạt</a:t>
            </a:r>
            <a:r>
              <a:rPr lang="en-US" sz="1350" b="0" i="0" u="none" strike="noStrike" cap="none" dirty="0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(</a:t>
            </a:r>
            <a:r>
              <a:rPr lang="en-US" sz="1350" b="0" i="0" u="none" strike="noStrike" cap="none" dirty="0" err="1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tùy</a:t>
            </a:r>
            <a:r>
              <a:rPr lang="en-US" sz="1350" b="0" i="0" u="none" strike="noStrike" cap="none" dirty="0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chỉnh</a:t>
            </a:r>
            <a:r>
              <a:rPr lang="en-US" sz="1350" b="0" i="0" u="none" strike="noStrike" cap="none" dirty="0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mọi</a:t>
            </a:r>
            <a:r>
              <a:rPr lang="en-US" sz="1350" b="0" i="0" u="none" strike="noStrike" cap="none" dirty="0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chi </a:t>
            </a:r>
            <a:r>
              <a:rPr lang="en-US" sz="1350" b="0" i="0" u="none" strike="noStrike" cap="none" dirty="0" err="1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tiết</a:t>
            </a:r>
            <a:r>
              <a:rPr lang="en-US" sz="1350" b="0" i="0" u="none" strike="noStrike" cap="none" dirty="0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), </a:t>
            </a:r>
            <a:r>
              <a:rPr lang="en-US" sz="1350" b="0" i="0" u="none" strike="noStrike" cap="none" dirty="0" err="1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hệ</a:t>
            </a:r>
            <a:r>
              <a:rPr lang="en-US" sz="1350" b="0" i="0" u="none" strike="noStrike" cap="none" dirty="0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sinh</a:t>
            </a:r>
            <a:r>
              <a:rPr lang="en-US" sz="1350" b="0" i="0" u="none" strike="noStrike" cap="none" dirty="0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thái</a:t>
            </a:r>
            <a:r>
              <a:rPr lang="en-US" sz="1350" b="0" i="0" u="none" strike="noStrike" cap="none" dirty="0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lớn</a:t>
            </a:r>
            <a:r>
              <a:rPr lang="en-US" sz="1350" b="0" i="0" u="none" strike="noStrike" cap="none" dirty="0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, </a:t>
            </a:r>
            <a:r>
              <a:rPr lang="en-US" sz="1350" b="0" i="0" u="none" strike="noStrike" cap="none" dirty="0" err="1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ổn</a:t>
            </a:r>
            <a:r>
              <a:rPr lang="en-US" sz="1350" b="0" i="0" u="none" strike="noStrike" cap="none" dirty="0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định</a:t>
            </a:r>
            <a:r>
              <a:rPr lang="en-US" sz="1350" b="0" i="0" u="none" strike="noStrike" cap="none" dirty="0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.</a:t>
            </a:r>
            <a:endParaRPr dirty="0">
              <a:latin typeface="Bahnschrift SemiLight SemiConde" panose="020B0502040204020203" pitchFamily="34" charset="0"/>
            </a:endParaRPr>
          </a:p>
        </p:txBody>
      </p:sp>
      <p:sp>
        <p:nvSpPr>
          <p:cNvPr id="272" name="Google Shape;272;p23"/>
          <p:cNvSpPr txBox="1"/>
          <p:nvPr/>
        </p:nvSpPr>
        <p:spPr>
          <a:xfrm>
            <a:off x="6334125" y="3007947"/>
            <a:ext cx="508635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795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F87171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Nhược</a:t>
            </a:r>
            <a:r>
              <a:rPr lang="en-US" sz="1350" b="1" i="0" u="none" strike="noStrike" cap="none" dirty="0">
                <a:solidFill>
                  <a:srgbClr val="F87171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:</a:t>
            </a:r>
            <a:r>
              <a:rPr lang="en-US" sz="1350" b="0" i="0" u="none" strike="noStrike" cap="none" dirty="0">
                <a:solidFill>
                  <a:srgbClr val="F87171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F87171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Cú</a:t>
            </a:r>
            <a:r>
              <a:rPr lang="en-US" sz="1350" b="0" i="0" u="none" strike="noStrike" cap="none" dirty="0">
                <a:solidFill>
                  <a:srgbClr val="F87171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F87171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pháp</a:t>
            </a:r>
            <a:r>
              <a:rPr lang="en-US" sz="1350" b="0" i="0" u="none" strike="noStrike" cap="none" dirty="0">
                <a:solidFill>
                  <a:srgbClr val="F87171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F87171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dài</a:t>
            </a:r>
            <a:r>
              <a:rPr lang="en-US" sz="1350" b="0" i="0" u="none" strike="noStrike" cap="none" dirty="0">
                <a:solidFill>
                  <a:srgbClr val="F87171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F87171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dòng</a:t>
            </a:r>
            <a:r>
              <a:rPr lang="en-US" sz="1350" b="0" i="0" u="none" strike="noStrike" cap="none" dirty="0">
                <a:solidFill>
                  <a:srgbClr val="F87171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(Verbose), </a:t>
            </a:r>
            <a:r>
              <a:rPr lang="en-US" sz="1350" b="0" i="0" u="none" strike="noStrike" cap="none" dirty="0" err="1">
                <a:solidFill>
                  <a:srgbClr val="F87171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giao</a:t>
            </a:r>
            <a:r>
              <a:rPr lang="en-US" sz="1350" b="0" i="0" u="none" strike="noStrike" cap="none" dirty="0">
                <a:solidFill>
                  <a:srgbClr val="F87171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F87171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diện</a:t>
            </a:r>
            <a:r>
              <a:rPr lang="en-US" sz="1350" b="0" i="0" u="none" strike="noStrike" cap="none" dirty="0">
                <a:solidFill>
                  <a:srgbClr val="F87171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F87171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mặc</a:t>
            </a:r>
            <a:r>
              <a:rPr lang="en-US" sz="1350" b="0" i="0" u="none" strike="noStrike" cap="none" dirty="0">
                <a:solidFill>
                  <a:srgbClr val="F87171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F87171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định</a:t>
            </a:r>
            <a:r>
              <a:rPr lang="en-US" sz="1350" b="0" i="0" u="none" strike="noStrike" cap="none" dirty="0">
                <a:solidFill>
                  <a:srgbClr val="F87171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F87171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hơi</a:t>
            </a:r>
            <a:r>
              <a:rPr lang="en-US" sz="1350" b="0" i="0" u="none" strike="noStrike" cap="none" dirty="0">
                <a:solidFill>
                  <a:srgbClr val="F87171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F87171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cũ</a:t>
            </a:r>
            <a:r>
              <a:rPr lang="en-US" sz="1350" b="0" i="0" u="none" strike="noStrike" cap="none" dirty="0">
                <a:solidFill>
                  <a:srgbClr val="F87171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, </a:t>
            </a:r>
            <a:r>
              <a:rPr lang="en-US" sz="1350" b="0" i="0" u="none" strike="noStrike" cap="none" dirty="0" err="1">
                <a:solidFill>
                  <a:srgbClr val="F87171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khó</a:t>
            </a:r>
            <a:r>
              <a:rPr lang="en-US" sz="1350" b="0" i="0" u="none" strike="noStrike" cap="none" dirty="0">
                <a:solidFill>
                  <a:srgbClr val="F87171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F87171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vẽ</a:t>
            </a:r>
            <a:r>
              <a:rPr lang="en-US" sz="1350" b="0" i="0" u="none" strike="noStrike" cap="none" dirty="0">
                <a:solidFill>
                  <a:srgbClr val="F87171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3D </a:t>
            </a:r>
            <a:r>
              <a:rPr lang="en-US" sz="1350" b="0" i="0" u="none" strike="noStrike" cap="none" dirty="0" err="1">
                <a:solidFill>
                  <a:srgbClr val="F87171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tương</a:t>
            </a:r>
            <a:r>
              <a:rPr lang="en-US" sz="1350" b="0" i="0" u="none" strike="noStrike" cap="none" dirty="0">
                <a:solidFill>
                  <a:srgbClr val="F87171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F87171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tác</a:t>
            </a:r>
            <a:r>
              <a:rPr lang="en-US" sz="1350" b="0" i="0" u="none" strike="noStrike" cap="none" dirty="0">
                <a:solidFill>
                  <a:srgbClr val="F87171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.</a:t>
            </a:r>
            <a:endParaRPr dirty="0">
              <a:latin typeface="Bahnschrift SemiLight SemiConde" panose="020B0502040204020203" pitchFamily="34" charset="0"/>
            </a:endParaRPr>
          </a:p>
        </p:txBody>
      </p:sp>
      <p:pic>
        <p:nvPicPr>
          <p:cNvPr id="273" name="Google Shape;273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29400" y="2371725"/>
            <a:ext cx="16192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29400" y="3063180"/>
            <a:ext cx="161925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3"/>
          <p:cNvSpPr txBox="1"/>
          <p:nvPr/>
        </p:nvSpPr>
        <p:spPr>
          <a:xfrm>
            <a:off x="476250" y="381000"/>
            <a:ext cx="117157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 err="1">
                <a:solidFill>
                  <a:srgbClr val="DEFF9A"/>
                </a:solidFill>
                <a:latin typeface="Bahnschrift SemiCondensed" panose="020B0502040204020203" pitchFamily="34" charset="0"/>
                <a:ea typeface="Urbanist SemiBold"/>
                <a:cs typeface="Urbanist SemiBold"/>
                <a:sym typeface="Urbanist SemiBold"/>
              </a:rPr>
              <a:t>Thư</a:t>
            </a:r>
            <a:r>
              <a:rPr lang="en-US" sz="3600" b="0" i="0" u="none" strike="noStrike" cap="none" dirty="0">
                <a:solidFill>
                  <a:srgbClr val="DEFF9A"/>
                </a:solidFill>
                <a:latin typeface="Bahnschrift SemiCondensed" panose="020B0502040204020203" pitchFamily="34" charset="0"/>
                <a:ea typeface="Urbanist SemiBold"/>
                <a:cs typeface="Urbanist SemiBold"/>
                <a:sym typeface="Urbanist SemiBold"/>
              </a:rPr>
              <a:t> </a:t>
            </a:r>
            <a:r>
              <a:rPr lang="en-US" sz="3600" b="0" i="0" u="none" strike="noStrike" cap="none" dirty="0" err="1">
                <a:solidFill>
                  <a:srgbClr val="DEFF9A"/>
                </a:solidFill>
                <a:latin typeface="Bahnschrift SemiCondensed" panose="020B0502040204020203" pitchFamily="34" charset="0"/>
                <a:ea typeface="Urbanist SemiBold"/>
                <a:cs typeface="Urbanist SemiBold"/>
                <a:sym typeface="Urbanist SemiBold"/>
              </a:rPr>
              <a:t>Viện</a:t>
            </a:r>
            <a:r>
              <a:rPr lang="en-US" sz="3600" b="0" i="0" u="none" strike="noStrike" cap="none" dirty="0">
                <a:solidFill>
                  <a:srgbClr val="DEFF9A"/>
                </a:solidFill>
                <a:latin typeface="Bahnschrift SemiCondensed" panose="020B0502040204020203" pitchFamily="34" charset="0"/>
                <a:ea typeface="Urbanist SemiBold"/>
                <a:cs typeface="Urbanist SemiBold"/>
                <a:sym typeface="Urbanist SemiBold"/>
              </a:rPr>
              <a:t>: Matplotlib (2003)</a:t>
            </a:r>
            <a:endParaRPr dirty="0">
              <a:latin typeface="Bahnschrift SemiCondensed" panose="020B0502040204020203" pitchFamily="34" charset="0"/>
            </a:endParaRPr>
          </a:p>
        </p:txBody>
      </p:sp>
      <p:sp>
        <p:nvSpPr>
          <p:cNvPr id="14" name="Google Shape;237;p21">
            <a:extLst>
              <a:ext uri="{FF2B5EF4-FFF2-40B4-BE49-F238E27FC236}">
                <a16:creationId xmlns:a16="http://schemas.microsoft.com/office/drawing/2014/main" id="{1D8CA0EE-EFFF-4FC3-97B8-573573B88609}"/>
              </a:ext>
            </a:extLst>
          </p:cNvPr>
          <p:cNvSpPr txBox="1"/>
          <p:nvPr/>
        </p:nvSpPr>
        <p:spPr>
          <a:xfrm>
            <a:off x="771525" y="3563325"/>
            <a:ext cx="4791075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Thời</a:t>
            </a:r>
            <a:r>
              <a:rPr lang="en-US" sz="1350" b="0" i="1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1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gian</a:t>
            </a:r>
            <a:r>
              <a:rPr lang="en-US" sz="1350" b="0" i="1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1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phát</a:t>
            </a:r>
            <a:r>
              <a:rPr lang="en-US" sz="1350" b="0" i="1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1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hành</a:t>
            </a:r>
            <a:r>
              <a:rPr lang="en-US" sz="1350" b="0" i="1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: 2003</a:t>
            </a:r>
            <a:endParaRPr dirty="0">
              <a:latin typeface="Bahnschrift SemiLight SemiConde" panose="020B0502040204020203" pitchFamily="34" charset="0"/>
            </a:endParaRPr>
          </a:p>
        </p:txBody>
      </p:sp>
      <p:pic>
        <p:nvPicPr>
          <p:cNvPr id="18" name="Picture 6" descr="Matplotlib - Python Library - Studyopedia">
            <a:extLst>
              <a:ext uri="{FF2B5EF4-FFF2-40B4-BE49-F238E27FC236}">
                <a16:creationId xmlns:a16="http://schemas.microsoft.com/office/drawing/2014/main" id="{3AA678FF-6822-4E5E-BEDF-7D67DAAE9E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1187" y="4471987"/>
            <a:ext cx="2571750" cy="142875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Matplotlib - An Intro to Creating Graphs with Python">
            <a:extLst>
              <a:ext uri="{FF2B5EF4-FFF2-40B4-BE49-F238E27FC236}">
                <a16:creationId xmlns:a16="http://schemas.microsoft.com/office/drawing/2014/main" id="{2C7811A7-B97E-40D7-92BF-203AA5A3017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30" t="12099" r="10381" b="12445"/>
          <a:stretch/>
        </p:blipFill>
        <p:spPr bwMode="auto">
          <a:xfrm>
            <a:off x="7419974" y="3829907"/>
            <a:ext cx="3209925" cy="248602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AutoShape 4" descr="Software Supply Chain Chronicles: Malicious Dependency hits PyTorch |  Packagecloud Blog">
            <a:extLst>
              <a:ext uri="{FF2B5EF4-FFF2-40B4-BE49-F238E27FC236}">
                <a16:creationId xmlns:a16="http://schemas.microsoft.com/office/drawing/2014/main" id="{A9865A79-DB53-42DD-BF46-02BFDF03A58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0" name="Google Shape;280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266;p23" descr="image.png">
            <a:extLst>
              <a:ext uri="{FF2B5EF4-FFF2-40B4-BE49-F238E27FC236}">
                <a16:creationId xmlns:a16="http://schemas.microsoft.com/office/drawing/2014/main" id="{F292247F-9843-4038-BE0A-81C1017FC94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409700"/>
            <a:ext cx="5381625" cy="506730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4"/>
          <p:cNvSpPr txBox="1"/>
          <p:nvPr/>
        </p:nvSpPr>
        <p:spPr>
          <a:xfrm>
            <a:off x="476250" y="381000"/>
            <a:ext cx="117157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 err="1">
                <a:solidFill>
                  <a:srgbClr val="DEFF9A"/>
                </a:solidFill>
                <a:latin typeface="Bahnschrift SemiCondensed" panose="020B0502040204020203" pitchFamily="34" charset="0"/>
                <a:ea typeface="Urbanist SemiBold"/>
                <a:cs typeface="Urbanist SemiBold"/>
                <a:sym typeface="Urbanist SemiBold"/>
              </a:rPr>
              <a:t>Thư</a:t>
            </a:r>
            <a:r>
              <a:rPr lang="en-US" sz="3600" b="0" i="0" u="none" strike="noStrike" cap="none" dirty="0">
                <a:solidFill>
                  <a:srgbClr val="DEFF9A"/>
                </a:solidFill>
                <a:latin typeface="Bahnschrift SemiCondensed" panose="020B0502040204020203" pitchFamily="34" charset="0"/>
                <a:ea typeface="Urbanist SemiBold"/>
                <a:cs typeface="Urbanist SemiBold"/>
                <a:sym typeface="Urbanist SemiBold"/>
              </a:rPr>
              <a:t> </a:t>
            </a:r>
            <a:r>
              <a:rPr lang="en-US" sz="3600" b="0" i="0" u="none" strike="noStrike" cap="none" dirty="0" err="1">
                <a:solidFill>
                  <a:srgbClr val="DEFF9A"/>
                </a:solidFill>
                <a:latin typeface="Bahnschrift SemiCondensed" panose="020B0502040204020203" pitchFamily="34" charset="0"/>
                <a:ea typeface="Urbanist SemiBold"/>
                <a:cs typeface="Urbanist SemiBold"/>
                <a:sym typeface="Urbanist SemiBold"/>
              </a:rPr>
              <a:t>Viện</a:t>
            </a:r>
            <a:r>
              <a:rPr lang="en-US" sz="3600" b="0" i="0" u="none" strike="noStrike" cap="none" dirty="0">
                <a:solidFill>
                  <a:srgbClr val="DEFF9A"/>
                </a:solidFill>
                <a:latin typeface="Bahnschrift SemiCondensed" panose="020B0502040204020203" pitchFamily="34" charset="0"/>
                <a:ea typeface="Urbanist SemiBold"/>
                <a:cs typeface="Urbanist SemiBold"/>
                <a:sym typeface="Urbanist SemiBold"/>
              </a:rPr>
              <a:t>: </a:t>
            </a:r>
            <a:r>
              <a:rPr lang="en-US" sz="3600" b="0" i="0" u="none" strike="noStrike" cap="none" dirty="0" err="1">
                <a:solidFill>
                  <a:srgbClr val="DEFF9A"/>
                </a:solidFill>
                <a:latin typeface="Bahnschrift SemiCondensed" panose="020B0502040204020203" pitchFamily="34" charset="0"/>
                <a:ea typeface="Urbanist SemiBold"/>
                <a:cs typeface="Urbanist SemiBold"/>
                <a:sym typeface="Urbanist SemiBold"/>
              </a:rPr>
              <a:t>PyTorch</a:t>
            </a:r>
            <a:r>
              <a:rPr lang="en-US" sz="3600" b="0" i="0" u="none" strike="noStrike" cap="none" dirty="0">
                <a:solidFill>
                  <a:srgbClr val="DEFF9A"/>
                </a:solidFill>
                <a:latin typeface="Bahnschrift SemiCondensed" panose="020B0502040204020203" pitchFamily="34" charset="0"/>
                <a:ea typeface="Urbanist SemiBold"/>
                <a:cs typeface="Urbanist SemiBold"/>
                <a:sym typeface="Urbanist SemiBold"/>
              </a:rPr>
              <a:t> (2016)</a:t>
            </a:r>
            <a:endParaRPr dirty="0">
              <a:latin typeface="Bahnschrift SemiCondensed" panose="020B0502040204020203" pitchFamily="34" charset="0"/>
            </a:endParaRPr>
          </a:p>
        </p:txBody>
      </p:sp>
      <p:sp>
        <p:nvSpPr>
          <p:cNvPr id="284" name="Google Shape;284;p24"/>
          <p:cNvSpPr txBox="1"/>
          <p:nvPr/>
        </p:nvSpPr>
        <p:spPr>
          <a:xfrm>
            <a:off x="6572250" y="2263643"/>
            <a:ext cx="5381625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DEFF9A"/>
                </a:solidFill>
                <a:latin typeface="Bahnschrift SemiCondensed" panose="020B0502040204020203" pitchFamily="34" charset="0"/>
                <a:ea typeface="Urbanist"/>
                <a:cs typeface="Urbanist"/>
                <a:sym typeface="Urbanist"/>
              </a:rPr>
              <a:t>Dynamic Graph:</a:t>
            </a:r>
            <a:r>
              <a:rPr lang="en-US" sz="1350" b="0" i="0" u="none" strike="noStrike" cap="none" dirty="0">
                <a:solidFill>
                  <a:srgbClr val="DEFF9A"/>
                </a:solidFill>
                <a:latin typeface="Bahnschrift SemiCondensed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Debug </a:t>
            </a:r>
            <a:r>
              <a:rPr lang="en-US" sz="1350" b="0" i="0" u="none" strike="noStrike" cap="none" dirty="0" err="1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dễ</a:t>
            </a:r>
            <a:r>
              <a:rPr lang="en-US" sz="1350" b="0" i="0" u="none" strike="noStrike" cap="none" dirty="0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dàng</a:t>
            </a:r>
            <a:r>
              <a:rPr lang="en-US" sz="1350" b="0" i="0" u="none" strike="noStrike" cap="none" dirty="0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, </a:t>
            </a:r>
            <a:r>
              <a:rPr lang="en-US" sz="1350" b="0" i="0" u="none" strike="noStrike" cap="none" dirty="0" err="1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linh</a:t>
            </a:r>
            <a:r>
              <a:rPr lang="en-US" sz="1350" b="0" i="0" u="none" strike="noStrike" cap="none" dirty="0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hoạt</a:t>
            </a:r>
            <a:r>
              <a:rPr lang="en-US" sz="1350" b="0" i="0" u="none" strike="noStrike" cap="none" dirty="0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.</a:t>
            </a:r>
            <a:endParaRPr dirty="0">
              <a:solidFill>
                <a:srgbClr val="DEFF9A"/>
              </a:solidFill>
              <a:latin typeface="Bahnschrift SemiLight SemiConde" panose="020B0502040204020203" pitchFamily="34" charset="0"/>
            </a:endParaRPr>
          </a:p>
        </p:txBody>
      </p:sp>
      <p:sp>
        <p:nvSpPr>
          <p:cNvPr id="285" name="Google Shape;285;p24"/>
          <p:cNvSpPr txBox="1"/>
          <p:nvPr/>
        </p:nvSpPr>
        <p:spPr>
          <a:xfrm>
            <a:off x="6572250" y="2680808"/>
            <a:ext cx="5381625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DEFF9A"/>
                </a:solidFill>
                <a:latin typeface="Bahnschrift SemiCondensed" panose="020B0502040204020203" pitchFamily="34" charset="0"/>
                <a:ea typeface="Urbanist"/>
                <a:cs typeface="Urbanist"/>
                <a:sym typeface="Urbanist"/>
              </a:rPr>
              <a:t>Hỗ</a:t>
            </a:r>
            <a:r>
              <a:rPr lang="en-US" sz="1350" b="1" i="0" u="none" strike="noStrike" cap="none" dirty="0">
                <a:solidFill>
                  <a:srgbClr val="DEFF9A"/>
                </a:solidFill>
                <a:latin typeface="Bahnschrift SemiCondensed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1" i="0" u="none" strike="noStrike" cap="none" dirty="0" err="1">
                <a:solidFill>
                  <a:srgbClr val="DEFF9A"/>
                </a:solidFill>
                <a:latin typeface="Bahnschrift SemiCondensed" panose="020B0502040204020203" pitchFamily="34" charset="0"/>
                <a:ea typeface="Urbanist"/>
                <a:cs typeface="Urbanist"/>
                <a:sym typeface="Urbanist"/>
              </a:rPr>
              <a:t>trợ</a:t>
            </a:r>
            <a:r>
              <a:rPr lang="en-US" sz="1350" b="1" i="0" u="none" strike="noStrike" cap="none" dirty="0">
                <a:solidFill>
                  <a:srgbClr val="DEFF9A"/>
                </a:solidFill>
                <a:latin typeface="Bahnschrift SemiCondensed" panose="020B0502040204020203" pitchFamily="34" charset="0"/>
                <a:ea typeface="Urbanist"/>
                <a:cs typeface="Urbanist"/>
                <a:sym typeface="Urbanist"/>
              </a:rPr>
              <a:t> GPU:</a:t>
            </a:r>
            <a:r>
              <a:rPr lang="en-US" sz="1350" b="0" i="0" u="none" strike="noStrike" cap="none" dirty="0">
                <a:solidFill>
                  <a:srgbClr val="DEFF9A"/>
                </a:solidFill>
                <a:latin typeface="Bahnschrift SemiCondensed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Tăng</a:t>
            </a:r>
            <a:r>
              <a:rPr lang="en-US" sz="1350" b="0" i="0" u="none" strike="noStrike" cap="none" dirty="0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tốc</a:t>
            </a:r>
            <a:r>
              <a:rPr lang="en-US" sz="1350" b="0" i="0" u="none" strike="noStrike" cap="none" dirty="0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huấn</a:t>
            </a:r>
            <a:r>
              <a:rPr lang="en-US" sz="1350" b="0" i="0" u="none" strike="noStrike" cap="none" dirty="0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luyện</a:t>
            </a:r>
            <a:r>
              <a:rPr lang="en-US" sz="1350" b="0" i="0" u="none" strike="noStrike" cap="none" dirty="0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mô</a:t>
            </a:r>
            <a:r>
              <a:rPr lang="en-US" sz="1350" b="0" i="0" u="none" strike="noStrike" cap="none" dirty="0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hình</a:t>
            </a:r>
            <a:r>
              <a:rPr lang="en-US" sz="1350" b="0" i="0" u="none" strike="noStrike" cap="none" dirty="0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lớn</a:t>
            </a:r>
            <a:r>
              <a:rPr lang="en-US" sz="1350" b="0" i="0" u="none" strike="noStrike" cap="none" dirty="0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.</a:t>
            </a:r>
            <a:endParaRPr dirty="0">
              <a:solidFill>
                <a:srgbClr val="DEFF9A"/>
              </a:solidFill>
              <a:latin typeface="Bahnschrift SemiLight SemiConde" panose="020B0502040204020203" pitchFamily="34" charset="0"/>
            </a:endParaRPr>
          </a:p>
        </p:txBody>
      </p:sp>
      <p:sp>
        <p:nvSpPr>
          <p:cNvPr id="286" name="Google Shape;286;p24"/>
          <p:cNvSpPr txBox="1"/>
          <p:nvPr/>
        </p:nvSpPr>
        <p:spPr>
          <a:xfrm>
            <a:off x="6572250" y="3097973"/>
            <a:ext cx="5381625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DEFF9A"/>
                </a:solidFill>
                <a:latin typeface="Bahnschrift SemiCondensed" panose="020B0502040204020203" pitchFamily="34" charset="0"/>
                <a:ea typeface="Urbanist"/>
                <a:cs typeface="Urbanist"/>
                <a:sym typeface="Urbanist"/>
              </a:rPr>
              <a:t>Pythonic:</a:t>
            </a:r>
            <a:r>
              <a:rPr lang="en-US" sz="1350" b="0" i="0" u="none" strike="noStrike" cap="none" dirty="0">
                <a:solidFill>
                  <a:srgbClr val="DEFF9A"/>
                </a:solidFill>
                <a:latin typeface="Bahnschrift SemiCondensed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Cú</a:t>
            </a:r>
            <a:r>
              <a:rPr lang="en-US" sz="1350" b="0" i="0" u="none" strike="noStrike" cap="none" dirty="0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pháp</a:t>
            </a:r>
            <a:r>
              <a:rPr lang="en-US" sz="1350" b="0" i="0" u="none" strike="noStrike" cap="none" dirty="0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tự</a:t>
            </a:r>
            <a:r>
              <a:rPr lang="en-US" sz="1350" b="0" i="0" u="none" strike="noStrike" cap="none" dirty="0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nhiên</a:t>
            </a:r>
            <a:r>
              <a:rPr lang="en-US" sz="1350" b="0" i="0" u="none" strike="noStrike" cap="none" dirty="0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, </a:t>
            </a:r>
            <a:r>
              <a:rPr lang="en-US" sz="1350" b="0" i="0" u="none" strike="noStrike" cap="none" dirty="0" err="1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dễ</a:t>
            </a:r>
            <a:r>
              <a:rPr lang="en-US" sz="1350" b="0" i="0" u="none" strike="noStrike" cap="none" dirty="0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học</a:t>
            </a:r>
            <a:r>
              <a:rPr lang="en-US" sz="1350" b="0" i="0" u="none" strike="noStrike" cap="none" dirty="0">
                <a:solidFill>
                  <a:srgbClr val="DEFF9A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.</a:t>
            </a:r>
            <a:endParaRPr dirty="0">
              <a:solidFill>
                <a:srgbClr val="DEFF9A"/>
              </a:solidFill>
              <a:latin typeface="Bahnschrift SemiLight SemiConde" panose="020B0502040204020203" pitchFamily="34" charset="0"/>
            </a:endParaRPr>
          </a:p>
        </p:txBody>
      </p:sp>
      <p:sp>
        <p:nvSpPr>
          <p:cNvPr id="287" name="Google Shape;287;p24"/>
          <p:cNvSpPr txBox="1"/>
          <p:nvPr/>
        </p:nvSpPr>
        <p:spPr>
          <a:xfrm>
            <a:off x="6572250" y="3515138"/>
            <a:ext cx="5381625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 dirty="0" err="1">
                <a:solidFill>
                  <a:srgbClr val="999999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Nhược</a:t>
            </a:r>
            <a:r>
              <a:rPr lang="en-US" sz="1350" b="0" i="1" u="none" strike="noStrike" cap="none" dirty="0">
                <a:solidFill>
                  <a:srgbClr val="999999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1" u="none" strike="noStrike" cap="none" dirty="0" err="1">
                <a:solidFill>
                  <a:srgbClr val="999999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điểm</a:t>
            </a:r>
            <a:r>
              <a:rPr lang="en-US" sz="1350" b="0" i="1" u="none" strike="noStrike" cap="none" dirty="0">
                <a:solidFill>
                  <a:srgbClr val="999999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: </a:t>
            </a:r>
            <a:r>
              <a:rPr lang="en-US" sz="1350" b="0" i="1" u="none" strike="noStrike" cap="none" dirty="0" err="1">
                <a:solidFill>
                  <a:srgbClr val="999999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Triển</a:t>
            </a:r>
            <a:r>
              <a:rPr lang="en-US" sz="1350" b="0" i="1" u="none" strike="noStrike" cap="none" dirty="0">
                <a:solidFill>
                  <a:srgbClr val="999999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1" u="none" strike="noStrike" cap="none" dirty="0" err="1">
                <a:solidFill>
                  <a:srgbClr val="999999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khai</a:t>
            </a:r>
            <a:r>
              <a:rPr lang="en-US" sz="1350" b="0" i="1" u="none" strike="noStrike" cap="none" dirty="0">
                <a:solidFill>
                  <a:srgbClr val="999999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(deployment) </a:t>
            </a:r>
            <a:r>
              <a:rPr lang="en-US" sz="1350" b="0" i="1" u="none" strike="noStrike" cap="none" dirty="0" err="1">
                <a:solidFill>
                  <a:srgbClr val="999999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đôi</a:t>
            </a:r>
            <a:r>
              <a:rPr lang="en-US" sz="1350" b="0" i="1" u="none" strike="noStrike" cap="none" dirty="0">
                <a:solidFill>
                  <a:srgbClr val="999999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1" u="none" strike="noStrike" cap="none" dirty="0" err="1">
                <a:solidFill>
                  <a:srgbClr val="999999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khi</a:t>
            </a:r>
            <a:r>
              <a:rPr lang="en-US" sz="1350" b="0" i="1" u="none" strike="noStrike" cap="none" dirty="0">
                <a:solidFill>
                  <a:srgbClr val="999999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1" u="none" strike="noStrike" cap="none" dirty="0" err="1">
                <a:solidFill>
                  <a:srgbClr val="999999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phức</a:t>
            </a:r>
            <a:r>
              <a:rPr lang="en-US" sz="1350" b="0" i="1" u="none" strike="noStrike" cap="none" dirty="0">
                <a:solidFill>
                  <a:srgbClr val="999999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1" u="none" strike="noStrike" cap="none" dirty="0" err="1">
                <a:solidFill>
                  <a:srgbClr val="999999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tạp</a:t>
            </a:r>
            <a:r>
              <a:rPr lang="en-US" sz="1350" b="0" i="1" u="none" strike="noStrike" cap="none" dirty="0">
                <a:solidFill>
                  <a:srgbClr val="999999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1" u="none" strike="noStrike" cap="none" dirty="0" err="1">
                <a:solidFill>
                  <a:srgbClr val="999999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hơn</a:t>
            </a:r>
            <a:r>
              <a:rPr lang="en-US" sz="1350" b="0" i="1" u="none" strike="noStrike" cap="none" dirty="0">
                <a:solidFill>
                  <a:srgbClr val="999999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TensorFlow.</a:t>
            </a:r>
            <a:endParaRPr dirty="0">
              <a:latin typeface="Bahnschrift SemiLight SemiConde" panose="020B0502040204020203" pitchFamily="34" charset="0"/>
            </a:endParaRPr>
          </a:p>
        </p:txBody>
      </p:sp>
      <p:pic>
        <p:nvPicPr>
          <p:cNvPr id="288" name="Google Shape;288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72250" y="2306505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72250" y="2723670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65;p23" descr="image.png">
            <a:extLst>
              <a:ext uri="{FF2B5EF4-FFF2-40B4-BE49-F238E27FC236}">
                <a16:creationId xmlns:a16="http://schemas.microsoft.com/office/drawing/2014/main" id="{23E41B7D-7556-48C8-A3C4-4C6EBBCC8FBD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76250" y="1409700"/>
            <a:ext cx="5381625" cy="506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72250" y="3140836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2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72250" y="3558001"/>
            <a:ext cx="1714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270;p23">
            <a:extLst>
              <a:ext uri="{FF2B5EF4-FFF2-40B4-BE49-F238E27FC236}">
                <a16:creationId xmlns:a16="http://schemas.microsoft.com/office/drawing/2014/main" id="{5D0FE77C-4F56-4940-ABAC-AFBDD1179D17}"/>
              </a:ext>
            </a:extLst>
          </p:cNvPr>
          <p:cNvSpPr txBox="1"/>
          <p:nvPr/>
        </p:nvSpPr>
        <p:spPr>
          <a:xfrm>
            <a:off x="6629400" y="1704975"/>
            <a:ext cx="5030628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 err="1">
                <a:solidFill>
                  <a:srgbClr val="DEFF9A"/>
                </a:solidFill>
                <a:latin typeface="Bahnschrift SemiLight SemiConde" panose="020B0502040204020203" pitchFamily="34" charset="0"/>
                <a:ea typeface="Urbanist SemiBold"/>
                <a:cs typeface="Urbanist SemiBold"/>
                <a:sym typeface="Urbanist SemiBold"/>
              </a:rPr>
              <a:t>Ưu</a:t>
            </a:r>
            <a:r>
              <a:rPr lang="en-US" sz="2100" b="0" i="0" u="none" strike="noStrike" cap="none" dirty="0">
                <a:solidFill>
                  <a:srgbClr val="DEFF9A"/>
                </a:solidFill>
                <a:latin typeface="Bahnschrift SemiLight SemiConde" panose="020B0502040204020203" pitchFamily="34" charset="0"/>
                <a:ea typeface="Urbanist SemiBold"/>
                <a:cs typeface="Urbanist SemiBold"/>
                <a:sym typeface="Urbanist SemiBold"/>
              </a:rPr>
              <a:t> &amp; </a:t>
            </a:r>
            <a:r>
              <a:rPr lang="en-US" sz="2100" b="0" i="0" u="none" strike="noStrike" cap="none" dirty="0" err="1">
                <a:solidFill>
                  <a:srgbClr val="DEFF9A"/>
                </a:solidFill>
                <a:latin typeface="Bahnschrift SemiLight SemiConde" panose="020B0502040204020203" pitchFamily="34" charset="0"/>
                <a:ea typeface="Urbanist SemiBold"/>
                <a:cs typeface="Urbanist SemiBold"/>
                <a:sym typeface="Urbanist SemiBold"/>
              </a:rPr>
              <a:t>Nhược</a:t>
            </a:r>
            <a:r>
              <a:rPr lang="en-US" sz="2100" b="0" i="0" u="none" strike="noStrike" cap="none" dirty="0">
                <a:solidFill>
                  <a:srgbClr val="DEFF9A"/>
                </a:solidFill>
                <a:latin typeface="Bahnschrift SemiLight SemiConde" panose="020B0502040204020203" pitchFamily="34" charset="0"/>
                <a:ea typeface="Urbanist SemiBold"/>
                <a:cs typeface="Urbanist SemiBold"/>
                <a:sym typeface="Urbanist SemiBold"/>
              </a:rPr>
              <a:t> </a:t>
            </a:r>
            <a:r>
              <a:rPr lang="en-US" sz="2100" b="0" i="0" u="none" strike="noStrike" cap="none" dirty="0" err="1">
                <a:solidFill>
                  <a:srgbClr val="DEFF9A"/>
                </a:solidFill>
                <a:latin typeface="Bahnschrift SemiLight SemiConde" panose="020B0502040204020203" pitchFamily="34" charset="0"/>
                <a:ea typeface="Urbanist SemiBold"/>
                <a:cs typeface="Urbanist SemiBold"/>
                <a:sym typeface="Urbanist SemiBold"/>
              </a:rPr>
              <a:t>Điểm</a:t>
            </a:r>
            <a:endParaRPr dirty="0">
              <a:latin typeface="Bahnschrift SemiLight SemiConde" panose="020B0502040204020203" pitchFamily="34" charset="0"/>
            </a:endParaRPr>
          </a:p>
        </p:txBody>
      </p:sp>
      <p:sp>
        <p:nvSpPr>
          <p:cNvPr id="21" name="Google Shape;267;p23">
            <a:extLst>
              <a:ext uri="{FF2B5EF4-FFF2-40B4-BE49-F238E27FC236}">
                <a16:creationId xmlns:a16="http://schemas.microsoft.com/office/drawing/2014/main" id="{981E3051-E9EC-47AF-901E-F0FF64C88DFF}"/>
              </a:ext>
            </a:extLst>
          </p:cNvPr>
          <p:cNvSpPr txBox="1"/>
          <p:nvPr/>
        </p:nvSpPr>
        <p:spPr>
          <a:xfrm>
            <a:off x="771525" y="1704975"/>
            <a:ext cx="5030628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DEFF9A"/>
                </a:solidFill>
                <a:latin typeface="Bahnschrift SemiLight SemiConde" panose="020B0502040204020203" pitchFamily="34" charset="0"/>
                <a:ea typeface="Urbanist SemiBold"/>
                <a:cs typeface="Urbanist SemiBold"/>
                <a:sym typeface="Urbanist SemiBold"/>
              </a:rPr>
              <a:t>Tổng Quan</a:t>
            </a:r>
            <a:endParaRPr>
              <a:latin typeface="Bahnschrift SemiLight SemiConde" panose="020B0502040204020203" pitchFamily="34" charset="0"/>
            </a:endParaRPr>
          </a:p>
        </p:txBody>
      </p:sp>
      <p:sp>
        <p:nvSpPr>
          <p:cNvPr id="23" name="Google Shape;268;p23">
            <a:extLst>
              <a:ext uri="{FF2B5EF4-FFF2-40B4-BE49-F238E27FC236}">
                <a16:creationId xmlns:a16="http://schemas.microsoft.com/office/drawing/2014/main" id="{218B2083-C2A7-48E6-B098-0E0E4BAABCC4}"/>
              </a:ext>
            </a:extLst>
          </p:cNvPr>
          <p:cNvSpPr txBox="1"/>
          <p:nvPr/>
        </p:nvSpPr>
        <p:spPr>
          <a:xfrm>
            <a:off x="771525" y="2343150"/>
            <a:ext cx="4791075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35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T</a:t>
            </a:r>
            <a:r>
              <a:rPr lang="en-US" sz="135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hư</a:t>
            </a:r>
            <a:r>
              <a:rPr lang="en-US" sz="135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viện</a:t>
            </a:r>
            <a:r>
              <a:rPr lang="en-US" sz="135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mã</a:t>
            </a:r>
            <a:r>
              <a:rPr lang="en-US" sz="135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nguồn</a:t>
            </a:r>
            <a:r>
              <a:rPr lang="en-US" sz="135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mở</a:t>
            </a:r>
            <a:r>
              <a:rPr lang="en-US" sz="1350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, </a:t>
            </a:r>
            <a:r>
              <a:rPr lang="en-US" sz="1350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cung</a:t>
            </a:r>
            <a:r>
              <a:rPr lang="en-US" sz="1350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cấp</a:t>
            </a:r>
            <a:r>
              <a:rPr lang="en-US" sz="1350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các</a:t>
            </a:r>
            <a:r>
              <a:rPr lang="en-US" sz="1350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cộng</a:t>
            </a:r>
            <a:r>
              <a:rPr lang="en-US" sz="1350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đồng</a:t>
            </a:r>
            <a:r>
              <a:rPr lang="en-US" sz="1350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lớn</a:t>
            </a:r>
            <a:r>
              <a:rPr lang="en-US" sz="1350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, </a:t>
            </a:r>
            <a:r>
              <a:rPr lang="en-US" sz="1350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công</a:t>
            </a:r>
            <a:r>
              <a:rPr lang="en-US" sz="1350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cụ</a:t>
            </a:r>
            <a:r>
              <a:rPr lang="en-US" sz="1350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dễ</a:t>
            </a:r>
            <a:r>
              <a:rPr lang="en-US" sz="1350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sử</a:t>
            </a:r>
            <a:r>
              <a:rPr lang="en-US" sz="1350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dụng</a:t>
            </a:r>
            <a:r>
              <a:rPr lang="en-US" sz="1350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nhằm</a:t>
            </a:r>
            <a:r>
              <a:rPr lang="en-US" sz="1350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hỗ</a:t>
            </a:r>
            <a:r>
              <a:rPr lang="en-US" sz="1350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trợ</a:t>
            </a:r>
            <a:r>
              <a:rPr lang="en-US" sz="1350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xây</a:t>
            </a:r>
            <a:r>
              <a:rPr lang="en-US" sz="1350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dựng</a:t>
            </a:r>
            <a:r>
              <a:rPr lang="en-US" sz="1350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và</a:t>
            </a:r>
            <a:r>
              <a:rPr lang="en-US" sz="1350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phát</a:t>
            </a:r>
            <a:r>
              <a:rPr lang="en-US" sz="1350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triển</a:t>
            </a:r>
            <a:r>
              <a:rPr lang="en-US" sz="1350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các</a:t>
            </a:r>
            <a:r>
              <a:rPr lang="en-US" sz="1350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mô</a:t>
            </a:r>
            <a:r>
              <a:rPr lang="en-US" sz="1350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hình</a:t>
            </a:r>
            <a:r>
              <a:rPr lang="en-US" sz="1350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trí</a:t>
            </a:r>
            <a:r>
              <a:rPr lang="en-US" sz="1350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tuệ</a:t>
            </a:r>
            <a:r>
              <a:rPr lang="en-US" sz="1350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nhân</a:t>
            </a:r>
            <a:r>
              <a:rPr lang="en-US" sz="1350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tạo</a:t>
            </a:r>
            <a:r>
              <a:rPr lang="en-US" sz="1350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.</a:t>
            </a:r>
            <a:endParaRPr lang="vi-VN" dirty="0">
              <a:latin typeface="Bahnschrift SemiLight SemiConde" panose="020B0502040204020203" pitchFamily="34" charset="0"/>
            </a:endParaRPr>
          </a:p>
        </p:txBody>
      </p:sp>
      <p:sp>
        <p:nvSpPr>
          <p:cNvPr id="24" name="Google Shape;237;p21">
            <a:extLst>
              <a:ext uri="{FF2B5EF4-FFF2-40B4-BE49-F238E27FC236}">
                <a16:creationId xmlns:a16="http://schemas.microsoft.com/office/drawing/2014/main" id="{4127807B-26F4-4456-9E63-47D8E4F0298A}"/>
              </a:ext>
            </a:extLst>
          </p:cNvPr>
          <p:cNvSpPr txBox="1"/>
          <p:nvPr/>
        </p:nvSpPr>
        <p:spPr>
          <a:xfrm>
            <a:off x="771525" y="3234630"/>
            <a:ext cx="4791075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Sáng</a:t>
            </a:r>
            <a:r>
              <a:rPr lang="en-US" sz="1350" b="0" i="1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1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lập</a:t>
            </a:r>
            <a:r>
              <a:rPr lang="en-US" sz="1350" b="0" i="1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: </a:t>
            </a:r>
            <a:r>
              <a:rPr lang="en-US" sz="1350" i="1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Facebook AI (Meta AI)</a:t>
            </a:r>
            <a:endParaRPr dirty="0">
              <a:latin typeface="Bahnschrift SemiLight SemiConde" panose="020B0502040204020203" pitchFamily="34" charset="0"/>
            </a:endParaRPr>
          </a:p>
        </p:txBody>
      </p:sp>
      <p:sp>
        <p:nvSpPr>
          <p:cNvPr id="25" name="Google Shape;237;p21">
            <a:extLst>
              <a:ext uri="{FF2B5EF4-FFF2-40B4-BE49-F238E27FC236}">
                <a16:creationId xmlns:a16="http://schemas.microsoft.com/office/drawing/2014/main" id="{70C33BFC-CBDD-4A8B-9723-80D282FE9215}"/>
              </a:ext>
            </a:extLst>
          </p:cNvPr>
          <p:cNvSpPr txBox="1"/>
          <p:nvPr/>
        </p:nvSpPr>
        <p:spPr>
          <a:xfrm>
            <a:off x="771525" y="3563325"/>
            <a:ext cx="4791075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Thời</a:t>
            </a:r>
            <a:r>
              <a:rPr lang="en-US" sz="1350" b="0" i="1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1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gian</a:t>
            </a:r>
            <a:r>
              <a:rPr lang="en-US" sz="1350" b="0" i="1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1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phát</a:t>
            </a:r>
            <a:r>
              <a:rPr lang="en-US" sz="1350" b="0" i="1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1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hành</a:t>
            </a:r>
            <a:r>
              <a:rPr lang="en-US" sz="1350" b="0" i="1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: 2016</a:t>
            </a:r>
            <a:endParaRPr dirty="0">
              <a:latin typeface="Bahnschrift SemiLight SemiConde" panose="020B0502040204020203" pitchFamily="34" charset="0"/>
            </a:endParaRPr>
          </a:p>
        </p:txBody>
      </p:sp>
      <p:pic>
        <p:nvPicPr>
          <p:cNvPr id="26" name="Picture 8" descr="PyTorch becomes part of the Linux Foundation — EN">
            <a:extLst>
              <a:ext uri="{FF2B5EF4-FFF2-40B4-BE49-F238E27FC236}">
                <a16:creationId xmlns:a16="http://schemas.microsoft.com/office/drawing/2014/main" id="{3484633A-A547-4E27-87BD-6D50FD81E3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7322" y="4471987"/>
            <a:ext cx="2359479" cy="142875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6" name="Picture 2" descr="Functionalization in PyTorch: Everything You Wanted To Know - compiler -  PyTorch Developer Mailing List">
            <a:extLst>
              <a:ext uri="{FF2B5EF4-FFF2-40B4-BE49-F238E27FC236}">
                <a16:creationId xmlns:a16="http://schemas.microsoft.com/office/drawing/2014/main" id="{7E51D3DE-FCFC-480E-87EA-C9A70C2E6E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4624" y="4060285"/>
            <a:ext cx="3640626" cy="220396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7" name="Google Shape;297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1409700"/>
            <a:ext cx="5381625" cy="506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409700"/>
            <a:ext cx="5381625" cy="50673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5"/>
          <p:cNvSpPr txBox="1"/>
          <p:nvPr/>
        </p:nvSpPr>
        <p:spPr>
          <a:xfrm>
            <a:off x="771525" y="1704975"/>
            <a:ext cx="5030628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DEFF9A"/>
                </a:solidFill>
                <a:latin typeface="Bahnschrift SemiLight SemiConde" panose="020B0502040204020203" pitchFamily="34" charset="0"/>
                <a:ea typeface="Urbanist SemiBold"/>
                <a:cs typeface="Urbanist SemiBold"/>
                <a:sym typeface="Urbanist SemiBold"/>
              </a:rPr>
              <a:t> Kaggle</a:t>
            </a:r>
            <a:endParaRPr dirty="0">
              <a:latin typeface="Bahnschrift SemiLight SemiConde" panose="020B0502040204020203" pitchFamily="34" charset="0"/>
            </a:endParaRPr>
          </a:p>
        </p:txBody>
      </p:sp>
      <p:sp>
        <p:nvSpPr>
          <p:cNvPr id="301" name="Google Shape;301;p25"/>
          <p:cNvSpPr txBox="1"/>
          <p:nvPr/>
        </p:nvSpPr>
        <p:spPr>
          <a:xfrm>
            <a:off x="771525" y="2343150"/>
            <a:ext cx="4791075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Nền tảng của Google. Nổi tiếng với các cuộc thi Data Science và kho dataset khổng lồ.</a:t>
            </a:r>
            <a:endParaRPr>
              <a:latin typeface="Bahnschrift SemiLight SemiConde" panose="020B0502040204020203" pitchFamily="34" charset="0"/>
            </a:endParaRPr>
          </a:p>
        </p:txBody>
      </p:sp>
      <p:sp>
        <p:nvSpPr>
          <p:cNvPr id="302" name="Google Shape;302;p25"/>
          <p:cNvSpPr txBox="1"/>
          <p:nvPr/>
        </p:nvSpPr>
        <p:spPr>
          <a:xfrm>
            <a:off x="771525" y="3158430"/>
            <a:ext cx="4791075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Ví dụ: Titanic, Iris, Housing Prices.</a:t>
            </a:r>
            <a:endParaRPr>
              <a:latin typeface="Bahnschrift SemiLight SemiConde" panose="020B0502040204020203" pitchFamily="34" charset="0"/>
            </a:endParaRPr>
          </a:p>
        </p:txBody>
      </p:sp>
      <p:sp>
        <p:nvSpPr>
          <p:cNvPr id="303" name="Google Shape;303;p25"/>
          <p:cNvSpPr txBox="1"/>
          <p:nvPr/>
        </p:nvSpPr>
        <p:spPr>
          <a:xfrm>
            <a:off x="6629400" y="1704975"/>
            <a:ext cx="5030628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DEFF9A"/>
                </a:solidFill>
                <a:latin typeface="Bahnschrift SemiLight SemiConde" panose="020B0502040204020203" pitchFamily="34" charset="0"/>
                <a:ea typeface="Urbanist SemiBold"/>
                <a:cs typeface="Urbanist SemiBold"/>
                <a:sym typeface="Urbanist SemiBold"/>
              </a:rPr>
              <a:t> Hugging Face</a:t>
            </a:r>
            <a:endParaRPr dirty="0">
              <a:latin typeface="Bahnschrift SemiLight SemiConde" panose="020B0502040204020203" pitchFamily="34" charset="0"/>
            </a:endParaRPr>
          </a:p>
        </p:txBody>
      </p:sp>
      <p:sp>
        <p:nvSpPr>
          <p:cNvPr id="304" name="Google Shape;304;p25"/>
          <p:cNvSpPr txBox="1"/>
          <p:nvPr/>
        </p:nvSpPr>
        <p:spPr>
          <a:xfrm>
            <a:off x="6629400" y="2343150"/>
            <a:ext cx="4791075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Được</a:t>
            </a:r>
            <a:r>
              <a:rPr lang="en-US" sz="135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coi</a:t>
            </a:r>
            <a:r>
              <a:rPr lang="en-US" sz="135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là</a:t>
            </a:r>
            <a:r>
              <a:rPr lang="en-US" sz="135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"GitHub </a:t>
            </a:r>
            <a:r>
              <a:rPr lang="en-US" sz="135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của</a:t>
            </a:r>
            <a:r>
              <a:rPr lang="en-US" sz="135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ML". </a:t>
            </a:r>
            <a:r>
              <a:rPr lang="en-US" sz="135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Tập</a:t>
            </a:r>
            <a:r>
              <a:rPr lang="en-US" sz="135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trung</a:t>
            </a:r>
            <a:r>
              <a:rPr lang="en-US" sz="135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vào</a:t>
            </a:r>
            <a:r>
              <a:rPr lang="en-US" sz="135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NLP </a:t>
            </a:r>
            <a:r>
              <a:rPr lang="en-US" sz="135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và</a:t>
            </a:r>
            <a:r>
              <a:rPr lang="en-US" sz="135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Computer Vision </a:t>
            </a:r>
            <a:r>
              <a:rPr lang="en-US" sz="135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với</a:t>
            </a:r>
            <a:r>
              <a:rPr lang="en-US" sz="135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hàng</a:t>
            </a:r>
            <a:r>
              <a:rPr lang="en-US" sz="135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nghìn</a:t>
            </a:r>
            <a:r>
              <a:rPr lang="en-US" sz="135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Model </a:t>
            </a:r>
            <a:r>
              <a:rPr lang="en-US" sz="135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và</a:t>
            </a:r>
            <a:r>
              <a:rPr lang="en-US" sz="135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Dataset </a:t>
            </a:r>
            <a:r>
              <a:rPr lang="en-US" sz="135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có</a:t>
            </a:r>
            <a:r>
              <a:rPr lang="en-US" sz="135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sẵn</a:t>
            </a:r>
            <a:r>
              <a:rPr lang="en-US" sz="135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.</a:t>
            </a:r>
            <a:endParaRPr dirty="0">
              <a:latin typeface="Bahnschrift SemiLight SemiConde" panose="020B0502040204020203" pitchFamily="34" charset="0"/>
            </a:endParaRPr>
          </a:p>
        </p:txBody>
      </p:sp>
      <p:sp>
        <p:nvSpPr>
          <p:cNvPr id="305" name="Google Shape;305;p25"/>
          <p:cNvSpPr txBox="1"/>
          <p:nvPr/>
        </p:nvSpPr>
        <p:spPr>
          <a:xfrm>
            <a:off x="6629400" y="3158430"/>
            <a:ext cx="4791075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Tính năng: Models, Datasets, Spaces (Demo App).</a:t>
            </a:r>
            <a:endParaRPr>
              <a:latin typeface="Bahnschrift SemiLight SemiConde" panose="020B0502040204020203" pitchFamily="34" charset="0"/>
            </a:endParaRPr>
          </a:p>
        </p:txBody>
      </p:sp>
      <p:pic>
        <p:nvPicPr>
          <p:cNvPr id="306" name="Google Shape;306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71525" y="1733550"/>
            <a:ext cx="17145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2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29400" y="1733550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25"/>
          <p:cNvSpPr txBox="1"/>
          <p:nvPr/>
        </p:nvSpPr>
        <p:spPr>
          <a:xfrm>
            <a:off x="476250" y="381000"/>
            <a:ext cx="117157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 err="1">
                <a:solidFill>
                  <a:srgbClr val="DEFF9A"/>
                </a:solidFill>
                <a:latin typeface="Bahnschrift SemiCondensed" panose="020B0502040204020203" pitchFamily="34" charset="0"/>
                <a:ea typeface="Urbanist SemiBold"/>
                <a:cs typeface="Urbanist SemiBold"/>
                <a:sym typeface="Urbanist SemiBold"/>
              </a:rPr>
              <a:t>Nguồn</a:t>
            </a:r>
            <a:r>
              <a:rPr lang="en-US" sz="3600" b="0" i="0" u="none" strike="noStrike" cap="none" dirty="0">
                <a:solidFill>
                  <a:srgbClr val="DEFF9A"/>
                </a:solidFill>
                <a:latin typeface="Bahnschrift SemiCondensed" panose="020B0502040204020203" pitchFamily="34" charset="0"/>
                <a:ea typeface="Urbanist SemiBold"/>
                <a:cs typeface="Urbanist SemiBold"/>
                <a:sym typeface="Urbanist SemiBold"/>
              </a:rPr>
              <a:t> </a:t>
            </a:r>
            <a:r>
              <a:rPr lang="en-US" sz="3600" b="0" i="0" u="none" strike="noStrike" cap="none" dirty="0" err="1">
                <a:solidFill>
                  <a:srgbClr val="DEFF9A"/>
                </a:solidFill>
                <a:latin typeface="Bahnschrift SemiCondensed" panose="020B0502040204020203" pitchFamily="34" charset="0"/>
                <a:ea typeface="Urbanist SemiBold"/>
                <a:cs typeface="Urbanist SemiBold"/>
                <a:sym typeface="Urbanist SemiBold"/>
              </a:rPr>
              <a:t>Dữ</a:t>
            </a:r>
            <a:r>
              <a:rPr lang="en-US" sz="3600" b="0" i="0" u="none" strike="noStrike" cap="none" dirty="0">
                <a:solidFill>
                  <a:srgbClr val="DEFF9A"/>
                </a:solidFill>
                <a:latin typeface="Bahnschrift SemiCondensed" panose="020B0502040204020203" pitchFamily="34" charset="0"/>
                <a:ea typeface="Urbanist SemiBold"/>
                <a:cs typeface="Urbanist SemiBold"/>
                <a:sym typeface="Urbanist SemiBold"/>
              </a:rPr>
              <a:t> </a:t>
            </a:r>
            <a:r>
              <a:rPr lang="en-US" sz="3600" b="0" i="0" u="none" strike="noStrike" cap="none" dirty="0" err="1">
                <a:solidFill>
                  <a:srgbClr val="DEFF9A"/>
                </a:solidFill>
                <a:latin typeface="Bahnschrift SemiCondensed" panose="020B0502040204020203" pitchFamily="34" charset="0"/>
                <a:ea typeface="Urbanist SemiBold"/>
                <a:cs typeface="Urbanist SemiBold"/>
                <a:sym typeface="Urbanist SemiBold"/>
              </a:rPr>
              <a:t>Liệu</a:t>
            </a:r>
            <a:r>
              <a:rPr lang="en-US" sz="3600" b="0" i="0" u="none" strike="noStrike" cap="none" dirty="0">
                <a:solidFill>
                  <a:srgbClr val="DEFF9A"/>
                </a:solidFill>
                <a:latin typeface="Bahnschrift SemiCondensed" panose="020B0502040204020203" pitchFamily="34" charset="0"/>
                <a:ea typeface="Urbanist SemiBold"/>
                <a:cs typeface="Urbanist SemiBold"/>
                <a:sym typeface="Urbanist SemiBold"/>
              </a:rPr>
              <a:t> </a:t>
            </a:r>
            <a:r>
              <a:rPr lang="en-US" sz="3600" b="0" i="0" u="none" strike="noStrike" cap="none" dirty="0" err="1">
                <a:solidFill>
                  <a:srgbClr val="DEFF9A"/>
                </a:solidFill>
                <a:latin typeface="Bahnschrift SemiCondensed" panose="020B0502040204020203" pitchFamily="34" charset="0"/>
                <a:ea typeface="Urbanist SemiBold"/>
                <a:cs typeface="Urbanist SemiBold"/>
                <a:sym typeface="Urbanist SemiBold"/>
              </a:rPr>
              <a:t>Phổ</a:t>
            </a:r>
            <a:r>
              <a:rPr lang="en-US" sz="3600" b="0" i="0" u="none" strike="noStrike" cap="none" dirty="0">
                <a:solidFill>
                  <a:srgbClr val="DEFF9A"/>
                </a:solidFill>
                <a:latin typeface="Bahnschrift SemiCondensed" panose="020B0502040204020203" pitchFamily="34" charset="0"/>
                <a:ea typeface="Urbanist SemiBold"/>
                <a:cs typeface="Urbanist SemiBold"/>
                <a:sym typeface="Urbanist SemiBold"/>
              </a:rPr>
              <a:t> </a:t>
            </a:r>
            <a:r>
              <a:rPr lang="en-US" sz="3600" b="0" i="0" u="none" strike="noStrike" cap="none" dirty="0" err="1">
                <a:solidFill>
                  <a:srgbClr val="DEFF9A"/>
                </a:solidFill>
                <a:latin typeface="Bahnschrift SemiCondensed" panose="020B0502040204020203" pitchFamily="34" charset="0"/>
                <a:ea typeface="Urbanist SemiBold"/>
                <a:cs typeface="Urbanist SemiBold"/>
                <a:sym typeface="Urbanist SemiBold"/>
              </a:rPr>
              <a:t>Biến</a:t>
            </a:r>
            <a:endParaRPr dirty="0">
              <a:latin typeface="Bahnschrift SemiCondensed" panose="020B0502040204020203" pitchFamily="34" charset="0"/>
            </a:endParaRPr>
          </a:p>
        </p:txBody>
      </p:sp>
      <p:pic>
        <p:nvPicPr>
          <p:cNvPr id="7170" name="Picture 2" descr="Kaggle: Your Machine Learning and Data Science Community">
            <a:extLst>
              <a:ext uri="{FF2B5EF4-FFF2-40B4-BE49-F238E27FC236}">
                <a16:creationId xmlns:a16="http://schemas.microsoft.com/office/drawing/2014/main" id="{2F4F20F4-DDEF-4533-B568-C5F5033A8A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2624" y="3874148"/>
            <a:ext cx="2428875" cy="2147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6" name="Picture 8" descr="Hugging Face - Weights &amp; Biases Documentation">
            <a:extLst>
              <a:ext uri="{FF2B5EF4-FFF2-40B4-BE49-F238E27FC236}">
                <a16:creationId xmlns:a16="http://schemas.microsoft.com/office/drawing/2014/main" id="{49BAE3E5-587B-4BCC-9B97-2646CDD2CA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4530673"/>
            <a:ext cx="4791075" cy="836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1409699"/>
            <a:ext cx="5381625" cy="5075767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409700"/>
            <a:ext cx="5381625" cy="50673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771525" y="1704975"/>
            <a:ext cx="5030628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DEFF9A"/>
                </a:solidFill>
                <a:latin typeface="Bahnschrift SemiLight SemiConde" panose="020B0502040204020203" pitchFamily="34" charset="0"/>
                <a:ea typeface="Urbanist SemiBold"/>
                <a:cs typeface="Urbanist SemiBold"/>
                <a:sym typeface="Urbanist SemiBold"/>
              </a:rPr>
              <a:t> </a:t>
            </a:r>
            <a:r>
              <a:rPr lang="en-US" sz="2100" b="0" i="0" u="none" strike="noStrike" cap="none" dirty="0" err="1">
                <a:solidFill>
                  <a:srgbClr val="DEFF9A"/>
                </a:solidFill>
                <a:latin typeface="Bahnschrift SemiLight SemiConde" panose="020B0502040204020203" pitchFamily="34" charset="0"/>
                <a:ea typeface="Urbanist SemiBold"/>
                <a:cs typeface="Urbanist SemiBold"/>
                <a:sym typeface="Urbanist SemiBold"/>
              </a:rPr>
              <a:t>Khái</a:t>
            </a:r>
            <a:r>
              <a:rPr lang="en-US" sz="2100" b="0" i="0" u="none" strike="noStrike" cap="none" dirty="0">
                <a:solidFill>
                  <a:srgbClr val="DEFF9A"/>
                </a:solidFill>
                <a:latin typeface="Bahnschrift SemiLight SemiConde" panose="020B0502040204020203" pitchFamily="34" charset="0"/>
                <a:ea typeface="Urbanist SemiBold"/>
                <a:cs typeface="Urbanist SemiBold"/>
                <a:sym typeface="Urbanist SemiBold"/>
              </a:rPr>
              <a:t> </a:t>
            </a:r>
            <a:r>
              <a:rPr lang="en-US" sz="2100" b="0" i="0" u="none" strike="noStrike" cap="none" dirty="0" err="1">
                <a:solidFill>
                  <a:srgbClr val="DEFF9A"/>
                </a:solidFill>
                <a:latin typeface="Bahnschrift SemiLight SemiConde" panose="020B0502040204020203" pitchFamily="34" charset="0"/>
                <a:ea typeface="Urbanist SemiBold"/>
                <a:cs typeface="Urbanist SemiBold"/>
                <a:sym typeface="Urbanist SemiBold"/>
              </a:rPr>
              <a:t>Niệm</a:t>
            </a:r>
            <a:endParaRPr dirty="0">
              <a:latin typeface="Bahnschrift SemiLight SemiConde" panose="020B0502040204020203" pitchFamily="34" charset="0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771525" y="2343150"/>
            <a:ext cx="4791075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Bước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tiếp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cận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ban </a:t>
            </a:r>
            <a:r>
              <a:rPr lang="en-US" sz="150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đầu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nhằm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thấu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hiểu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đặc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điểm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cơ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bản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, </a:t>
            </a:r>
            <a:r>
              <a:rPr lang="en-US" sz="150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cấu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trúc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và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chất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lượng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dữ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liệu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thông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qua </a:t>
            </a:r>
            <a:r>
              <a:rPr lang="en-US" sz="150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thống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kê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và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trực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quan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hóa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.</a:t>
            </a:r>
            <a:endParaRPr sz="1500" dirty="0">
              <a:latin typeface="Bahnschrift SemiLight SemiConde" panose="020B0502040204020203" pitchFamily="34" charset="0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771525" y="3219450"/>
            <a:ext cx="479107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strike="noStrike" cap="none" dirty="0" err="1">
                <a:solidFill>
                  <a:srgbClr val="9CA3A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Mục</a:t>
            </a:r>
            <a:r>
              <a:rPr lang="en-US" sz="1200" b="0" i="1" u="none" strike="noStrike" cap="none" dirty="0">
                <a:solidFill>
                  <a:srgbClr val="9CA3A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200" b="0" i="1" u="none" strike="noStrike" cap="none" dirty="0" err="1">
                <a:solidFill>
                  <a:srgbClr val="9CA3A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đích</a:t>
            </a:r>
            <a:r>
              <a:rPr lang="en-US" sz="1200" b="0" i="1" u="none" strike="noStrike" cap="none" dirty="0">
                <a:solidFill>
                  <a:srgbClr val="9CA3A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: </a:t>
            </a:r>
            <a:r>
              <a:rPr lang="en-US" sz="1200" b="0" i="1" u="none" strike="noStrike" cap="none" dirty="0" err="1">
                <a:solidFill>
                  <a:srgbClr val="9CA3A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Xác</a:t>
            </a:r>
            <a:r>
              <a:rPr lang="en-US" sz="1200" b="0" i="1" u="none" strike="noStrike" cap="none" dirty="0">
                <a:solidFill>
                  <a:srgbClr val="9CA3A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200" b="0" i="1" u="none" strike="noStrike" cap="none" dirty="0" err="1">
                <a:solidFill>
                  <a:srgbClr val="9CA3A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định</a:t>
            </a:r>
            <a:r>
              <a:rPr lang="en-US" sz="1200" b="0" i="1" u="none" strike="noStrike" cap="none" dirty="0">
                <a:solidFill>
                  <a:srgbClr val="9CA3A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200" b="0" i="1" u="none" strike="noStrike" cap="none" dirty="0" err="1">
                <a:solidFill>
                  <a:srgbClr val="9CA3A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tính</a:t>
            </a:r>
            <a:r>
              <a:rPr lang="en-US" sz="1200" b="0" i="1" u="none" strike="noStrike" cap="none" dirty="0">
                <a:solidFill>
                  <a:srgbClr val="9CA3A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200" b="0" i="1" u="none" strike="noStrike" cap="none" dirty="0" err="1">
                <a:solidFill>
                  <a:srgbClr val="9CA3A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khả</a:t>
            </a:r>
            <a:r>
              <a:rPr lang="en-US" sz="1200" b="0" i="1" u="none" strike="noStrike" cap="none" dirty="0">
                <a:solidFill>
                  <a:srgbClr val="9CA3A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200" b="0" i="1" u="none" strike="noStrike" cap="none" dirty="0" err="1">
                <a:solidFill>
                  <a:srgbClr val="9CA3A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thi</a:t>
            </a:r>
            <a:r>
              <a:rPr lang="en-US" sz="1200" b="0" i="1" u="none" strike="noStrike" cap="none" dirty="0">
                <a:solidFill>
                  <a:srgbClr val="9CA3A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200" b="0" i="1" u="none" strike="noStrike" cap="none" dirty="0" err="1">
                <a:solidFill>
                  <a:srgbClr val="9CA3A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trước</a:t>
            </a:r>
            <a:r>
              <a:rPr lang="en-US" sz="1200" b="0" i="1" u="none" strike="noStrike" cap="none" dirty="0">
                <a:solidFill>
                  <a:srgbClr val="9CA3A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200" b="0" i="1" u="none" strike="noStrike" cap="none" dirty="0" err="1">
                <a:solidFill>
                  <a:srgbClr val="9CA3A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khi</a:t>
            </a:r>
            <a:r>
              <a:rPr lang="en-US" sz="1200" b="0" i="1" u="none" strike="noStrike" cap="none" dirty="0">
                <a:solidFill>
                  <a:srgbClr val="9CA3A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200" b="0" i="1" u="none" strike="noStrike" cap="none" dirty="0" err="1">
                <a:solidFill>
                  <a:srgbClr val="9CA3A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áp</a:t>
            </a:r>
            <a:r>
              <a:rPr lang="en-US" sz="1200" b="0" i="1" u="none" strike="noStrike" cap="none" dirty="0">
                <a:solidFill>
                  <a:srgbClr val="9CA3A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200" b="0" i="1" u="none" strike="noStrike" cap="none" dirty="0" err="1">
                <a:solidFill>
                  <a:srgbClr val="9CA3A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dụng</a:t>
            </a:r>
            <a:r>
              <a:rPr lang="en-US" sz="1200" b="0" i="1" u="none" strike="noStrike" cap="none" dirty="0">
                <a:solidFill>
                  <a:srgbClr val="9CA3A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200" b="0" i="1" u="none" strike="noStrike" cap="none" dirty="0" err="1">
                <a:solidFill>
                  <a:srgbClr val="9CA3A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thuật</a:t>
            </a:r>
            <a:r>
              <a:rPr lang="en-US" sz="1200" b="0" i="1" u="none" strike="noStrike" cap="none" dirty="0">
                <a:solidFill>
                  <a:srgbClr val="9CA3A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200" b="0" i="1" u="none" strike="noStrike" cap="none" dirty="0" err="1">
                <a:solidFill>
                  <a:srgbClr val="9CA3A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toán</a:t>
            </a:r>
            <a:r>
              <a:rPr lang="en-US" sz="1200" b="0" i="1" u="none" strike="noStrike" cap="none" dirty="0">
                <a:solidFill>
                  <a:srgbClr val="9CA3A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ML.</a:t>
            </a:r>
            <a:endParaRPr dirty="0">
              <a:latin typeface="Bahnschrift SemiLight SemiConde" panose="020B0502040204020203" pitchFamily="34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629400" y="1704975"/>
            <a:ext cx="5030628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DEFF9A"/>
                </a:solidFill>
                <a:latin typeface="Bahnschrift SemiLight SemiConde" panose="020B0502040204020203" pitchFamily="34" charset="0"/>
                <a:ea typeface="Urbanist SemiBold"/>
                <a:cs typeface="Urbanist SemiBold"/>
                <a:sym typeface="Urbanist SemiBold"/>
              </a:rPr>
              <a:t> </a:t>
            </a:r>
            <a:r>
              <a:rPr lang="en-US" sz="2100" b="0" i="0" u="none" strike="noStrike" cap="none" dirty="0" err="1">
                <a:solidFill>
                  <a:srgbClr val="DEFF9A"/>
                </a:solidFill>
                <a:latin typeface="Bahnschrift SemiLight SemiConde" panose="020B0502040204020203" pitchFamily="34" charset="0"/>
                <a:ea typeface="Urbanist SemiBold"/>
                <a:cs typeface="Urbanist SemiBold"/>
                <a:sym typeface="Urbanist SemiBold"/>
              </a:rPr>
              <a:t>Hiểu</a:t>
            </a:r>
            <a:r>
              <a:rPr lang="en-US" sz="2100" b="0" i="0" u="none" strike="noStrike" cap="none" dirty="0">
                <a:solidFill>
                  <a:srgbClr val="DEFF9A"/>
                </a:solidFill>
                <a:latin typeface="Bahnschrift SemiLight SemiConde" panose="020B0502040204020203" pitchFamily="34" charset="0"/>
                <a:ea typeface="Urbanist SemiBold"/>
                <a:cs typeface="Urbanist SemiBold"/>
                <a:sym typeface="Urbanist SemiBold"/>
              </a:rPr>
              <a:t> </a:t>
            </a:r>
            <a:r>
              <a:rPr lang="en-US" sz="2100" b="0" i="0" u="none" strike="noStrike" cap="none" dirty="0" err="1">
                <a:solidFill>
                  <a:srgbClr val="DEFF9A"/>
                </a:solidFill>
                <a:latin typeface="Bahnschrift SemiLight SemiConde" panose="020B0502040204020203" pitchFamily="34" charset="0"/>
                <a:ea typeface="Urbanist SemiBold"/>
                <a:cs typeface="Urbanist SemiBold"/>
                <a:sym typeface="Urbanist SemiBold"/>
              </a:rPr>
              <a:t>Dữ</a:t>
            </a:r>
            <a:r>
              <a:rPr lang="en-US" sz="2100" b="0" i="0" u="none" strike="noStrike" cap="none" dirty="0">
                <a:solidFill>
                  <a:srgbClr val="DEFF9A"/>
                </a:solidFill>
                <a:latin typeface="Bahnschrift SemiLight SemiConde" panose="020B0502040204020203" pitchFamily="34" charset="0"/>
                <a:ea typeface="Urbanist SemiBold"/>
                <a:cs typeface="Urbanist SemiBold"/>
                <a:sym typeface="Urbanist SemiBold"/>
              </a:rPr>
              <a:t> </a:t>
            </a:r>
            <a:r>
              <a:rPr lang="en-US" sz="2100" b="0" i="0" u="none" strike="noStrike" cap="none" dirty="0" err="1">
                <a:solidFill>
                  <a:srgbClr val="DEFF9A"/>
                </a:solidFill>
                <a:latin typeface="Bahnschrift SemiLight SemiConde" panose="020B0502040204020203" pitchFamily="34" charset="0"/>
                <a:ea typeface="Urbanist SemiBold"/>
                <a:cs typeface="Urbanist SemiBold"/>
                <a:sym typeface="Urbanist SemiBold"/>
              </a:rPr>
              <a:t>Liệu</a:t>
            </a:r>
            <a:r>
              <a:rPr lang="en-US" sz="2100" b="0" i="0" u="none" strike="noStrike" cap="none" dirty="0">
                <a:solidFill>
                  <a:srgbClr val="DEFF9A"/>
                </a:solidFill>
                <a:latin typeface="Bahnschrift SemiLight SemiConde" panose="020B0502040204020203" pitchFamily="34" charset="0"/>
                <a:ea typeface="Urbanist SemiBold"/>
                <a:cs typeface="Urbanist SemiBold"/>
                <a:sym typeface="Urbanist SemiBold"/>
              </a:rPr>
              <a:t> (Data Understanding)</a:t>
            </a:r>
            <a:endParaRPr dirty="0">
              <a:latin typeface="Bahnschrift SemiLight SemiConde" panose="020B0502040204020203" pitchFamily="34" charset="0"/>
            </a:endParaRPr>
          </a:p>
        </p:txBody>
      </p:sp>
      <p:pic>
        <p:nvPicPr>
          <p:cNvPr id="91" name="Google Shape;91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71525" y="173355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29400" y="1733550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3"/>
          <p:cNvSpPr txBox="1"/>
          <p:nvPr/>
        </p:nvSpPr>
        <p:spPr>
          <a:xfrm>
            <a:off x="6629400" y="2324100"/>
            <a:ext cx="479107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Kiểm tra cấu trúc:</a:t>
            </a:r>
            <a:r>
              <a:rPr lang="en-US" sz="1200" b="0" i="0" u="none" strike="noStrike" cap="none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Xác định kích thước (quan sát/đặc trưng) và kiểu dữ liệu.</a:t>
            </a:r>
            <a:endParaRPr>
              <a:latin typeface="Bahnschrift SemiLight SemiConde" panose="020B0502040204020203" pitchFamily="34" charset="0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6629400" y="2895600"/>
            <a:ext cx="479107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Định danh biến:</a:t>
            </a:r>
            <a:r>
              <a:rPr lang="en-US" sz="1200" b="0" i="0" u="none" strike="noStrike" cap="none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Phân loại biến định lượng vs định tính, Input vs Output.</a:t>
            </a:r>
            <a:endParaRPr>
              <a:latin typeface="Bahnschrift SemiLight SemiConde" panose="020B0502040204020203" pitchFamily="34" charset="0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6629400" y="3467100"/>
            <a:ext cx="479107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Chất lượng dữ liệu:</a:t>
            </a:r>
            <a:endParaRPr>
              <a:latin typeface="Bahnschrift SemiLight SemiConde" panose="020B0502040204020203" pitchFamily="34" charset="0"/>
            </a:endParaRPr>
          </a:p>
        </p:txBody>
      </p:sp>
      <p:pic>
        <p:nvPicPr>
          <p:cNvPr id="96" name="Google Shape;96;p1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629400" y="235267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629400" y="292417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629400" y="3495675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3"/>
          <p:cNvSpPr txBox="1"/>
          <p:nvPr/>
        </p:nvSpPr>
        <p:spPr>
          <a:xfrm>
            <a:off x="6886575" y="3743325"/>
            <a:ext cx="28575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•</a:t>
            </a:r>
            <a:endParaRPr>
              <a:latin typeface="Bahnschrift SemiLight SemiConde" panose="020B0502040204020203" pitchFamily="34" charset="0"/>
            </a:endParaRPr>
          </a:p>
        </p:txBody>
      </p:sp>
      <p:sp>
        <p:nvSpPr>
          <p:cNvPr id="100" name="Google Shape;100;p13"/>
          <p:cNvSpPr txBox="1"/>
          <p:nvPr/>
        </p:nvSpPr>
        <p:spPr>
          <a:xfrm>
            <a:off x="6915150" y="3743325"/>
            <a:ext cx="4505325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Phát hiện giá trị khuyết (Missing Values).</a:t>
            </a:r>
            <a:endParaRPr>
              <a:latin typeface="Bahnschrift SemiLight SemiConde" panose="020B0502040204020203" pitchFamily="34" charset="0"/>
            </a:endParaRPr>
          </a:p>
        </p:txBody>
      </p:sp>
      <p:sp>
        <p:nvSpPr>
          <p:cNvPr id="101" name="Google Shape;101;p13"/>
          <p:cNvSpPr txBox="1"/>
          <p:nvPr/>
        </p:nvSpPr>
        <p:spPr>
          <a:xfrm>
            <a:off x="6886575" y="4000500"/>
            <a:ext cx="28575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•</a:t>
            </a:r>
            <a:endParaRPr>
              <a:latin typeface="Bahnschrift SemiLight SemiConde" panose="020B0502040204020203" pitchFamily="34" charset="0"/>
            </a:endParaRPr>
          </a:p>
        </p:txBody>
      </p:sp>
      <p:sp>
        <p:nvSpPr>
          <p:cNvPr id="102" name="Google Shape;102;p13"/>
          <p:cNvSpPr txBox="1"/>
          <p:nvPr/>
        </p:nvSpPr>
        <p:spPr>
          <a:xfrm>
            <a:off x="6915150" y="4000500"/>
            <a:ext cx="4505325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Kiểm tra tính nhất quán (Duplicates, sai định dạng).</a:t>
            </a:r>
            <a:endParaRPr>
              <a:latin typeface="Bahnschrift SemiLight SemiConde" panose="020B0502040204020203" pitchFamily="34" charset="0"/>
            </a:endParaRPr>
          </a:p>
        </p:txBody>
      </p:sp>
      <p:sp>
        <p:nvSpPr>
          <p:cNvPr id="103" name="Google Shape;103;p13"/>
          <p:cNvSpPr txBox="1"/>
          <p:nvPr/>
        </p:nvSpPr>
        <p:spPr>
          <a:xfrm>
            <a:off x="476250" y="381000"/>
            <a:ext cx="117157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 err="1">
                <a:solidFill>
                  <a:srgbClr val="DEFF9A"/>
                </a:solidFill>
                <a:latin typeface="Bahnschrift SemiCondensed" panose="020B0502040204020203" pitchFamily="34" charset="0"/>
                <a:ea typeface="Urbanist SemiBold"/>
                <a:cs typeface="Urbanist SemiBold"/>
                <a:sym typeface="Urbanist SemiBold"/>
              </a:rPr>
              <a:t>Phân</a:t>
            </a:r>
            <a:r>
              <a:rPr lang="en-US" sz="3600" b="0" i="0" u="none" strike="noStrike" cap="none" dirty="0">
                <a:solidFill>
                  <a:srgbClr val="DEFF9A"/>
                </a:solidFill>
                <a:latin typeface="Bahnschrift SemiCondensed" panose="020B0502040204020203" pitchFamily="34" charset="0"/>
                <a:ea typeface="Urbanist SemiBold"/>
                <a:cs typeface="Urbanist SemiBold"/>
                <a:sym typeface="Urbanist SemiBold"/>
              </a:rPr>
              <a:t> </a:t>
            </a:r>
            <a:r>
              <a:rPr lang="en-US" sz="3600" b="0" i="0" u="none" strike="noStrike" cap="none" dirty="0" err="1">
                <a:solidFill>
                  <a:srgbClr val="DEFF9A"/>
                </a:solidFill>
                <a:latin typeface="Bahnschrift SemiCondensed" panose="020B0502040204020203" pitchFamily="34" charset="0"/>
                <a:ea typeface="Urbanist SemiBold"/>
                <a:cs typeface="Urbanist SemiBold"/>
                <a:sym typeface="Urbanist SemiBold"/>
              </a:rPr>
              <a:t>Tích</a:t>
            </a:r>
            <a:r>
              <a:rPr lang="en-US" sz="3600" b="0" i="0" u="none" strike="noStrike" cap="none" dirty="0">
                <a:solidFill>
                  <a:srgbClr val="DEFF9A"/>
                </a:solidFill>
                <a:latin typeface="Bahnschrift SemiCondensed" panose="020B0502040204020203" pitchFamily="34" charset="0"/>
                <a:ea typeface="Urbanist SemiBold"/>
                <a:cs typeface="Urbanist SemiBold"/>
                <a:sym typeface="Urbanist SemiBold"/>
              </a:rPr>
              <a:t> </a:t>
            </a:r>
            <a:r>
              <a:rPr lang="en-US" sz="3600" b="0" i="0" u="none" strike="noStrike" cap="none" dirty="0" err="1">
                <a:solidFill>
                  <a:srgbClr val="DEFF9A"/>
                </a:solidFill>
                <a:latin typeface="Bahnschrift SemiCondensed" panose="020B0502040204020203" pitchFamily="34" charset="0"/>
                <a:ea typeface="Urbanist SemiBold"/>
                <a:cs typeface="Urbanist SemiBold"/>
                <a:sym typeface="Urbanist SemiBold"/>
              </a:rPr>
              <a:t>Dữ</a:t>
            </a:r>
            <a:r>
              <a:rPr lang="en-US" sz="3600" b="0" i="0" u="none" strike="noStrike" cap="none" dirty="0">
                <a:solidFill>
                  <a:srgbClr val="DEFF9A"/>
                </a:solidFill>
                <a:latin typeface="Bahnschrift SemiCondensed" panose="020B0502040204020203" pitchFamily="34" charset="0"/>
                <a:ea typeface="Urbanist SemiBold"/>
                <a:cs typeface="Urbanist SemiBold"/>
                <a:sym typeface="Urbanist SemiBold"/>
              </a:rPr>
              <a:t> </a:t>
            </a:r>
            <a:r>
              <a:rPr lang="en-US" sz="3600" b="0" i="0" u="none" strike="noStrike" cap="none" dirty="0" err="1">
                <a:solidFill>
                  <a:srgbClr val="DEFF9A"/>
                </a:solidFill>
                <a:latin typeface="Bahnschrift SemiCondensed" panose="020B0502040204020203" pitchFamily="34" charset="0"/>
                <a:ea typeface="Urbanist SemiBold"/>
                <a:cs typeface="Urbanist SemiBold"/>
                <a:sym typeface="Urbanist SemiBold"/>
              </a:rPr>
              <a:t>Liệu</a:t>
            </a:r>
            <a:r>
              <a:rPr lang="en-US" sz="3600" b="0" i="0" u="none" strike="noStrike" cap="none" dirty="0">
                <a:solidFill>
                  <a:srgbClr val="DEFF9A"/>
                </a:solidFill>
                <a:latin typeface="Bahnschrift SemiCondensed" panose="020B0502040204020203" pitchFamily="34" charset="0"/>
                <a:ea typeface="Urbanist SemiBold"/>
                <a:cs typeface="Urbanist SemiBold"/>
                <a:sym typeface="Urbanist SemiBold"/>
              </a:rPr>
              <a:t> </a:t>
            </a:r>
            <a:r>
              <a:rPr lang="en-US" sz="3600" b="0" i="0" u="none" strike="noStrike" cap="none" dirty="0" err="1">
                <a:solidFill>
                  <a:srgbClr val="DEFF9A"/>
                </a:solidFill>
                <a:latin typeface="Bahnschrift SemiCondensed" panose="020B0502040204020203" pitchFamily="34" charset="0"/>
                <a:ea typeface="Urbanist SemiBold"/>
                <a:cs typeface="Urbanist SemiBold"/>
                <a:sym typeface="Urbanist SemiBold"/>
              </a:rPr>
              <a:t>Sơ</a:t>
            </a:r>
            <a:r>
              <a:rPr lang="en-US" sz="3600" b="0" i="0" u="none" strike="noStrike" cap="none" dirty="0">
                <a:solidFill>
                  <a:srgbClr val="DEFF9A"/>
                </a:solidFill>
                <a:latin typeface="Bahnschrift SemiCondensed" panose="020B0502040204020203" pitchFamily="34" charset="0"/>
                <a:ea typeface="Urbanist SemiBold"/>
                <a:cs typeface="Urbanist SemiBold"/>
                <a:sym typeface="Urbanist SemiBold"/>
              </a:rPr>
              <a:t> </a:t>
            </a:r>
            <a:r>
              <a:rPr lang="en-US" sz="3600" b="0" i="0" u="none" strike="noStrike" cap="none" dirty="0" err="1">
                <a:solidFill>
                  <a:srgbClr val="DEFF9A"/>
                </a:solidFill>
                <a:latin typeface="Bahnschrift SemiCondensed" panose="020B0502040204020203" pitchFamily="34" charset="0"/>
                <a:ea typeface="Urbanist SemiBold"/>
                <a:cs typeface="Urbanist SemiBold"/>
                <a:sym typeface="Urbanist SemiBold"/>
              </a:rPr>
              <a:t>Bộ</a:t>
            </a:r>
            <a:r>
              <a:rPr lang="en-US" sz="3600" b="0" i="0" u="none" strike="noStrike" cap="none" dirty="0">
                <a:solidFill>
                  <a:srgbClr val="DEFF9A"/>
                </a:solidFill>
                <a:latin typeface="Bahnschrift SemiCondensed" panose="020B0502040204020203" pitchFamily="34" charset="0"/>
                <a:ea typeface="Urbanist SemiBold"/>
                <a:cs typeface="Urbanist SemiBold"/>
                <a:sym typeface="Urbanist SemiBold"/>
              </a:rPr>
              <a:t> (EDA)</a:t>
            </a:r>
            <a:endParaRPr dirty="0">
              <a:latin typeface="Bahnschrift SemiCondensed" panose="020B0502040204020203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2959893"/>
            <a:ext cx="3619500" cy="25860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86250" y="2959893"/>
            <a:ext cx="3619500" cy="25860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96250" y="2959893"/>
            <a:ext cx="3619500" cy="2586037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4"/>
          <p:cNvSpPr txBox="1"/>
          <p:nvPr/>
        </p:nvSpPr>
        <p:spPr>
          <a:xfrm>
            <a:off x="476250" y="2512218"/>
            <a:ext cx="11239500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Sử</a:t>
            </a:r>
            <a:r>
              <a:rPr lang="en-US" sz="135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dụng</a:t>
            </a:r>
            <a:r>
              <a:rPr lang="en-US" sz="135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thống</a:t>
            </a:r>
            <a:r>
              <a:rPr lang="en-US" sz="135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kê</a:t>
            </a:r>
            <a:r>
              <a:rPr lang="en-US" sz="135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toán</a:t>
            </a:r>
            <a:r>
              <a:rPr lang="en-US" sz="135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học</a:t>
            </a:r>
            <a:r>
              <a:rPr lang="en-US" sz="135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để</a:t>
            </a:r>
            <a:r>
              <a:rPr lang="en-US" sz="135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định</a:t>
            </a:r>
            <a:r>
              <a:rPr lang="en-US" sz="135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lượng</a:t>
            </a:r>
            <a:r>
              <a:rPr lang="en-US" sz="135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đặc</a:t>
            </a:r>
            <a:r>
              <a:rPr lang="en-US" sz="135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tính</a:t>
            </a:r>
            <a:r>
              <a:rPr lang="en-US" sz="135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dữ</a:t>
            </a:r>
            <a:r>
              <a:rPr lang="en-US" sz="135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liệu</a:t>
            </a:r>
            <a:r>
              <a:rPr lang="en-US" sz="135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.</a:t>
            </a:r>
            <a:endParaRPr dirty="0">
              <a:latin typeface="Bahnschrift SemiLight SemiConde" panose="020B0502040204020203" pitchFamily="34" charset="0"/>
            </a:endParaRPr>
          </a:p>
        </p:txBody>
      </p:sp>
      <p:sp>
        <p:nvSpPr>
          <p:cNvPr id="113" name="Google Shape;113;p14"/>
          <p:cNvSpPr txBox="1"/>
          <p:nvPr/>
        </p:nvSpPr>
        <p:spPr>
          <a:xfrm>
            <a:off x="645794" y="3855243"/>
            <a:ext cx="328041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Bahnschrift SemiLight SemiConde" panose="020B0502040204020203" pitchFamily="34" charset="0"/>
                <a:ea typeface="Urbanist SemiBold"/>
                <a:cs typeface="Urbanist SemiBold"/>
                <a:sym typeface="Urbanist SemiBold"/>
              </a:rPr>
              <a:t>Xu hướng tập trung</a:t>
            </a:r>
            <a:endParaRPr>
              <a:latin typeface="Bahnschrift SemiLight SemiConde" panose="020B0502040204020203" pitchFamily="34" charset="0"/>
            </a:endParaRPr>
          </a:p>
        </p:txBody>
      </p:sp>
      <p:sp>
        <p:nvSpPr>
          <p:cNvPr id="114" name="Google Shape;114;p14"/>
          <p:cNvSpPr txBox="1"/>
          <p:nvPr/>
        </p:nvSpPr>
        <p:spPr>
          <a:xfrm>
            <a:off x="4455795" y="3855243"/>
            <a:ext cx="328041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Bahnschrift SemiLight SemiConde" panose="020B0502040204020203" pitchFamily="34" charset="0"/>
                <a:ea typeface="Urbanist SemiBold"/>
                <a:cs typeface="Urbanist SemiBold"/>
                <a:sym typeface="Urbanist SemiBold"/>
              </a:rPr>
              <a:t>Độ phân tán</a:t>
            </a:r>
            <a:endParaRPr>
              <a:latin typeface="Bahnschrift SemiLight SemiConde" panose="020B0502040204020203" pitchFamily="34" charset="0"/>
            </a:endParaRPr>
          </a:p>
        </p:txBody>
      </p:sp>
      <p:sp>
        <p:nvSpPr>
          <p:cNvPr id="115" name="Google Shape;115;p14"/>
          <p:cNvSpPr txBox="1"/>
          <p:nvPr/>
        </p:nvSpPr>
        <p:spPr>
          <a:xfrm>
            <a:off x="8265795" y="3855243"/>
            <a:ext cx="328041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Bahnschrift SemiLight SemiConde" panose="020B0502040204020203" pitchFamily="34" charset="0"/>
                <a:ea typeface="Urbanist SemiBold"/>
                <a:cs typeface="Urbanist SemiBold"/>
                <a:sym typeface="Urbanist SemiBold"/>
              </a:rPr>
              <a:t>Nâng cao</a:t>
            </a:r>
            <a:endParaRPr>
              <a:latin typeface="Bahnschrift SemiLight SemiConde" panose="020B0502040204020203" pitchFamily="34" charset="0"/>
            </a:endParaRPr>
          </a:p>
        </p:txBody>
      </p:sp>
      <p:pic>
        <p:nvPicPr>
          <p:cNvPr id="116" name="Google Shape;116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95500" y="3236118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 txBox="1"/>
          <p:nvPr/>
        </p:nvSpPr>
        <p:spPr>
          <a:xfrm>
            <a:off x="723900" y="4226718"/>
            <a:ext cx="31242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9CA3A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Mean:</a:t>
            </a:r>
            <a:r>
              <a:rPr lang="en-US" sz="1200" b="0" i="0" u="none" strike="noStrike" cap="none">
                <a:solidFill>
                  <a:srgbClr val="9CA3A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Giá trị trung bình.</a:t>
            </a:r>
            <a:endParaRPr sz="1600">
              <a:latin typeface="Bahnschrift SemiLight SemiConde" panose="020B0502040204020203" pitchFamily="34" charset="0"/>
            </a:endParaRPr>
          </a:p>
        </p:txBody>
      </p:sp>
      <p:sp>
        <p:nvSpPr>
          <p:cNvPr id="118" name="Google Shape;118;p14"/>
          <p:cNvSpPr txBox="1"/>
          <p:nvPr/>
        </p:nvSpPr>
        <p:spPr>
          <a:xfrm>
            <a:off x="723900" y="4583906"/>
            <a:ext cx="31242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9CA3A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Median:</a:t>
            </a:r>
            <a:r>
              <a:rPr lang="en-US" sz="1200" b="0" i="0" u="none" strike="noStrike" cap="none">
                <a:solidFill>
                  <a:srgbClr val="9CA3A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Giá trị giữa (dùng khi dữ liệu lệch).</a:t>
            </a:r>
            <a:endParaRPr sz="1600">
              <a:latin typeface="Bahnschrift SemiLight SemiConde" panose="020B0502040204020203" pitchFamily="34" charset="0"/>
            </a:endParaRPr>
          </a:p>
        </p:txBody>
      </p:sp>
      <p:sp>
        <p:nvSpPr>
          <p:cNvPr id="119" name="Google Shape;119;p14"/>
          <p:cNvSpPr txBox="1"/>
          <p:nvPr/>
        </p:nvSpPr>
        <p:spPr>
          <a:xfrm>
            <a:off x="723900" y="4941093"/>
            <a:ext cx="31242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9CA3A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Mode:</a:t>
            </a:r>
            <a:r>
              <a:rPr lang="en-US" sz="1200" b="0" i="0" u="none" strike="noStrike" cap="none">
                <a:solidFill>
                  <a:srgbClr val="9CA3A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Giá trị xuất hiện nhiều nhất.</a:t>
            </a:r>
            <a:endParaRPr sz="1600">
              <a:latin typeface="Bahnschrift SemiLight SemiConde" panose="020B0502040204020203" pitchFamily="34" charset="0"/>
            </a:endParaRPr>
          </a:p>
        </p:txBody>
      </p:sp>
      <p:pic>
        <p:nvPicPr>
          <p:cNvPr id="120" name="Google Shape;120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57875" y="3236118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4"/>
          <p:cNvSpPr txBox="1"/>
          <p:nvPr/>
        </p:nvSpPr>
        <p:spPr>
          <a:xfrm>
            <a:off x="4533900" y="4226718"/>
            <a:ext cx="31242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9CA3A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Variance:</a:t>
            </a:r>
            <a:r>
              <a:rPr lang="en-US" sz="1200" b="0" i="0" u="none" strike="noStrike" cap="none">
                <a:solidFill>
                  <a:srgbClr val="9CA3A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Phương sai.</a:t>
            </a:r>
            <a:endParaRPr sz="1600">
              <a:latin typeface="Bahnschrift SemiLight SemiConde" panose="020B0502040204020203" pitchFamily="34" charset="0"/>
            </a:endParaRPr>
          </a:p>
        </p:txBody>
      </p:sp>
      <p:sp>
        <p:nvSpPr>
          <p:cNvPr id="122" name="Google Shape;122;p14"/>
          <p:cNvSpPr txBox="1"/>
          <p:nvPr/>
        </p:nvSpPr>
        <p:spPr>
          <a:xfrm>
            <a:off x="4533900" y="4583906"/>
            <a:ext cx="31242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9CA3A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Std Dev (</a:t>
            </a:r>
            <a:r>
              <a:rPr lang="en-US" sz="1200" b="1" i="1" u="none" strike="noStrike" cap="none">
                <a:solidFill>
                  <a:srgbClr val="9CA3A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σ</a:t>
            </a:r>
            <a:r>
              <a:rPr lang="en-US" sz="1200" b="1" i="0" u="none" strike="noStrike" cap="none">
                <a:solidFill>
                  <a:srgbClr val="9CA3A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):</a:t>
            </a:r>
            <a:r>
              <a:rPr lang="en-US" sz="1200" b="0" i="0" u="none" strike="noStrike" cap="none">
                <a:solidFill>
                  <a:srgbClr val="9CA3A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Độ lệch chuẩn.</a:t>
            </a:r>
            <a:endParaRPr sz="1600">
              <a:latin typeface="Bahnschrift SemiLight SemiConde" panose="020B0502040204020203" pitchFamily="34" charset="0"/>
            </a:endParaRPr>
          </a:p>
        </p:txBody>
      </p:sp>
      <p:sp>
        <p:nvSpPr>
          <p:cNvPr id="123" name="Google Shape;123;p14"/>
          <p:cNvSpPr txBox="1"/>
          <p:nvPr/>
        </p:nvSpPr>
        <p:spPr>
          <a:xfrm>
            <a:off x="4533900" y="4941093"/>
            <a:ext cx="31242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9CA3A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IQR:</a:t>
            </a:r>
            <a:r>
              <a:rPr lang="en-US" sz="1200" b="0" i="0" u="none" strike="noStrike" cap="none">
                <a:solidFill>
                  <a:srgbClr val="9CA3A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Khoảng tứ phân vị (Q3 - Q1).</a:t>
            </a:r>
            <a:endParaRPr sz="1600">
              <a:latin typeface="Bahnschrift SemiLight SemiConde" panose="020B0502040204020203" pitchFamily="34" charset="0"/>
            </a:endParaRPr>
          </a:p>
        </p:txBody>
      </p:sp>
      <p:pic>
        <p:nvPicPr>
          <p:cNvPr id="124" name="Google Shape;124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715500" y="3236118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4"/>
          <p:cNvSpPr txBox="1"/>
          <p:nvPr/>
        </p:nvSpPr>
        <p:spPr>
          <a:xfrm>
            <a:off x="8343900" y="4226718"/>
            <a:ext cx="31242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9CA3A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Outliers:</a:t>
            </a:r>
            <a:r>
              <a:rPr lang="en-US" sz="1200" b="0" i="0" u="none" strike="noStrike" cap="none">
                <a:solidFill>
                  <a:srgbClr val="9CA3A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Giá trị ngoại lai (dị biệt).</a:t>
            </a:r>
            <a:endParaRPr sz="1600">
              <a:latin typeface="Bahnschrift SemiLight SemiConde" panose="020B0502040204020203" pitchFamily="34" charset="0"/>
            </a:endParaRPr>
          </a:p>
        </p:txBody>
      </p:sp>
      <p:sp>
        <p:nvSpPr>
          <p:cNvPr id="126" name="Google Shape;126;p14"/>
          <p:cNvSpPr txBox="1"/>
          <p:nvPr/>
        </p:nvSpPr>
        <p:spPr>
          <a:xfrm>
            <a:off x="8343900" y="4583906"/>
            <a:ext cx="31242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9CA3A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Correlation:</a:t>
            </a:r>
            <a:r>
              <a:rPr lang="en-US" sz="1200" b="0" i="0" u="none" strike="noStrike" cap="none">
                <a:solidFill>
                  <a:srgbClr val="9CA3AF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Phân tích tương quan (Pearson/Spearman).</a:t>
            </a:r>
            <a:endParaRPr sz="1600">
              <a:latin typeface="Bahnschrift SemiLight SemiConde" panose="020B0502040204020203" pitchFamily="34" charset="0"/>
            </a:endParaRPr>
          </a:p>
        </p:txBody>
      </p:sp>
      <p:sp>
        <p:nvSpPr>
          <p:cNvPr id="127" name="Google Shape;127;p14"/>
          <p:cNvSpPr txBox="1"/>
          <p:nvPr/>
        </p:nvSpPr>
        <p:spPr>
          <a:xfrm>
            <a:off x="476250" y="381000"/>
            <a:ext cx="117157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 err="1">
                <a:solidFill>
                  <a:srgbClr val="DEFF9A"/>
                </a:solidFill>
                <a:latin typeface="Bahnschrift SemiCondensed" panose="020B0502040204020203" pitchFamily="34" charset="0"/>
                <a:ea typeface="Urbanist SemiBold"/>
                <a:cs typeface="Urbanist SemiBold"/>
                <a:sym typeface="Urbanist SemiBold"/>
              </a:rPr>
              <a:t>Phân</a:t>
            </a:r>
            <a:r>
              <a:rPr lang="en-US" sz="3600" b="0" i="0" u="none" strike="noStrike" cap="none" dirty="0">
                <a:solidFill>
                  <a:srgbClr val="DEFF9A"/>
                </a:solidFill>
                <a:latin typeface="Bahnschrift SemiCondensed" panose="020B0502040204020203" pitchFamily="34" charset="0"/>
                <a:ea typeface="Urbanist SemiBold"/>
                <a:cs typeface="Urbanist SemiBold"/>
                <a:sym typeface="Urbanist SemiBold"/>
              </a:rPr>
              <a:t> </a:t>
            </a:r>
            <a:r>
              <a:rPr lang="en-US" sz="3600" b="0" i="0" u="none" strike="noStrike" cap="none" dirty="0" err="1">
                <a:solidFill>
                  <a:srgbClr val="DEFF9A"/>
                </a:solidFill>
                <a:latin typeface="Bahnschrift SemiCondensed" panose="020B0502040204020203" pitchFamily="34" charset="0"/>
                <a:ea typeface="Urbanist SemiBold"/>
                <a:cs typeface="Urbanist SemiBold"/>
                <a:sym typeface="Urbanist SemiBold"/>
              </a:rPr>
              <a:t>Tích</a:t>
            </a:r>
            <a:r>
              <a:rPr lang="en-US" sz="3600" b="0" i="0" u="none" strike="noStrike" cap="none" dirty="0">
                <a:solidFill>
                  <a:srgbClr val="DEFF9A"/>
                </a:solidFill>
                <a:latin typeface="Bahnschrift SemiCondensed" panose="020B0502040204020203" pitchFamily="34" charset="0"/>
                <a:ea typeface="Urbanist SemiBold"/>
                <a:cs typeface="Urbanist SemiBold"/>
                <a:sym typeface="Urbanist SemiBold"/>
              </a:rPr>
              <a:t> </a:t>
            </a:r>
            <a:r>
              <a:rPr lang="en-US" sz="3600" b="0" i="0" u="none" strike="noStrike" cap="none" dirty="0" err="1">
                <a:solidFill>
                  <a:srgbClr val="DEFF9A"/>
                </a:solidFill>
                <a:latin typeface="Bahnschrift SemiCondensed" panose="020B0502040204020203" pitchFamily="34" charset="0"/>
                <a:ea typeface="Urbanist SemiBold"/>
                <a:cs typeface="Urbanist SemiBold"/>
                <a:sym typeface="Urbanist SemiBold"/>
              </a:rPr>
              <a:t>Dữ</a:t>
            </a:r>
            <a:r>
              <a:rPr lang="en-US" sz="3600" b="0" i="0" u="none" strike="noStrike" cap="none" dirty="0">
                <a:solidFill>
                  <a:srgbClr val="DEFF9A"/>
                </a:solidFill>
                <a:latin typeface="Bahnschrift SemiCondensed" panose="020B0502040204020203" pitchFamily="34" charset="0"/>
                <a:ea typeface="Urbanist SemiBold"/>
                <a:cs typeface="Urbanist SemiBold"/>
                <a:sym typeface="Urbanist SemiBold"/>
              </a:rPr>
              <a:t> </a:t>
            </a:r>
            <a:r>
              <a:rPr lang="en-US" sz="3600" b="0" i="0" u="none" strike="noStrike" cap="none" dirty="0" err="1">
                <a:solidFill>
                  <a:srgbClr val="DEFF9A"/>
                </a:solidFill>
                <a:latin typeface="Bahnschrift SemiCondensed" panose="020B0502040204020203" pitchFamily="34" charset="0"/>
                <a:ea typeface="Urbanist SemiBold"/>
                <a:cs typeface="Urbanist SemiBold"/>
                <a:sym typeface="Urbanist SemiBold"/>
              </a:rPr>
              <a:t>Liệu</a:t>
            </a:r>
            <a:r>
              <a:rPr lang="en-US" sz="3600" b="0" i="0" u="none" strike="noStrike" cap="none" dirty="0">
                <a:solidFill>
                  <a:srgbClr val="DEFF9A"/>
                </a:solidFill>
                <a:latin typeface="Bahnschrift SemiCondensed" panose="020B0502040204020203" pitchFamily="34" charset="0"/>
                <a:ea typeface="Urbanist SemiBold"/>
                <a:cs typeface="Urbanist SemiBold"/>
                <a:sym typeface="Urbanist SemiBold"/>
              </a:rPr>
              <a:t> (Data Analysis)</a:t>
            </a:r>
            <a:endParaRPr dirty="0">
              <a:latin typeface="Bahnschrift SemiCondensed" panose="020B0502040204020203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1409700"/>
            <a:ext cx="5381625" cy="506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409700"/>
            <a:ext cx="5381625" cy="506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5"/>
          <p:cNvSpPr txBox="1"/>
          <p:nvPr/>
        </p:nvSpPr>
        <p:spPr>
          <a:xfrm>
            <a:off x="771525" y="1704975"/>
            <a:ext cx="5030628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381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DEFF9A"/>
                </a:solidFill>
                <a:latin typeface="Bahnschrift SemiLight SemiConde" panose="020B0502040204020203" pitchFamily="34" charset="0"/>
                <a:ea typeface="Urbanist SemiBold"/>
                <a:cs typeface="Urbanist SemiBold"/>
                <a:sym typeface="Urbanist SemiBold"/>
              </a:rPr>
              <a:t>Phân Tích Đơn Biến (Univariate)</a:t>
            </a:r>
            <a:endParaRPr>
              <a:latin typeface="Bahnschrift SemiLight SemiConde" panose="020B0502040204020203" pitchFamily="34" charset="0"/>
            </a:endParaRPr>
          </a:p>
        </p:txBody>
      </p:sp>
      <p:sp>
        <p:nvSpPr>
          <p:cNvPr id="136" name="Google Shape;136;p15"/>
          <p:cNvSpPr txBox="1"/>
          <p:nvPr/>
        </p:nvSpPr>
        <p:spPr>
          <a:xfrm>
            <a:off x="771525" y="2343150"/>
            <a:ext cx="4791075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Kiểm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tra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phân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phối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của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từng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biến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riêng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lẻ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.</a:t>
            </a:r>
            <a:endParaRPr sz="1500" dirty="0">
              <a:latin typeface="Bahnschrift SemiLight SemiConde" panose="020B0502040204020203" pitchFamily="34" charset="0"/>
            </a:endParaRPr>
          </a:p>
        </p:txBody>
      </p:sp>
      <p:sp>
        <p:nvSpPr>
          <p:cNvPr id="137" name="Google Shape;137;p15"/>
          <p:cNvSpPr txBox="1"/>
          <p:nvPr/>
        </p:nvSpPr>
        <p:spPr>
          <a:xfrm>
            <a:off x="6629400" y="1704975"/>
            <a:ext cx="5030628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33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DEFF9A"/>
                </a:solidFill>
                <a:latin typeface="Bahnschrift SemiLight SemiConde" panose="020B0502040204020203" pitchFamily="34" charset="0"/>
                <a:ea typeface="Urbanist SemiBold"/>
                <a:cs typeface="Urbanist SemiBold"/>
                <a:sym typeface="Urbanist SemiBold"/>
              </a:rPr>
              <a:t>Phân Tích Đa Biến (Multivariate)</a:t>
            </a:r>
            <a:endParaRPr>
              <a:latin typeface="Bahnschrift SemiLight SemiConde" panose="020B0502040204020203" pitchFamily="34" charset="0"/>
            </a:endParaRPr>
          </a:p>
        </p:txBody>
      </p:sp>
      <p:sp>
        <p:nvSpPr>
          <p:cNvPr id="138" name="Google Shape;138;p15"/>
          <p:cNvSpPr txBox="1"/>
          <p:nvPr/>
        </p:nvSpPr>
        <p:spPr>
          <a:xfrm>
            <a:off x="6629400" y="2343150"/>
            <a:ext cx="4791075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Quan </a:t>
            </a:r>
            <a:r>
              <a:rPr lang="en-US" sz="150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sát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mối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quan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hệ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giữa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nhiều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biến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.</a:t>
            </a:r>
            <a:endParaRPr sz="1500" dirty="0">
              <a:latin typeface="Bahnschrift SemiLight SemiConde" panose="020B0502040204020203" pitchFamily="34" charset="0"/>
            </a:endParaRPr>
          </a:p>
        </p:txBody>
      </p:sp>
      <p:pic>
        <p:nvPicPr>
          <p:cNvPr id="139" name="Google Shape;139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71525" y="1733550"/>
            <a:ext cx="2381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5"/>
          <p:cNvSpPr txBox="1"/>
          <p:nvPr/>
        </p:nvSpPr>
        <p:spPr>
          <a:xfrm>
            <a:off x="771525" y="2895600"/>
            <a:ext cx="47910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i="0" u="none" strike="noStrike" cap="none" dirty="0">
                <a:solidFill>
                  <a:srgbClr val="DEFF9A"/>
                </a:solidFill>
                <a:latin typeface="Bahnschrift SemiCondensed" panose="020B0502040204020203" pitchFamily="34" charset="0"/>
                <a:ea typeface="Urbanist"/>
                <a:cs typeface="Urbanist"/>
                <a:sym typeface="Urbanist"/>
              </a:rPr>
              <a:t>Histogram / Density Plot:</a:t>
            </a:r>
            <a:r>
              <a:rPr lang="en-US" sz="1200" i="0" u="none" strike="noStrike" cap="none" dirty="0">
                <a:solidFill>
                  <a:srgbClr val="D1D5DB"/>
                </a:solidFill>
                <a:latin typeface="Bahnschrift SemiCondensed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Bahnschrift SemiLight SemiConde" panose="020B0502040204020203" pitchFamily="34" charset="0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20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Xem</a:t>
            </a:r>
            <a:r>
              <a:rPr lang="en-US" sz="120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20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hình</a:t>
            </a:r>
            <a:r>
              <a:rPr lang="en-US" sz="120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20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dạng</a:t>
            </a:r>
            <a:r>
              <a:rPr lang="en-US" sz="120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20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phân</a:t>
            </a:r>
            <a:r>
              <a:rPr lang="en-US" sz="120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20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phối</a:t>
            </a:r>
            <a:r>
              <a:rPr lang="en-US" sz="120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20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xác</a:t>
            </a:r>
            <a:r>
              <a:rPr lang="en-US" sz="120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20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suất</a:t>
            </a:r>
            <a:r>
              <a:rPr lang="en-US" sz="120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.</a:t>
            </a:r>
            <a:endParaRPr dirty="0">
              <a:latin typeface="Bahnschrift SemiLight SemiConde" panose="020B0502040204020203" pitchFamily="34" charset="0"/>
            </a:endParaRPr>
          </a:p>
        </p:txBody>
      </p:sp>
      <p:sp>
        <p:nvSpPr>
          <p:cNvPr id="141" name="Google Shape;141;p15"/>
          <p:cNvSpPr txBox="1"/>
          <p:nvPr/>
        </p:nvSpPr>
        <p:spPr>
          <a:xfrm>
            <a:off x="771525" y="3448050"/>
            <a:ext cx="47910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i="0" u="none" strike="noStrike" cap="none" dirty="0">
                <a:solidFill>
                  <a:srgbClr val="DEFF9A"/>
                </a:solidFill>
                <a:latin typeface="Bahnschrift SemiCondensed" panose="020B0502040204020203" pitchFamily="34" charset="0"/>
                <a:ea typeface="Urbanist"/>
                <a:cs typeface="Urbanist"/>
                <a:sym typeface="Urbanist"/>
              </a:rPr>
              <a:t>Boxplot (</a:t>
            </a:r>
            <a:r>
              <a:rPr lang="en-US" sz="1200" i="0" u="none" strike="noStrike" cap="none" dirty="0" err="1">
                <a:solidFill>
                  <a:srgbClr val="DEFF9A"/>
                </a:solidFill>
                <a:latin typeface="Bahnschrift SemiCondensed" panose="020B0502040204020203" pitchFamily="34" charset="0"/>
                <a:ea typeface="Urbanist"/>
                <a:cs typeface="Urbanist"/>
                <a:sym typeface="Urbanist"/>
              </a:rPr>
              <a:t>Biểu</a:t>
            </a:r>
            <a:r>
              <a:rPr lang="en-US" sz="1200" i="0" u="none" strike="noStrike" cap="none" dirty="0">
                <a:solidFill>
                  <a:srgbClr val="DEFF9A"/>
                </a:solidFill>
                <a:latin typeface="Bahnschrift SemiCondensed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200" i="0" u="none" strike="noStrike" cap="none" dirty="0" err="1">
                <a:solidFill>
                  <a:srgbClr val="DEFF9A"/>
                </a:solidFill>
                <a:latin typeface="Bahnschrift SemiCondensed" panose="020B0502040204020203" pitchFamily="34" charset="0"/>
                <a:ea typeface="Urbanist"/>
                <a:cs typeface="Urbanist"/>
                <a:sym typeface="Urbanist"/>
              </a:rPr>
              <a:t>đồ</a:t>
            </a:r>
            <a:r>
              <a:rPr lang="en-US" sz="1200" i="0" u="none" strike="noStrike" cap="none" dirty="0">
                <a:solidFill>
                  <a:srgbClr val="DEFF9A"/>
                </a:solidFill>
                <a:latin typeface="Bahnschrift SemiCondensed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200" i="0" u="none" strike="noStrike" cap="none" dirty="0" err="1">
                <a:solidFill>
                  <a:srgbClr val="DEFF9A"/>
                </a:solidFill>
                <a:latin typeface="Bahnschrift SemiCondensed" panose="020B0502040204020203" pitchFamily="34" charset="0"/>
                <a:ea typeface="Urbanist"/>
                <a:cs typeface="Urbanist"/>
                <a:sym typeface="Urbanist"/>
              </a:rPr>
              <a:t>hộp</a:t>
            </a:r>
            <a:r>
              <a:rPr lang="en-US" sz="1200" i="0" u="none" strike="noStrike" cap="none" dirty="0">
                <a:solidFill>
                  <a:srgbClr val="DEFF9A"/>
                </a:solidFill>
                <a:latin typeface="Bahnschrift SemiCondensed" panose="020B0502040204020203" pitchFamily="34" charset="0"/>
                <a:ea typeface="Urbanist"/>
                <a:cs typeface="Urbanist"/>
                <a:sym typeface="Urbanist"/>
              </a:rPr>
              <a:t>):</a:t>
            </a:r>
            <a:r>
              <a:rPr lang="en-US" sz="1200" i="0" u="none" strike="noStrike" cap="none" dirty="0">
                <a:solidFill>
                  <a:srgbClr val="D1D5DB"/>
                </a:solidFill>
                <a:latin typeface="Bahnschrift SemiCondensed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Bahnschrift SemiLight SemiConde" panose="020B0502040204020203" pitchFamily="34" charset="0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Quan </a:t>
            </a:r>
            <a:r>
              <a:rPr lang="en-US" sz="120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sát</a:t>
            </a:r>
            <a:r>
              <a:rPr lang="en-US" sz="120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5 </a:t>
            </a:r>
            <a:r>
              <a:rPr lang="en-US" sz="120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thông</a:t>
            </a:r>
            <a:r>
              <a:rPr lang="en-US" sz="120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20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số</a:t>
            </a:r>
            <a:r>
              <a:rPr lang="en-US" sz="120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20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thống</a:t>
            </a:r>
            <a:r>
              <a:rPr lang="en-US" sz="120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20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kê</a:t>
            </a:r>
            <a:r>
              <a:rPr lang="en-US" sz="120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20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và</a:t>
            </a:r>
            <a:r>
              <a:rPr lang="en-US" sz="120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20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phát</a:t>
            </a:r>
            <a:r>
              <a:rPr lang="en-US" sz="120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20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hiện</a:t>
            </a:r>
            <a:r>
              <a:rPr lang="en-US" sz="120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20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ngoại</a:t>
            </a:r>
            <a:r>
              <a:rPr lang="en-US" sz="120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20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lai</a:t>
            </a:r>
            <a:r>
              <a:rPr lang="en-US" sz="120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.</a:t>
            </a:r>
            <a:endParaRPr dirty="0">
              <a:latin typeface="Bahnschrift SemiLight SemiConde" panose="020B0502040204020203" pitchFamily="34" charset="0"/>
            </a:endParaRPr>
          </a:p>
        </p:txBody>
      </p:sp>
      <p:pic>
        <p:nvPicPr>
          <p:cNvPr id="142" name="Google Shape;142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29400" y="1733550"/>
            <a:ext cx="3333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5"/>
          <p:cNvSpPr txBox="1"/>
          <p:nvPr/>
        </p:nvSpPr>
        <p:spPr>
          <a:xfrm>
            <a:off x="6629400" y="2895600"/>
            <a:ext cx="47910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i="0" u="none" strike="noStrike" cap="none" dirty="0">
                <a:solidFill>
                  <a:srgbClr val="DEFF9A"/>
                </a:solidFill>
                <a:latin typeface="Bahnschrift SemiCondensed" panose="020B0502040204020203" pitchFamily="34" charset="0"/>
                <a:ea typeface="Urbanist"/>
                <a:cs typeface="Urbanist"/>
                <a:sym typeface="Urbanist"/>
              </a:rPr>
              <a:t>Scatter Plot (</a:t>
            </a:r>
            <a:r>
              <a:rPr lang="en-US" sz="1200" i="0" u="none" strike="noStrike" cap="none" dirty="0" err="1">
                <a:solidFill>
                  <a:srgbClr val="DEFF9A"/>
                </a:solidFill>
                <a:latin typeface="Bahnschrift SemiCondensed" panose="020B0502040204020203" pitchFamily="34" charset="0"/>
                <a:ea typeface="Urbanist"/>
                <a:cs typeface="Urbanist"/>
                <a:sym typeface="Urbanist"/>
              </a:rPr>
              <a:t>Biểu</a:t>
            </a:r>
            <a:r>
              <a:rPr lang="en-US" sz="1200" i="0" u="none" strike="noStrike" cap="none" dirty="0">
                <a:solidFill>
                  <a:srgbClr val="DEFF9A"/>
                </a:solidFill>
                <a:latin typeface="Bahnschrift SemiCondensed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200" i="0" u="none" strike="noStrike" cap="none" dirty="0" err="1">
                <a:solidFill>
                  <a:srgbClr val="DEFF9A"/>
                </a:solidFill>
                <a:latin typeface="Bahnschrift SemiCondensed" panose="020B0502040204020203" pitchFamily="34" charset="0"/>
                <a:ea typeface="Urbanist"/>
                <a:cs typeface="Urbanist"/>
                <a:sym typeface="Urbanist"/>
              </a:rPr>
              <a:t>đồ</a:t>
            </a:r>
            <a:r>
              <a:rPr lang="en-US" sz="1200" i="0" u="none" strike="noStrike" cap="none" dirty="0">
                <a:solidFill>
                  <a:srgbClr val="DEFF9A"/>
                </a:solidFill>
                <a:latin typeface="Bahnschrift SemiCondensed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200" i="0" u="none" strike="noStrike" cap="none" dirty="0" err="1">
                <a:solidFill>
                  <a:srgbClr val="DEFF9A"/>
                </a:solidFill>
                <a:latin typeface="Bahnschrift SemiCondensed" panose="020B0502040204020203" pitchFamily="34" charset="0"/>
                <a:ea typeface="Urbanist"/>
                <a:cs typeface="Urbanist"/>
                <a:sym typeface="Urbanist"/>
              </a:rPr>
              <a:t>tán</a:t>
            </a:r>
            <a:r>
              <a:rPr lang="en-US" sz="1200" i="0" u="none" strike="noStrike" cap="none" dirty="0">
                <a:solidFill>
                  <a:srgbClr val="DEFF9A"/>
                </a:solidFill>
                <a:latin typeface="Bahnschrift SemiCondensed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200" i="0" u="none" strike="noStrike" cap="none" dirty="0" err="1">
                <a:solidFill>
                  <a:srgbClr val="DEFF9A"/>
                </a:solidFill>
                <a:latin typeface="Bahnschrift SemiCondensed" panose="020B0502040204020203" pitchFamily="34" charset="0"/>
                <a:ea typeface="Urbanist"/>
                <a:cs typeface="Urbanist"/>
                <a:sym typeface="Urbanist"/>
              </a:rPr>
              <a:t>xạ</a:t>
            </a:r>
            <a:r>
              <a:rPr lang="en-US" sz="1200" i="0" u="none" strike="noStrike" cap="none" dirty="0">
                <a:solidFill>
                  <a:srgbClr val="DEFF9A"/>
                </a:solidFill>
                <a:latin typeface="Bahnschrift SemiCondensed" panose="020B0502040204020203" pitchFamily="34" charset="0"/>
                <a:ea typeface="Urbanist"/>
                <a:cs typeface="Urbanist"/>
                <a:sym typeface="Urbanist"/>
              </a:rPr>
              <a:t>):</a:t>
            </a:r>
            <a:r>
              <a:rPr lang="en-US" sz="1200" i="0" u="none" strike="noStrike" cap="none" dirty="0">
                <a:solidFill>
                  <a:srgbClr val="D1D5DB"/>
                </a:solidFill>
                <a:latin typeface="Bahnschrift SemiCondensed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Bahnschrift SemiLight SemiConde" panose="020B0502040204020203" pitchFamily="34" charset="0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20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Tương</a:t>
            </a:r>
            <a:r>
              <a:rPr lang="en-US" sz="120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20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quan</a:t>
            </a:r>
            <a:r>
              <a:rPr lang="en-US" sz="120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20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giữa</a:t>
            </a:r>
            <a:r>
              <a:rPr lang="en-US" sz="120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2 </a:t>
            </a:r>
            <a:r>
              <a:rPr lang="en-US" sz="120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biến</a:t>
            </a:r>
            <a:r>
              <a:rPr lang="en-US" sz="120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20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liên</a:t>
            </a:r>
            <a:r>
              <a:rPr lang="en-US" sz="120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20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tục</a:t>
            </a:r>
            <a:r>
              <a:rPr lang="en-US" sz="120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.</a:t>
            </a:r>
            <a:endParaRPr dirty="0">
              <a:latin typeface="Bahnschrift SemiLight SemiConde" panose="020B0502040204020203" pitchFamily="34" charset="0"/>
            </a:endParaRPr>
          </a:p>
        </p:txBody>
      </p:sp>
      <p:sp>
        <p:nvSpPr>
          <p:cNvPr id="144" name="Google Shape;144;p15"/>
          <p:cNvSpPr txBox="1"/>
          <p:nvPr/>
        </p:nvSpPr>
        <p:spPr>
          <a:xfrm>
            <a:off x="6629400" y="3448050"/>
            <a:ext cx="47910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i="0" u="none" strike="noStrike" cap="none" dirty="0">
                <a:solidFill>
                  <a:srgbClr val="DEFF9A"/>
                </a:solidFill>
                <a:latin typeface="Bahnschrift SemiCondensed" panose="020B0502040204020203" pitchFamily="34" charset="0"/>
                <a:ea typeface="Urbanist"/>
                <a:cs typeface="Urbanist"/>
                <a:sym typeface="Urbanist"/>
              </a:rPr>
              <a:t>Heatmap (</a:t>
            </a:r>
            <a:r>
              <a:rPr lang="en-US" sz="1200" i="0" u="none" strike="noStrike" cap="none" dirty="0" err="1">
                <a:solidFill>
                  <a:srgbClr val="DEFF9A"/>
                </a:solidFill>
                <a:latin typeface="Bahnschrift SemiCondensed" panose="020B0502040204020203" pitchFamily="34" charset="0"/>
                <a:ea typeface="Urbanist"/>
                <a:cs typeface="Urbanist"/>
                <a:sym typeface="Urbanist"/>
              </a:rPr>
              <a:t>Bản</a:t>
            </a:r>
            <a:r>
              <a:rPr lang="en-US" sz="1200" i="0" u="none" strike="noStrike" cap="none" dirty="0">
                <a:solidFill>
                  <a:srgbClr val="DEFF9A"/>
                </a:solidFill>
                <a:latin typeface="Bahnschrift SemiCondensed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200" i="0" u="none" strike="noStrike" cap="none" dirty="0" err="1">
                <a:solidFill>
                  <a:srgbClr val="DEFF9A"/>
                </a:solidFill>
                <a:latin typeface="Bahnschrift SemiCondensed" panose="020B0502040204020203" pitchFamily="34" charset="0"/>
                <a:ea typeface="Urbanist"/>
                <a:cs typeface="Urbanist"/>
                <a:sym typeface="Urbanist"/>
              </a:rPr>
              <a:t>đồ</a:t>
            </a:r>
            <a:r>
              <a:rPr lang="en-US" sz="1200" i="0" u="none" strike="noStrike" cap="none" dirty="0">
                <a:solidFill>
                  <a:srgbClr val="DEFF9A"/>
                </a:solidFill>
                <a:latin typeface="Bahnschrift SemiCondensed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200" i="0" u="none" strike="noStrike" cap="none" dirty="0" err="1">
                <a:solidFill>
                  <a:srgbClr val="DEFF9A"/>
                </a:solidFill>
                <a:latin typeface="Bahnschrift SemiCondensed" panose="020B0502040204020203" pitchFamily="34" charset="0"/>
                <a:ea typeface="Urbanist"/>
                <a:cs typeface="Urbanist"/>
                <a:sym typeface="Urbanist"/>
              </a:rPr>
              <a:t>nhiệt</a:t>
            </a:r>
            <a:r>
              <a:rPr lang="en-US" sz="1200" i="0" u="none" strike="noStrike" cap="none" dirty="0">
                <a:solidFill>
                  <a:srgbClr val="DEFF9A"/>
                </a:solidFill>
                <a:latin typeface="Bahnschrift SemiCondensed" panose="020B0502040204020203" pitchFamily="34" charset="0"/>
                <a:ea typeface="Urbanist"/>
                <a:cs typeface="Urbanist"/>
                <a:sym typeface="Urbanist"/>
              </a:rPr>
              <a:t>):</a:t>
            </a:r>
            <a:r>
              <a:rPr lang="en-US" sz="1200" i="0" u="none" strike="noStrike" cap="none" dirty="0">
                <a:solidFill>
                  <a:srgbClr val="D1D5DB"/>
                </a:solidFill>
                <a:latin typeface="Bahnschrift SemiCondensed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Bahnschrift SemiLight SemiConde" panose="020B0502040204020203" pitchFamily="34" charset="0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20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Trực</a:t>
            </a:r>
            <a:r>
              <a:rPr lang="en-US" sz="120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20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quan</a:t>
            </a:r>
            <a:r>
              <a:rPr lang="en-US" sz="120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20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hóa</a:t>
            </a:r>
            <a:r>
              <a:rPr lang="en-US" sz="120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ma </a:t>
            </a:r>
            <a:r>
              <a:rPr lang="en-US" sz="120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trận</a:t>
            </a:r>
            <a:r>
              <a:rPr lang="en-US" sz="120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20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tương</a:t>
            </a:r>
            <a:r>
              <a:rPr lang="en-US" sz="120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20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quan</a:t>
            </a:r>
            <a:r>
              <a:rPr lang="en-US" sz="120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, </a:t>
            </a:r>
            <a:r>
              <a:rPr lang="en-US" sz="120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tìm</a:t>
            </a:r>
            <a:r>
              <a:rPr lang="en-US" sz="120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20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đa</a:t>
            </a:r>
            <a:r>
              <a:rPr lang="en-US" sz="120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20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cộng</a:t>
            </a:r>
            <a:r>
              <a:rPr lang="en-US" sz="120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20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tuyến</a:t>
            </a:r>
            <a:r>
              <a:rPr lang="en-US" sz="120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.</a:t>
            </a:r>
            <a:endParaRPr dirty="0">
              <a:latin typeface="Bahnschrift SemiLight SemiConde" panose="020B0502040204020203" pitchFamily="34" charset="0"/>
            </a:endParaRPr>
          </a:p>
        </p:txBody>
      </p:sp>
      <p:sp>
        <p:nvSpPr>
          <p:cNvPr id="145" name="Google Shape;145;p15"/>
          <p:cNvSpPr txBox="1"/>
          <p:nvPr/>
        </p:nvSpPr>
        <p:spPr>
          <a:xfrm>
            <a:off x="476250" y="381000"/>
            <a:ext cx="117157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 err="1">
                <a:solidFill>
                  <a:srgbClr val="DEFF9A"/>
                </a:solidFill>
                <a:latin typeface="Bahnschrift SemiCondensed" panose="020B0502040204020203" pitchFamily="34" charset="0"/>
                <a:ea typeface="Urbanist SemiBold"/>
                <a:cs typeface="Urbanist SemiBold"/>
                <a:sym typeface="Urbanist SemiBold"/>
              </a:rPr>
              <a:t>Trực</a:t>
            </a:r>
            <a:r>
              <a:rPr lang="en-US" sz="3600" b="0" i="0" u="none" strike="noStrike" cap="none" dirty="0">
                <a:solidFill>
                  <a:srgbClr val="DEFF9A"/>
                </a:solidFill>
                <a:latin typeface="Bahnschrift SemiCondensed" panose="020B0502040204020203" pitchFamily="34" charset="0"/>
                <a:ea typeface="Urbanist SemiBold"/>
                <a:cs typeface="Urbanist SemiBold"/>
                <a:sym typeface="Urbanist SemiBold"/>
              </a:rPr>
              <a:t> Quan </a:t>
            </a:r>
            <a:r>
              <a:rPr lang="en-US" sz="3600" b="0" i="0" u="none" strike="noStrike" cap="none" dirty="0" err="1">
                <a:solidFill>
                  <a:srgbClr val="DEFF9A"/>
                </a:solidFill>
                <a:latin typeface="Bahnschrift SemiCondensed" panose="020B0502040204020203" pitchFamily="34" charset="0"/>
                <a:ea typeface="Urbanist SemiBold"/>
                <a:cs typeface="Urbanist SemiBold"/>
                <a:sym typeface="Urbanist SemiBold"/>
              </a:rPr>
              <a:t>Hóa</a:t>
            </a:r>
            <a:r>
              <a:rPr lang="en-US" sz="3600" b="0" i="0" u="none" strike="noStrike" cap="none" dirty="0">
                <a:solidFill>
                  <a:srgbClr val="DEFF9A"/>
                </a:solidFill>
                <a:latin typeface="Bahnschrift SemiCondensed" panose="020B0502040204020203" pitchFamily="34" charset="0"/>
                <a:ea typeface="Urbanist SemiBold"/>
                <a:cs typeface="Urbanist SemiBold"/>
                <a:sym typeface="Urbanist SemiBold"/>
              </a:rPr>
              <a:t> </a:t>
            </a:r>
            <a:r>
              <a:rPr lang="en-US" sz="3600" b="0" i="0" u="none" strike="noStrike" cap="none" dirty="0" err="1">
                <a:solidFill>
                  <a:srgbClr val="DEFF9A"/>
                </a:solidFill>
                <a:latin typeface="Bahnschrift SemiCondensed" panose="020B0502040204020203" pitchFamily="34" charset="0"/>
                <a:ea typeface="Urbanist SemiBold"/>
                <a:cs typeface="Urbanist SemiBold"/>
                <a:sym typeface="Urbanist SemiBold"/>
              </a:rPr>
              <a:t>Dữ</a:t>
            </a:r>
            <a:r>
              <a:rPr lang="en-US" sz="3600" b="0" i="0" u="none" strike="noStrike" cap="none" dirty="0">
                <a:solidFill>
                  <a:srgbClr val="DEFF9A"/>
                </a:solidFill>
                <a:latin typeface="Bahnschrift SemiCondensed" panose="020B0502040204020203" pitchFamily="34" charset="0"/>
                <a:ea typeface="Urbanist SemiBold"/>
                <a:cs typeface="Urbanist SemiBold"/>
                <a:sym typeface="Urbanist SemiBold"/>
              </a:rPr>
              <a:t> </a:t>
            </a:r>
            <a:r>
              <a:rPr lang="en-US" sz="3600" b="0" i="0" u="none" strike="noStrike" cap="none" dirty="0" err="1">
                <a:solidFill>
                  <a:srgbClr val="DEFF9A"/>
                </a:solidFill>
                <a:latin typeface="Bahnschrift SemiCondensed" panose="020B0502040204020203" pitchFamily="34" charset="0"/>
                <a:ea typeface="Urbanist SemiBold"/>
                <a:cs typeface="Urbanist SemiBold"/>
                <a:sym typeface="Urbanist SemiBold"/>
              </a:rPr>
              <a:t>Liệu</a:t>
            </a:r>
            <a:endParaRPr dirty="0">
              <a:latin typeface="Bahnschrift SemiCondensed" panose="020B0502040204020203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0" name="Google Shape;350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28"/>
          <p:cNvSpPr txBox="1"/>
          <p:nvPr/>
        </p:nvSpPr>
        <p:spPr>
          <a:xfrm>
            <a:off x="3804151" y="2529780"/>
            <a:ext cx="4583697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0" i="0" u="none" strike="noStrike" cap="none" dirty="0" err="1">
                <a:solidFill>
                  <a:srgbClr val="DEFF9A"/>
                </a:solidFill>
                <a:latin typeface="Bahnschrift SemiCondensed" panose="020B0502040204020203" pitchFamily="34" charset="0"/>
                <a:ea typeface="Urbanist SemiBold"/>
                <a:cs typeface="Urbanist SemiBold"/>
                <a:sym typeface="Urbanist SemiBold"/>
              </a:rPr>
              <a:t>Hỏi</a:t>
            </a:r>
            <a:r>
              <a:rPr lang="en-US" sz="7500" b="0" i="0" u="none" strike="noStrike" cap="none" dirty="0">
                <a:solidFill>
                  <a:srgbClr val="DEFF9A"/>
                </a:solidFill>
                <a:latin typeface="Bahnschrift SemiCondensed" panose="020B0502040204020203" pitchFamily="34" charset="0"/>
                <a:ea typeface="Urbanist SemiBold"/>
                <a:cs typeface="Urbanist SemiBold"/>
                <a:sym typeface="Urbanist SemiBold"/>
              </a:rPr>
              <a:t> &amp; </a:t>
            </a:r>
            <a:r>
              <a:rPr lang="en-US" sz="7500" b="0" i="0" u="none" strike="noStrike" cap="none" dirty="0" err="1">
                <a:solidFill>
                  <a:srgbClr val="DEFF9A"/>
                </a:solidFill>
                <a:latin typeface="Bahnschrift SemiCondensed" panose="020B0502040204020203" pitchFamily="34" charset="0"/>
                <a:ea typeface="Urbanist SemiBold"/>
                <a:cs typeface="Urbanist SemiBold"/>
                <a:sym typeface="Urbanist SemiBold"/>
              </a:rPr>
              <a:t>Đáp</a:t>
            </a:r>
            <a:endParaRPr dirty="0">
              <a:latin typeface="Bahnschrift SemiCondensed" panose="020B0502040204020203" pitchFamily="34" charset="0"/>
            </a:endParaRPr>
          </a:p>
        </p:txBody>
      </p:sp>
      <p:sp>
        <p:nvSpPr>
          <p:cNvPr id="352" name="Google Shape;352;p28"/>
          <p:cNvSpPr txBox="1"/>
          <p:nvPr/>
        </p:nvSpPr>
        <p:spPr>
          <a:xfrm>
            <a:off x="3913286" y="3672780"/>
            <a:ext cx="4365426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Cảm</a:t>
            </a:r>
            <a:r>
              <a:rPr lang="en-US" sz="135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ơn</a:t>
            </a:r>
            <a:r>
              <a:rPr lang="en-US" sz="1350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mọi</a:t>
            </a:r>
            <a:r>
              <a:rPr lang="en-US" sz="1350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người</a:t>
            </a:r>
            <a:r>
              <a:rPr lang="en-US" sz="1350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đã</a:t>
            </a:r>
            <a:r>
              <a:rPr lang="en-US" sz="135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theo</a:t>
            </a:r>
            <a:r>
              <a:rPr lang="en-US" sz="135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dõi</a:t>
            </a:r>
            <a:r>
              <a:rPr lang="en-US" sz="1350" b="0" i="0" u="none" strike="noStrike" cap="none" dirty="0">
                <a:solidFill>
                  <a:srgbClr val="D1D5DB"/>
                </a:solidFill>
                <a:latin typeface="Bahnschrift SemiLight SemiConde" panose="020B0502040204020203" pitchFamily="34" charset="0"/>
                <a:ea typeface="Urbanist"/>
                <a:cs typeface="Urbanist"/>
                <a:sym typeface="Urbanist"/>
              </a:rPr>
              <a:t>!</a:t>
            </a:r>
            <a:endParaRPr dirty="0">
              <a:latin typeface="Bahnschrift SemiLight SemiConde" panose="020B0502040204020203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420</TotalTime>
  <Words>1466</Words>
  <Application>Microsoft Office PowerPoint</Application>
  <PresentationFormat>Widescreen</PresentationFormat>
  <Paragraphs>150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Bahnschrift SemiCondensed</vt:lpstr>
      <vt:lpstr>Bahnschrift SemiLight SemiConde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hoang nguyen</cp:lastModifiedBy>
  <cp:revision>23</cp:revision>
  <dcterms:modified xsi:type="dcterms:W3CDTF">2026-01-18T11:11:10Z</dcterms:modified>
</cp:coreProperties>
</file>